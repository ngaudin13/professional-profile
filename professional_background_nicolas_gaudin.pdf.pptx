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266" r:id="rId4"/>
    <p:sldId id="267" r:id="rId5"/>
    <p:sldId id="279" r:id="rId6"/>
    <p:sldId id="271" r:id="rId7"/>
    <p:sldId id="277" r:id="rId8"/>
    <p:sldId id="281" r:id="rId9"/>
    <p:sldId id="282" r:id="rId10"/>
    <p:sldId id="283" r:id="rId11"/>
    <p:sldId id="284" r:id="rId12"/>
    <p:sldId id="258" r:id="rId13"/>
    <p:sldId id="25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129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1A13A-2F5B-BF2D-4DAB-EFC6416C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7A671-B7F2-C282-7B92-070110C66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0853F-1873-FDFE-3AAE-8EC434F92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8EDC9-C138-C1B3-5DB9-E1182DCFC7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6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C183-DF2A-9457-8D9A-142DBFA7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01CB3-3D61-7E6E-BBAB-EC0FAC95A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9467B-BD8A-A862-B174-0ADEEEB60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F6A35-A0D0-5700-B23E-FF8A08660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69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B022-04B1-8CAE-8FF7-E27B80C5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C1DE9-3CE0-EC53-E06B-A2D96C396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309F0-ABB6-D5EB-D9BD-38C7C4535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C9E0D-F016-790F-AB0E-FA72161D9C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23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84D11-2196-F3E4-1E26-7606694C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52877-19DC-317D-8FA2-AE2C74790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DEC6D-FCA3-0424-3486-02749FD6B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4D58D-BD10-25AE-5DF0-3BCE8A475F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27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26E3D-79C9-8E6D-4D6F-F176FDE8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9DFEC-53B4-576F-40AA-BA089B09B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DD65D-1574-D686-D38F-EB1EEFD16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25DC5-5A36-25EA-AE4D-FEBBF2D5C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77597-A296-B3F4-3346-9371F11A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85F7B-9DF1-E6E7-25A3-84FB61151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44802-2299-4AA4-A236-EC5036F09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235AE-310D-C226-15FC-8A33E2E91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05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CC"/>
                </a:solidFill>
              </a:rPr>
              <a:t>BUT 3 INFORMATIQUE — PARCOURS AGED  •  SOUTENANCE PPP S6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3035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GAUDIN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56032" y="15361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A8"/>
                </a:solidFill>
              </a:rPr>
              <a:t>De la biologie à l'informatique 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une double compétence au service des données scientifiques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56032" y="2566472"/>
            <a:ext cx="8595360" cy="36576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8" name="Shape 6"/>
          <p:cNvSpPr/>
          <p:nvPr/>
        </p:nvSpPr>
        <p:spPr>
          <a:xfrm>
            <a:off x="256032" y="2721920"/>
            <a:ext cx="4160520" cy="126187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56032" y="2721920"/>
            <a:ext cx="91440" cy="1261872"/>
          </a:xfrm>
          <a:prstGeom prst="rect">
            <a:avLst/>
          </a:prstGeom>
          <a:solidFill>
            <a:srgbClr val="00D4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20624" y="276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D4A8"/>
                </a:solidFill>
              </a:rPr>
              <a:t>Mon profil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067729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dirty="0">
                <a:solidFill>
                  <a:schemeClr val="bg1"/>
                </a:solidFill>
              </a:rPr>
              <a:t>Biologiste/Biochimiste </a:t>
            </a:r>
            <a:r>
              <a:rPr lang="fr-FR" sz="1200" dirty="0">
                <a:solidFill>
                  <a:schemeClr val="bg1"/>
                </a:solidFill>
              </a:rPr>
              <a:t>de formation, en reconversion vers </a:t>
            </a:r>
            <a:r>
              <a:rPr lang="fr-FR" sz="1200" b="1" dirty="0">
                <a:solidFill>
                  <a:schemeClr val="bg1"/>
                </a:solidFill>
              </a:rPr>
              <a:t>les métiers de la donnée et du développement applicatif</a:t>
            </a:r>
            <a:endParaRPr lang="fr-FR" sz="1200" b="1" noProof="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2721920"/>
            <a:ext cx="4251960" cy="126187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663440" y="2721920"/>
            <a:ext cx="91440" cy="1261872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28032" y="2767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A8CC"/>
                </a:solidFill>
              </a:rPr>
              <a:t> Métier visé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305110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b="1" dirty="0">
                <a:solidFill>
                  <a:srgbClr val="00A8CC"/>
                </a:solidFill>
              </a:rPr>
              <a:t>Bio-informatique et </a:t>
            </a:r>
            <a:r>
              <a:rPr lang="fr-FR" sz="1200" b="1" dirty="0">
                <a:solidFill>
                  <a:schemeClr val="bg1"/>
                </a:solidFill>
              </a:rPr>
              <a:t>exploitation de données </a:t>
            </a:r>
            <a:r>
              <a:rPr lang="fr-FR" sz="1200" b="1" dirty="0">
                <a:solidFill>
                  <a:srgbClr val="00A8CC"/>
                </a:solidFill>
              </a:rPr>
              <a:t>: </a:t>
            </a:r>
            <a:r>
              <a:rPr lang="en-US" sz="1200" i="1" dirty="0">
                <a:solidFill>
                  <a:srgbClr val="00D4A8"/>
                </a:solidFill>
              </a:rPr>
              <a:t>appliqué aux sciences du vivant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</a:rPr>
              <a:t>Université Claude Bernard Lyon 1  •  Promotion 2026  •  Stage : CIRI – INSERM (Horigene)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7C0B52-2582-4B82-A44B-C778D3B9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182B65CD-7EF9-2BF8-F66A-B11CBB4BE02D}"/>
              </a:ext>
            </a:extLst>
          </p:cNvPr>
          <p:cNvSpPr/>
          <p:nvPr/>
        </p:nvSpPr>
        <p:spPr>
          <a:xfrm>
            <a:off x="0" y="-9367"/>
            <a:ext cx="9144000" cy="60157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A9B3EEF3-52BF-BAD4-A04A-927DFBBB369E}"/>
              </a:ext>
            </a:extLst>
          </p:cNvPr>
          <p:cNvSpPr/>
          <p:nvPr/>
        </p:nvSpPr>
        <p:spPr>
          <a:xfrm>
            <a:off x="365760" y="4635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</a:rPr>
              <a:t>Plan de la présentation</a:t>
            </a:r>
            <a:endParaRPr lang="fr-FR" sz="2200" noProof="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1AFF8E2-3F01-CDB6-ECEF-044288560D88}"/>
              </a:ext>
            </a:extLst>
          </p:cNvPr>
          <p:cNvSpPr/>
          <p:nvPr/>
        </p:nvSpPr>
        <p:spPr>
          <a:xfrm>
            <a:off x="306324" y="993482"/>
            <a:ext cx="2084832" cy="1684804"/>
          </a:xfrm>
          <a:prstGeom prst="rect">
            <a:avLst/>
          </a:prstGeom>
          <a:solidFill>
            <a:srgbClr val="0F1E30"/>
          </a:solidFill>
          <a:ln w="12700">
            <a:solidFill>
              <a:srgbClr val="182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FE02C10-CE0B-4A73-FE98-1ADD66F22E84}"/>
              </a:ext>
            </a:extLst>
          </p:cNvPr>
          <p:cNvSpPr/>
          <p:nvPr/>
        </p:nvSpPr>
        <p:spPr>
          <a:xfrm>
            <a:off x="306324" y="993482"/>
            <a:ext cx="2084832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ADD146D-907D-766C-D304-0E0DF05D336E}"/>
              </a:ext>
            </a:extLst>
          </p:cNvPr>
          <p:cNvSpPr/>
          <p:nvPr/>
        </p:nvSpPr>
        <p:spPr>
          <a:xfrm>
            <a:off x="306324" y="113064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noProof="0" dirty="0">
                <a:solidFill>
                  <a:srgbClr val="00C2A8"/>
                </a:solidFill>
              </a:rPr>
              <a:t>01</a:t>
            </a:r>
            <a:endParaRPr lang="fr-FR" sz="4800" noProof="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D8F4218A-7862-9ED9-0E23-ED75E8895ECB}"/>
              </a:ext>
            </a:extLst>
          </p:cNvPr>
          <p:cNvSpPr/>
          <p:nvPr/>
        </p:nvSpPr>
        <p:spPr>
          <a:xfrm>
            <a:off x="580644" y="1953602"/>
            <a:ext cx="1536192" cy="0"/>
          </a:xfrm>
          <a:prstGeom prst="line">
            <a:avLst/>
          </a:prstGeom>
          <a:noFill/>
          <a:ln w="1524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1E4E3136-E735-FA48-5BA9-D50A3109CC63}"/>
              </a:ext>
            </a:extLst>
          </p:cNvPr>
          <p:cNvSpPr/>
          <p:nvPr/>
        </p:nvSpPr>
        <p:spPr>
          <a:xfrm>
            <a:off x="416052" y="2045042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fr-FR" sz="1050" b="1" noProof="0" dirty="0">
                <a:solidFill>
                  <a:schemeClr val="bg1"/>
                </a:solidFill>
              </a:rPr>
              <a:t>Un parcours hybride entre biologie et informatique</a:t>
            </a:r>
            <a:endParaRPr lang="fr-FR" sz="1050" noProof="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837EB3DD-789D-8F80-3D2B-8687EB814E7A}"/>
              </a:ext>
            </a:extLst>
          </p:cNvPr>
          <p:cNvSpPr/>
          <p:nvPr/>
        </p:nvSpPr>
        <p:spPr>
          <a:xfrm>
            <a:off x="2473452" y="993482"/>
            <a:ext cx="2084832" cy="1684804"/>
          </a:xfrm>
          <a:prstGeom prst="rect">
            <a:avLst/>
          </a:prstGeom>
          <a:solidFill>
            <a:srgbClr val="0F1E30"/>
          </a:solidFill>
          <a:ln w="12700">
            <a:solidFill>
              <a:srgbClr val="182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704BAD88-56D0-58EF-8273-1C893452B9A0}"/>
              </a:ext>
            </a:extLst>
          </p:cNvPr>
          <p:cNvSpPr/>
          <p:nvPr/>
        </p:nvSpPr>
        <p:spPr>
          <a:xfrm>
            <a:off x="2473452" y="993482"/>
            <a:ext cx="2084832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0A8FBFA2-FF48-CFC4-ABE4-9D960B09FD97}"/>
              </a:ext>
            </a:extLst>
          </p:cNvPr>
          <p:cNvSpPr/>
          <p:nvPr/>
        </p:nvSpPr>
        <p:spPr>
          <a:xfrm>
            <a:off x="2473452" y="113064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noProof="0" dirty="0">
                <a:solidFill>
                  <a:srgbClr val="2E86C1"/>
                </a:solidFill>
              </a:rPr>
              <a:t>02</a:t>
            </a:r>
            <a:endParaRPr lang="fr-FR" sz="4800" noProof="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05BA1684-EE56-DC55-85B9-F47A8E564A31}"/>
              </a:ext>
            </a:extLst>
          </p:cNvPr>
          <p:cNvSpPr/>
          <p:nvPr/>
        </p:nvSpPr>
        <p:spPr>
          <a:xfrm>
            <a:off x="2747772" y="1953602"/>
            <a:ext cx="1536192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C2CF2307-9C50-EEE0-6AE5-22733762675D}"/>
              </a:ext>
            </a:extLst>
          </p:cNvPr>
          <p:cNvSpPr/>
          <p:nvPr/>
        </p:nvSpPr>
        <p:spPr>
          <a:xfrm>
            <a:off x="2583180" y="2045042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fr-FR" sz="1050" b="1" noProof="0" dirty="0">
                <a:solidFill>
                  <a:srgbClr val="FFFFFF"/>
                </a:solidFill>
              </a:rPr>
              <a:t>Construction du parcours</a:t>
            </a:r>
            <a:endParaRPr lang="fr-FR" sz="1050" b="1" noProof="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6AFB06F3-89AD-3471-6712-A8CBE5A64C61}"/>
              </a:ext>
            </a:extLst>
          </p:cNvPr>
          <p:cNvSpPr/>
          <p:nvPr/>
        </p:nvSpPr>
        <p:spPr>
          <a:xfrm>
            <a:off x="4640580" y="993482"/>
            <a:ext cx="2084832" cy="1684804"/>
          </a:xfrm>
          <a:prstGeom prst="rect">
            <a:avLst/>
          </a:prstGeom>
          <a:solidFill>
            <a:srgbClr val="0F1E30"/>
          </a:solidFill>
          <a:ln w="12700">
            <a:solidFill>
              <a:srgbClr val="182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0FD9D90E-406D-ED9A-3BED-4A212457C160}"/>
              </a:ext>
            </a:extLst>
          </p:cNvPr>
          <p:cNvSpPr/>
          <p:nvPr/>
        </p:nvSpPr>
        <p:spPr>
          <a:xfrm>
            <a:off x="4640580" y="993482"/>
            <a:ext cx="2084832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77EE2B34-62A9-6160-74C2-13495615DD32}"/>
              </a:ext>
            </a:extLst>
          </p:cNvPr>
          <p:cNvSpPr/>
          <p:nvPr/>
        </p:nvSpPr>
        <p:spPr>
          <a:xfrm>
            <a:off x="4640580" y="113064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noProof="0" dirty="0">
                <a:solidFill>
                  <a:srgbClr val="00C2A8"/>
                </a:solidFill>
              </a:rPr>
              <a:t>03</a:t>
            </a:r>
            <a:endParaRPr lang="fr-FR" sz="4800" noProof="0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7324A1F1-A3F0-B9B8-CCF3-043CDE2849DF}"/>
              </a:ext>
            </a:extLst>
          </p:cNvPr>
          <p:cNvSpPr/>
          <p:nvPr/>
        </p:nvSpPr>
        <p:spPr>
          <a:xfrm>
            <a:off x="4914900" y="1953602"/>
            <a:ext cx="1536192" cy="0"/>
          </a:xfrm>
          <a:prstGeom prst="line">
            <a:avLst/>
          </a:prstGeom>
          <a:noFill/>
          <a:ln w="1524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75C8903A-2E06-5E03-6BD7-6F1BA61A89F3}"/>
              </a:ext>
            </a:extLst>
          </p:cNvPr>
          <p:cNvSpPr/>
          <p:nvPr/>
        </p:nvSpPr>
        <p:spPr>
          <a:xfrm>
            <a:off x="4750308" y="2045042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fr-FR" sz="1050" b="1" noProof="0" dirty="0">
                <a:solidFill>
                  <a:srgbClr val="FFFFFF"/>
                </a:solidFill>
              </a:rPr>
              <a:t>Les rencontres clés qui ont façonné mon parcours</a:t>
            </a:r>
            <a:endParaRPr lang="fr-FR" sz="1050" b="1" noProof="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63650D37-5BDE-9B9A-1670-6EEC9582C2F1}"/>
              </a:ext>
            </a:extLst>
          </p:cNvPr>
          <p:cNvSpPr/>
          <p:nvPr/>
        </p:nvSpPr>
        <p:spPr>
          <a:xfrm>
            <a:off x="6807708" y="993482"/>
            <a:ext cx="2084832" cy="1684804"/>
          </a:xfrm>
          <a:prstGeom prst="rect">
            <a:avLst/>
          </a:prstGeom>
          <a:solidFill>
            <a:srgbClr val="0F1E30"/>
          </a:solidFill>
          <a:ln w="12700">
            <a:solidFill>
              <a:srgbClr val="182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D6E9F979-24F3-BE99-767E-86347EC9A4EB}"/>
              </a:ext>
            </a:extLst>
          </p:cNvPr>
          <p:cNvSpPr/>
          <p:nvPr/>
        </p:nvSpPr>
        <p:spPr>
          <a:xfrm>
            <a:off x="6807708" y="993482"/>
            <a:ext cx="2084832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451304BA-9752-282F-0D21-DB231427D853}"/>
              </a:ext>
            </a:extLst>
          </p:cNvPr>
          <p:cNvSpPr/>
          <p:nvPr/>
        </p:nvSpPr>
        <p:spPr>
          <a:xfrm>
            <a:off x="6807708" y="113064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noProof="0" dirty="0">
                <a:solidFill>
                  <a:srgbClr val="2E86C1"/>
                </a:solidFill>
              </a:rPr>
              <a:t>04</a:t>
            </a:r>
            <a:endParaRPr lang="fr-FR" sz="4800" noProof="0" dirty="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F005150D-D3E2-74A5-E012-EE329E887AC9}"/>
              </a:ext>
            </a:extLst>
          </p:cNvPr>
          <p:cNvSpPr/>
          <p:nvPr/>
        </p:nvSpPr>
        <p:spPr>
          <a:xfrm>
            <a:off x="7082028" y="1953602"/>
            <a:ext cx="1536192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9677D0D3-4620-858B-A4A4-A59E03AA9493}"/>
              </a:ext>
            </a:extLst>
          </p:cNvPr>
          <p:cNvSpPr/>
          <p:nvPr/>
        </p:nvSpPr>
        <p:spPr>
          <a:xfrm>
            <a:off x="6917436" y="2045042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fr-FR" sz="1050" b="1" noProof="0" dirty="0">
                <a:solidFill>
                  <a:srgbClr val="FFFFFF"/>
                </a:solidFill>
              </a:rPr>
              <a:t>Le projet Horigene : plateforme scientifique assistée par IA</a:t>
            </a:r>
            <a:endParaRPr lang="fr-FR" sz="1050" b="1" noProof="0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581A9036-ABA3-7756-FFF1-72CF963484C2}"/>
              </a:ext>
            </a:extLst>
          </p:cNvPr>
          <p:cNvSpPr/>
          <p:nvPr/>
        </p:nvSpPr>
        <p:spPr>
          <a:xfrm>
            <a:off x="306324" y="2925792"/>
            <a:ext cx="2084832" cy="1684804"/>
          </a:xfrm>
          <a:prstGeom prst="rect">
            <a:avLst/>
          </a:prstGeom>
          <a:solidFill>
            <a:srgbClr val="0F1E30"/>
          </a:solidFill>
          <a:ln w="12700">
            <a:solidFill>
              <a:srgbClr val="182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1196EE17-0F5B-2387-6F59-F340F9B5B88B}"/>
              </a:ext>
            </a:extLst>
          </p:cNvPr>
          <p:cNvSpPr/>
          <p:nvPr/>
        </p:nvSpPr>
        <p:spPr>
          <a:xfrm>
            <a:off x="306324" y="2925792"/>
            <a:ext cx="2084832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8004DC2E-F823-1D34-A6B8-8265D0F40CEE}"/>
              </a:ext>
            </a:extLst>
          </p:cNvPr>
          <p:cNvSpPr/>
          <p:nvPr/>
        </p:nvSpPr>
        <p:spPr>
          <a:xfrm>
            <a:off x="306324" y="306295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noProof="0" dirty="0">
                <a:solidFill>
                  <a:srgbClr val="00C2A8"/>
                </a:solidFill>
              </a:rPr>
              <a:t>05</a:t>
            </a:r>
            <a:endParaRPr lang="fr-FR" sz="4800" noProof="0" dirty="0"/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6FB06012-0FFA-07E6-0B9B-95913F740FC1}"/>
              </a:ext>
            </a:extLst>
          </p:cNvPr>
          <p:cNvSpPr/>
          <p:nvPr/>
        </p:nvSpPr>
        <p:spPr>
          <a:xfrm>
            <a:off x="580644" y="3860511"/>
            <a:ext cx="1536192" cy="0"/>
          </a:xfrm>
          <a:prstGeom prst="line">
            <a:avLst/>
          </a:prstGeom>
          <a:noFill/>
          <a:ln w="1524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B0A9BB06-A71D-FA40-35D7-2F27AB647888}"/>
              </a:ext>
            </a:extLst>
          </p:cNvPr>
          <p:cNvSpPr/>
          <p:nvPr/>
        </p:nvSpPr>
        <p:spPr>
          <a:xfrm>
            <a:off x="416052" y="3951951"/>
            <a:ext cx="1865376" cy="580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fr-FR" sz="1050" b="1" noProof="0" dirty="0">
                <a:solidFill>
                  <a:schemeClr val="bg1"/>
                </a:solidFill>
              </a:rPr>
              <a:t>Mes perspectives post-BUT 3</a:t>
            </a:r>
          </a:p>
        </p:txBody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6EBACB3E-029D-2E5F-EC89-E966B3516B9B}"/>
              </a:ext>
            </a:extLst>
          </p:cNvPr>
          <p:cNvSpPr/>
          <p:nvPr/>
        </p:nvSpPr>
        <p:spPr>
          <a:xfrm>
            <a:off x="2473452" y="2925792"/>
            <a:ext cx="2084832" cy="1703780"/>
          </a:xfrm>
          <a:prstGeom prst="rect">
            <a:avLst/>
          </a:prstGeom>
          <a:solidFill>
            <a:srgbClr val="0F1E30"/>
          </a:solidFill>
          <a:ln w="12700">
            <a:solidFill>
              <a:srgbClr val="182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56FD5609-D91A-AB39-9AFB-F380D0E42D47}"/>
              </a:ext>
            </a:extLst>
          </p:cNvPr>
          <p:cNvSpPr/>
          <p:nvPr/>
        </p:nvSpPr>
        <p:spPr>
          <a:xfrm>
            <a:off x="2473452" y="2925792"/>
            <a:ext cx="2084832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9D213039-AADD-2E6D-6805-F8BD3D9808A1}"/>
              </a:ext>
            </a:extLst>
          </p:cNvPr>
          <p:cNvSpPr/>
          <p:nvPr/>
        </p:nvSpPr>
        <p:spPr>
          <a:xfrm>
            <a:off x="2473452" y="306295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noProof="0" dirty="0">
                <a:solidFill>
                  <a:srgbClr val="2E86C1"/>
                </a:solidFill>
              </a:rPr>
              <a:t>06</a:t>
            </a:r>
            <a:endParaRPr lang="fr-FR" sz="4800" noProof="0" dirty="0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DC4092DF-A091-FBB9-4FE6-FAAFF161AC0E}"/>
              </a:ext>
            </a:extLst>
          </p:cNvPr>
          <p:cNvSpPr/>
          <p:nvPr/>
        </p:nvSpPr>
        <p:spPr>
          <a:xfrm>
            <a:off x="2747772" y="3860511"/>
            <a:ext cx="1536192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AEBFC91F-C1F2-D324-5F34-926ADA4804B5}"/>
              </a:ext>
            </a:extLst>
          </p:cNvPr>
          <p:cNvSpPr/>
          <p:nvPr/>
        </p:nvSpPr>
        <p:spPr>
          <a:xfrm>
            <a:off x="2583180" y="3951951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fr-FR" sz="1050" b="1" dirty="0">
                <a:solidFill>
                  <a:srgbClr val="FFFFFF"/>
                </a:solidFill>
              </a:rPr>
              <a:t>Métiers visés post BUT : référentiels APEC &amp; CIGREF</a:t>
            </a:r>
            <a:endParaRPr lang="fr-FR" sz="1050" b="1" noProof="0" dirty="0"/>
          </a:p>
        </p:txBody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CA55CAE7-C4D2-A5E0-8971-3F9FA95878E1}"/>
              </a:ext>
            </a:extLst>
          </p:cNvPr>
          <p:cNvSpPr/>
          <p:nvPr/>
        </p:nvSpPr>
        <p:spPr>
          <a:xfrm>
            <a:off x="4640580" y="2925792"/>
            <a:ext cx="2084832" cy="1703780"/>
          </a:xfrm>
          <a:prstGeom prst="rect">
            <a:avLst/>
          </a:prstGeom>
          <a:solidFill>
            <a:srgbClr val="0F1E30"/>
          </a:solidFill>
          <a:ln w="12700">
            <a:solidFill>
              <a:srgbClr val="182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6" name="Shape 34">
            <a:extLst>
              <a:ext uri="{FF2B5EF4-FFF2-40B4-BE49-F238E27FC236}">
                <a16:creationId xmlns:a16="http://schemas.microsoft.com/office/drawing/2014/main" id="{204BB0F1-E7A6-1D9A-71D8-0DFA8E1A3016}"/>
              </a:ext>
            </a:extLst>
          </p:cNvPr>
          <p:cNvSpPr/>
          <p:nvPr/>
        </p:nvSpPr>
        <p:spPr>
          <a:xfrm>
            <a:off x="4640580" y="2925792"/>
            <a:ext cx="2084832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CEAC741F-6575-031E-11FF-E07856B62484}"/>
              </a:ext>
            </a:extLst>
          </p:cNvPr>
          <p:cNvSpPr/>
          <p:nvPr/>
        </p:nvSpPr>
        <p:spPr>
          <a:xfrm>
            <a:off x="4640580" y="306295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noProof="0" dirty="0">
                <a:solidFill>
                  <a:srgbClr val="00C2A8"/>
                </a:solidFill>
              </a:rPr>
              <a:t>07</a:t>
            </a:r>
            <a:endParaRPr lang="fr-FR" sz="4800" noProof="0" dirty="0"/>
          </a:p>
        </p:txBody>
      </p:sp>
      <p:sp>
        <p:nvSpPr>
          <p:cNvPr id="58" name="Shape 36">
            <a:extLst>
              <a:ext uri="{FF2B5EF4-FFF2-40B4-BE49-F238E27FC236}">
                <a16:creationId xmlns:a16="http://schemas.microsoft.com/office/drawing/2014/main" id="{803160A9-C0E6-FBD1-29A4-DB2E02C2E309}"/>
              </a:ext>
            </a:extLst>
          </p:cNvPr>
          <p:cNvSpPr/>
          <p:nvPr/>
        </p:nvSpPr>
        <p:spPr>
          <a:xfrm>
            <a:off x="4914900" y="3860511"/>
            <a:ext cx="1536192" cy="0"/>
          </a:xfrm>
          <a:prstGeom prst="line">
            <a:avLst/>
          </a:prstGeom>
          <a:noFill/>
          <a:ln w="1524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77222374-4FC1-37CD-1BFB-1585E6B6A89D}"/>
              </a:ext>
            </a:extLst>
          </p:cNvPr>
          <p:cNvSpPr/>
          <p:nvPr/>
        </p:nvSpPr>
        <p:spPr>
          <a:xfrm>
            <a:off x="4750308" y="3951951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b="1" noProof="0" dirty="0">
                <a:solidFill>
                  <a:srgbClr val="FFFFFF"/>
                </a:solidFill>
              </a:rPr>
              <a:t> </a:t>
            </a:r>
            <a:r>
              <a:rPr lang="fr-FR" sz="1050" b="1" dirty="0">
                <a:solidFill>
                  <a:schemeClr val="bg1"/>
                </a:solidFill>
              </a:rPr>
              <a:t>Compétences clés pour l’ingénierie des données scientifiques</a:t>
            </a:r>
            <a:endParaRPr lang="fr-FR" sz="1050" b="1" noProof="0" dirty="0"/>
          </a:p>
        </p:txBody>
      </p:sp>
      <p:sp>
        <p:nvSpPr>
          <p:cNvPr id="4" name="Shape 33">
            <a:extLst>
              <a:ext uri="{FF2B5EF4-FFF2-40B4-BE49-F238E27FC236}">
                <a16:creationId xmlns:a16="http://schemas.microsoft.com/office/drawing/2014/main" id="{EA14C92A-6821-6183-E53C-EF88E45CDD39}"/>
              </a:ext>
            </a:extLst>
          </p:cNvPr>
          <p:cNvSpPr/>
          <p:nvPr/>
        </p:nvSpPr>
        <p:spPr>
          <a:xfrm>
            <a:off x="6807708" y="2925792"/>
            <a:ext cx="2084832" cy="1703780"/>
          </a:xfrm>
          <a:prstGeom prst="rect">
            <a:avLst/>
          </a:prstGeom>
          <a:solidFill>
            <a:srgbClr val="0F1E30"/>
          </a:solidFill>
          <a:ln w="12700">
            <a:solidFill>
              <a:srgbClr val="182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4">
            <a:extLst>
              <a:ext uri="{FF2B5EF4-FFF2-40B4-BE49-F238E27FC236}">
                <a16:creationId xmlns:a16="http://schemas.microsoft.com/office/drawing/2014/main" id="{2F81E352-50E7-8C27-3003-CBDE58C61BFC}"/>
              </a:ext>
            </a:extLst>
          </p:cNvPr>
          <p:cNvSpPr/>
          <p:nvPr/>
        </p:nvSpPr>
        <p:spPr>
          <a:xfrm>
            <a:off x="6807708" y="2925792"/>
            <a:ext cx="2084832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35">
            <a:extLst>
              <a:ext uri="{FF2B5EF4-FFF2-40B4-BE49-F238E27FC236}">
                <a16:creationId xmlns:a16="http://schemas.microsoft.com/office/drawing/2014/main" id="{8394084A-693D-5845-40E6-85C3812F509B}"/>
              </a:ext>
            </a:extLst>
          </p:cNvPr>
          <p:cNvSpPr/>
          <p:nvPr/>
        </p:nvSpPr>
        <p:spPr>
          <a:xfrm>
            <a:off x="6807708" y="3062952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noProof="0" dirty="0">
                <a:solidFill>
                  <a:srgbClr val="00C2A8"/>
                </a:solidFill>
              </a:rPr>
              <a:t>08</a:t>
            </a:r>
            <a:endParaRPr lang="fr-FR" sz="4800" noProof="0" dirty="0"/>
          </a:p>
        </p:txBody>
      </p:sp>
      <p:sp>
        <p:nvSpPr>
          <p:cNvPr id="7" name="Shape 36">
            <a:extLst>
              <a:ext uri="{FF2B5EF4-FFF2-40B4-BE49-F238E27FC236}">
                <a16:creationId xmlns:a16="http://schemas.microsoft.com/office/drawing/2014/main" id="{1213A8B6-16FB-2F0A-414E-AF97A02A9904}"/>
              </a:ext>
            </a:extLst>
          </p:cNvPr>
          <p:cNvSpPr/>
          <p:nvPr/>
        </p:nvSpPr>
        <p:spPr>
          <a:xfrm>
            <a:off x="7082028" y="3860511"/>
            <a:ext cx="1536192" cy="0"/>
          </a:xfrm>
          <a:prstGeom prst="line">
            <a:avLst/>
          </a:prstGeom>
          <a:noFill/>
          <a:ln w="1524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37">
            <a:extLst>
              <a:ext uri="{FF2B5EF4-FFF2-40B4-BE49-F238E27FC236}">
                <a16:creationId xmlns:a16="http://schemas.microsoft.com/office/drawing/2014/main" id="{21C72512-7CA6-74AE-2AE1-83BA53CFCE3C}"/>
              </a:ext>
            </a:extLst>
          </p:cNvPr>
          <p:cNvSpPr/>
          <p:nvPr/>
        </p:nvSpPr>
        <p:spPr>
          <a:xfrm>
            <a:off x="6917436" y="3951951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fr-FR" sz="1050" b="1" dirty="0">
                <a:solidFill>
                  <a:schemeClr val="bg1"/>
                </a:solidFill>
              </a:rPr>
              <a:t>Analyse du marché</a:t>
            </a:r>
            <a:endParaRPr lang="fr-FR" sz="1050" b="1" noProof="0" dirty="0"/>
          </a:p>
        </p:txBody>
      </p:sp>
    </p:spTree>
    <p:extLst>
      <p:ext uri="{BB962C8B-B14F-4D97-AF65-F5344CB8AC3E}">
        <p14:creationId xmlns:p14="http://schemas.microsoft.com/office/powerpoint/2010/main" val="260931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CE8FE-D8C6-3109-EE02-432E9B88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>
            <a:extLst>
              <a:ext uri="{FF2B5EF4-FFF2-40B4-BE49-F238E27FC236}">
                <a16:creationId xmlns:a16="http://schemas.microsoft.com/office/drawing/2014/main" id="{999B2D7C-73B1-7DCD-4339-AF85B52EE46E}"/>
              </a:ext>
            </a:extLst>
          </p:cNvPr>
          <p:cNvGrpSpPr/>
          <p:nvPr/>
        </p:nvGrpSpPr>
        <p:grpSpPr>
          <a:xfrm>
            <a:off x="585513" y="2349183"/>
            <a:ext cx="743093" cy="775320"/>
            <a:chOff x="0" y="0"/>
            <a:chExt cx="701440" cy="725542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905B23C4-C6ED-5B05-1CFD-799D0C377C79}"/>
                </a:ext>
              </a:extLst>
            </p:cNvPr>
            <p:cNvSpPr/>
            <p:nvPr/>
          </p:nvSpPr>
          <p:spPr>
            <a:xfrm>
              <a:off x="0" y="0"/>
              <a:ext cx="701440" cy="725542"/>
            </a:xfrm>
            <a:custGeom>
              <a:avLst/>
              <a:gdLst/>
              <a:ahLst/>
              <a:cxnLst/>
              <a:rect l="l" t="t" r="r" b="b"/>
              <a:pathLst>
                <a:path w="701440" h="725542">
                  <a:moveTo>
                    <a:pt x="350720" y="0"/>
                  </a:moveTo>
                  <a:cubicBezTo>
                    <a:pt x="157023" y="0"/>
                    <a:pt x="0" y="162418"/>
                    <a:pt x="0" y="362771"/>
                  </a:cubicBezTo>
                  <a:cubicBezTo>
                    <a:pt x="0" y="563124"/>
                    <a:pt x="157023" y="725542"/>
                    <a:pt x="350720" y="725542"/>
                  </a:cubicBezTo>
                  <a:cubicBezTo>
                    <a:pt x="544417" y="725542"/>
                    <a:pt x="701440" y="563124"/>
                    <a:pt x="701440" y="362771"/>
                  </a:cubicBezTo>
                  <a:cubicBezTo>
                    <a:pt x="701440" y="162418"/>
                    <a:pt x="544417" y="0"/>
                    <a:pt x="350720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fr-FR" sz="1500" noProof="0" dirty="0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F1483EC9-7C41-E84E-C147-32DC19D00113}"/>
                </a:ext>
              </a:extLst>
            </p:cNvPr>
            <p:cNvSpPr txBox="1"/>
            <p:nvPr/>
          </p:nvSpPr>
          <p:spPr>
            <a:xfrm>
              <a:off x="65760" y="10870"/>
              <a:ext cx="569920" cy="646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3"/>
                </a:lnSpc>
              </a:pPr>
              <a:r>
                <a:rPr lang="fr-FR" sz="1500" b="1" noProof="0" dirty="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2010</a:t>
              </a:r>
            </a:p>
          </p:txBody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BA3B7FB5-ABFE-32F9-4DA4-F000BA6BD43F}"/>
              </a:ext>
            </a:extLst>
          </p:cNvPr>
          <p:cNvGrpSpPr/>
          <p:nvPr/>
        </p:nvGrpSpPr>
        <p:grpSpPr>
          <a:xfrm>
            <a:off x="191867" y="3701280"/>
            <a:ext cx="1531091" cy="787394"/>
            <a:chOff x="0" y="-28575"/>
            <a:chExt cx="3276771" cy="1670596"/>
          </a:xfrm>
        </p:grpSpPr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1F1E06C1-9FA4-4DB8-81B5-A655409BEA81}"/>
                </a:ext>
              </a:extLst>
            </p:cNvPr>
            <p:cNvSpPr txBox="1"/>
            <p:nvPr/>
          </p:nvSpPr>
          <p:spPr>
            <a:xfrm>
              <a:off x="0" y="-28575"/>
              <a:ext cx="3276771" cy="536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fr-FR" sz="1400" b="1" noProof="0" dirty="0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LICENCE</a:t>
              </a:r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2BB862F7-58E0-BE67-DE5F-B0731686F7CC}"/>
                </a:ext>
              </a:extLst>
            </p:cNvPr>
            <p:cNvSpPr txBox="1"/>
            <p:nvPr/>
          </p:nvSpPr>
          <p:spPr>
            <a:xfrm>
              <a:off x="0" y="698704"/>
              <a:ext cx="3276771" cy="943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fr-FR" sz="1200" spc="17" noProof="0" dirty="0">
                  <a:latin typeface="Aileron"/>
                  <a:ea typeface="Aileron"/>
                  <a:cs typeface="Aileron"/>
                  <a:sym typeface="Aileron"/>
                </a:rPr>
                <a:t>Science et technologie parcours biochimie</a:t>
              </a:r>
            </a:p>
          </p:txBody>
        </p:sp>
      </p:grpSp>
      <p:grpSp>
        <p:nvGrpSpPr>
          <p:cNvPr id="19" name="Group 11">
            <a:extLst>
              <a:ext uri="{FF2B5EF4-FFF2-40B4-BE49-F238E27FC236}">
                <a16:creationId xmlns:a16="http://schemas.microsoft.com/office/drawing/2014/main" id="{06104A37-02E9-5AA3-4EDB-067641D75EB4}"/>
              </a:ext>
            </a:extLst>
          </p:cNvPr>
          <p:cNvGrpSpPr/>
          <p:nvPr/>
        </p:nvGrpSpPr>
        <p:grpSpPr>
          <a:xfrm>
            <a:off x="2213889" y="2342318"/>
            <a:ext cx="765894" cy="772563"/>
            <a:chOff x="0" y="0"/>
            <a:chExt cx="556826" cy="556826"/>
          </a:xfrm>
        </p:grpSpPr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0855900B-227C-E217-9594-8E706FD25D72}"/>
                </a:ext>
              </a:extLst>
            </p:cNvPr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fr-FR" sz="1500" noProof="0" dirty="0"/>
            </a:p>
          </p:txBody>
        </p:sp>
        <p:sp>
          <p:nvSpPr>
            <p:cNvPr id="21" name="TextBox 13">
              <a:extLst>
                <a:ext uri="{FF2B5EF4-FFF2-40B4-BE49-F238E27FC236}">
                  <a16:creationId xmlns:a16="http://schemas.microsoft.com/office/drawing/2014/main" id="{64B0BD1C-9B56-50ED-B03C-FAB45402E1A4}"/>
                </a:ext>
              </a:extLst>
            </p:cNvPr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3"/>
                </a:lnSpc>
              </a:pPr>
              <a:r>
                <a:rPr lang="fr-FR" sz="1500" b="1" noProof="0" dirty="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2012</a:t>
              </a:r>
            </a:p>
          </p:txBody>
        </p:sp>
      </p:grpSp>
      <p:grpSp>
        <p:nvGrpSpPr>
          <p:cNvPr id="22" name="Group 14">
            <a:extLst>
              <a:ext uri="{FF2B5EF4-FFF2-40B4-BE49-F238E27FC236}">
                <a16:creationId xmlns:a16="http://schemas.microsoft.com/office/drawing/2014/main" id="{FBAC411D-43C3-BD49-A3CD-F99B52587CDD}"/>
              </a:ext>
            </a:extLst>
          </p:cNvPr>
          <p:cNvGrpSpPr/>
          <p:nvPr/>
        </p:nvGrpSpPr>
        <p:grpSpPr>
          <a:xfrm>
            <a:off x="4077812" y="2342318"/>
            <a:ext cx="765894" cy="772563"/>
            <a:chOff x="0" y="0"/>
            <a:chExt cx="556826" cy="556826"/>
          </a:xfrm>
          <a:solidFill>
            <a:srgbClr val="FF0000"/>
          </a:solidFill>
        </p:grpSpPr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0D9AA56C-0067-C0CB-2D06-6F2E4D70F86C}"/>
                </a:ext>
              </a:extLst>
            </p:cNvPr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 sz="1500" noProof="0" dirty="0"/>
            </a:p>
          </p:txBody>
        </p:sp>
        <p:sp>
          <p:nvSpPr>
            <p:cNvPr id="24" name="TextBox 16">
              <a:extLst>
                <a:ext uri="{FF2B5EF4-FFF2-40B4-BE49-F238E27FC236}">
                  <a16:creationId xmlns:a16="http://schemas.microsoft.com/office/drawing/2014/main" id="{B2C54A13-3F23-1637-BFF9-B45B591990B0}"/>
                </a:ext>
              </a:extLst>
            </p:cNvPr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613"/>
                </a:lnSpc>
              </a:pPr>
              <a:r>
                <a:rPr lang="fr-FR" sz="1500" b="1" noProof="0" dirty="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2012</a:t>
              </a:r>
            </a:p>
            <a:p>
              <a:pPr algn="ctr">
                <a:lnSpc>
                  <a:spcPts val="2613"/>
                </a:lnSpc>
              </a:pPr>
              <a:r>
                <a:rPr lang="fr-FR" sz="1500" b="1" dirty="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2017</a:t>
              </a:r>
              <a:endParaRPr lang="fr-FR" sz="1500" b="1" noProof="0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endParaRPr>
            </a:p>
          </p:txBody>
        </p:sp>
      </p:grpSp>
      <p:grpSp>
        <p:nvGrpSpPr>
          <p:cNvPr id="25" name="Group 17">
            <a:extLst>
              <a:ext uri="{FF2B5EF4-FFF2-40B4-BE49-F238E27FC236}">
                <a16:creationId xmlns:a16="http://schemas.microsoft.com/office/drawing/2014/main" id="{11BD4ADD-697B-9787-8BF1-DBAFFA279003}"/>
              </a:ext>
            </a:extLst>
          </p:cNvPr>
          <p:cNvGrpSpPr/>
          <p:nvPr/>
        </p:nvGrpSpPr>
        <p:grpSpPr>
          <a:xfrm>
            <a:off x="5947281" y="2321758"/>
            <a:ext cx="765894" cy="772563"/>
            <a:chOff x="0" y="0"/>
            <a:chExt cx="556826" cy="55682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74535DD2-6FCB-F9DE-3329-6ED820393EDA}"/>
                </a:ext>
              </a:extLst>
            </p:cNvPr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8AFD6"/>
            </a:solidFill>
          </p:spPr>
          <p:txBody>
            <a:bodyPr/>
            <a:lstStyle/>
            <a:p>
              <a:endParaRPr lang="fr-FR" sz="1500" noProof="0" dirty="0"/>
            </a:p>
          </p:txBody>
        </p:sp>
        <p:sp>
          <p:nvSpPr>
            <p:cNvPr id="27" name="TextBox 19">
              <a:extLst>
                <a:ext uri="{FF2B5EF4-FFF2-40B4-BE49-F238E27FC236}">
                  <a16:creationId xmlns:a16="http://schemas.microsoft.com/office/drawing/2014/main" id="{56D154D7-8739-8030-17FC-01E7BE98D210}"/>
                </a:ext>
              </a:extLst>
            </p:cNvPr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3"/>
                </a:lnSpc>
              </a:pPr>
              <a:r>
                <a:rPr lang="fr-FR" sz="1500" b="1" noProof="0" dirty="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2023</a:t>
              </a:r>
            </a:p>
          </p:txBody>
        </p:sp>
      </p:grpSp>
      <p:sp>
        <p:nvSpPr>
          <p:cNvPr id="28" name="AutoShape 23">
            <a:extLst>
              <a:ext uri="{FF2B5EF4-FFF2-40B4-BE49-F238E27FC236}">
                <a16:creationId xmlns:a16="http://schemas.microsoft.com/office/drawing/2014/main" id="{0CC13EBD-D86D-05BE-7851-44013C909E37}"/>
              </a:ext>
            </a:extLst>
          </p:cNvPr>
          <p:cNvSpPr/>
          <p:nvPr/>
        </p:nvSpPr>
        <p:spPr>
          <a:xfrm>
            <a:off x="957059" y="3124504"/>
            <a:ext cx="0" cy="408352"/>
          </a:xfrm>
          <a:prstGeom prst="line">
            <a:avLst/>
          </a:prstGeom>
          <a:ln w="47625" cap="flat">
            <a:solidFill>
              <a:srgbClr val="86EAE9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29" name="AutoShape 24">
            <a:extLst>
              <a:ext uri="{FF2B5EF4-FFF2-40B4-BE49-F238E27FC236}">
                <a16:creationId xmlns:a16="http://schemas.microsoft.com/office/drawing/2014/main" id="{51A09FA1-3DCC-7A76-5D7B-179CFD05CDF1}"/>
              </a:ext>
            </a:extLst>
          </p:cNvPr>
          <p:cNvSpPr/>
          <p:nvPr/>
        </p:nvSpPr>
        <p:spPr>
          <a:xfrm>
            <a:off x="2596836" y="3114881"/>
            <a:ext cx="0" cy="411110"/>
          </a:xfrm>
          <a:prstGeom prst="line">
            <a:avLst/>
          </a:prstGeom>
          <a:ln w="47625" cap="flat">
            <a:solidFill>
              <a:srgbClr val="86EAE9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30" name="AutoShape 25">
            <a:extLst>
              <a:ext uri="{FF2B5EF4-FFF2-40B4-BE49-F238E27FC236}">
                <a16:creationId xmlns:a16="http://schemas.microsoft.com/office/drawing/2014/main" id="{98651DCA-C341-3D6F-BBCB-2197926CE222}"/>
              </a:ext>
            </a:extLst>
          </p:cNvPr>
          <p:cNvSpPr/>
          <p:nvPr/>
        </p:nvSpPr>
        <p:spPr>
          <a:xfrm>
            <a:off x="4462889" y="3124504"/>
            <a:ext cx="2" cy="392126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31" name="AutoShape 26">
            <a:extLst>
              <a:ext uri="{FF2B5EF4-FFF2-40B4-BE49-F238E27FC236}">
                <a16:creationId xmlns:a16="http://schemas.microsoft.com/office/drawing/2014/main" id="{12777A0D-CC50-80E3-EBDE-0D328A19D3CD}"/>
              </a:ext>
            </a:extLst>
          </p:cNvPr>
          <p:cNvSpPr/>
          <p:nvPr/>
        </p:nvSpPr>
        <p:spPr>
          <a:xfrm>
            <a:off x="6330228" y="3094321"/>
            <a:ext cx="0" cy="403155"/>
          </a:xfrm>
          <a:prstGeom prst="line">
            <a:avLst/>
          </a:prstGeom>
          <a:ln w="47625" cap="flat">
            <a:solidFill>
              <a:srgbClr val="18AFD6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32" name="AutoShape 29">
            <a:extLst>
              <a:ext uri="{FF2B5EF4-FFF2-40B4-BE49-F238E27FC236}">
                <a16:creationId xmlns:a16="http://schemas.microsoft.com/office/drawing/2014/main" id="{746E95CE-3974-6A62-279B-34B83294A145}"/>
              </a:ext>
            </a:extLst>
          </p:cNvPr>
          <p:cNvSpPr/>
          <p:nvPr/>
        </p:nvSpPr>
        <p:spPr>
          <a:xfrm flipV="1">
            <a:off x="1295735" y="2735466"/>
            <a:ext cx="918154" cy="7952"/>
          </a:xfrm>
          <a:prstGeom prst="line">
            <a:avLst/>
          </a:prstGeom>
          <a:ln w="57150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33" name="AutoShape 30">
            <a:extLst>
              <a:ext uri="{FF2B5EF4-FFF2-40B4-BE49-F238E27FC236}">
                <a16:creationId xmlns:a16="http://schemas.microsoft.com/office/drawing/2014/main" id="{48BFFB64-CA84-54F9-6C87-F87B2E906088}"/>
              </a:ext>
            </a:extLst>
          </p:cNvPr>
          <p:cNvSpPr/>
          <p:nvPr/>
        </p:nvSpPr>
        <p:spPr>
          <a:xfrm>
            <a:off x="2947229" y="2716259"/>
            <a:ext cx="1134901" cy="19142"/>
          </a:xfrm>
          <a:prstGeom prst="line">
            <a:avLst/>
          </a:prstGeom>
          <a:ln w="57150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34" name="AutoShape 31">
            <a:extLst>
              <a:ext uri="{FF2B5EF4-FFF2-40B4-BE49-F238E27FC236}">
                <a16:creationId xmlns:a16="http://schemas.microsoft.com/office/drawing/2014/main" id="{B8D03FFE-46B5-1DD5-C09D-9481532AB766}"/>
              </a:ext>
            </a:extLst>
          </p:cNvPr>
          <p:cNvSpPr/>
          <p:nvPr/>
        </p:nvSpPr>
        <p:spPr>
          <a:xfrm>
            <a:off x="4843703" y="2708774"/>
            <a:ext cx="1103577" cy="0"/>
          </a:xfrm>
          <a:prstGeom prst="line">
            <a:avLst/>
          </a:prstGeom>
          <a:ln w="57150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sz="1500" noProof="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A79AD71-CFD6-723F-5902-807A8223333C}"/>
              </a:ext>
            </a:extLst>
          </p:cNvPr>
          <p:cNvGrpSpPr/>
          <p:nvPr/>
        </p:nvGrpSpPr>
        <p:grpSpPr>
          <a:xfrm>
            <a:off x="1831290" y="3681709"/>
            <a:ext cx="1536688" cy="787393"/>
            <a:chOff x="144450" y="-28575"/>
            <a:chExt cx="3288749" cy="167059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DDF15F5-9B47-6F1C-1F48-633E0F1A18B9}"/>
                </a:ext>
              </a:extLst>
            </p:cNvPr>
            <p:cNvSpPr txBox="1"/>
            <p:nvPr/>
          </p:nvSpPr>
          <p:spPr>
            <a:xfrm>
              <a:off x="156428" y="-28575"/>
              <a:ext cx="3276771" cy="536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fr-FR" sz="1400" b="1" noProof="0" dirty="0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MASTER PRO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9536448-7B76-7727-0BC9-B7555A3EADB6}"/>
                </a:ext>
              </a:extLst>
            </p:cNvPr>
            <p:cNvSpPr txBox="1"/>
            <p:nvPr/>
          </p:nvSpPr>
          <p:spPr>
            <a:xfrm>
              <a:off x="144450" y="698703"/>
              <a:ext cx="3276771" cy="943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fr-FR" sz="1200" spc="17" dirty="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Ingénierie de la</a:t>
              </a:r>
            </a:p>
            <a:p>
              <a:pPr algn="ctr">
                <a:lnSpc>
                  <a:spcPts val="1800"/>
                </a:lnSpc>
              </a:pPr>
              <a:r>
                <a:rPr lang="fr-FR" sz="1200" spc="17" dirty="0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Santé et le Médicament 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E6EF8FB-3D02-95A1-C0E7-EE1D7CF88BF9}"/>
              </a:ext>
            </a:extLst>
          </p:cNvPr>
          <p:cNvGrpSpPr/>
          <p:nvPr/>
        </p:nvGrpSpPr>
        <p:grpSpPr>
          <a:xfrm>
            <a:off x="3591821" y="3703661"/>
            <a:ext cx="1686748" cy="1015851"/>
            <a:chOff x="197006" y="-1615"/>
            <a:chExt cx="3995961" cy="215531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F2D8F8-45B0-7A25-A7CA-641E4EAE2CDA}"/>
                </a:ext>
              </a:extLst>
            </p:cNvPr>
            <p:cNvSpPr txBox="1"/>
            <p:nvPr/>
          </p:nvSpPr>
          <p:spPr>
            <a:xfrm>
              <a:off x="197006" y="-1615"/>
              <a:ext cx="3995961" cy="5290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fr-FR" sz="1400" b="1" dirty="0">
                  <a:latin typeface="Aileron"/>
                </a:rPr>
                <a:t>INGÉNIEUR D’ÉTUDE</a:t>
              </a:r>
              <a:endParaRPr lang="fr-FR" sz="1400" b="1" noProof="0" dirty="0">
                <a:solidFill>
                  <a:srgbClr val="191919"/>
                </a:solidFill>
                <a:latin typeface="+mj-lt"/>
                <a:ea typeface="Aileron Bold"/>
                <a:cs typeface="Aileron Bold"/>
                <a:sym typeface="Aileron Bold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924BF0-D7C5-29A2-0A86-38CA5955B760}"/>
                </a:ext>
              </a:extLst>
            </p:cNvPr>
            <p:cNvSpPr txBox="1"/>
            <p:nvPr/>
          </p:nvSpPr>
          <p:spPr>
            <a:xfrm>
              <a:off x="207759" y="706341"/>
              <a:ext cx="3828788" cy="14473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fr-FR" sz="1200" dirty="0">
                  <a:latin typeface="Aileron"/>
                </a:rPr>
                <a:t>R&amp;D sur la transcytose hémato-encéphalique</a:t>
              </a:r>
            </a:p>
            <a:p>
              <a:pPr algn="ctr">
                <a:lnSpc>
                  <a:spcPts val="1800"/>
                </a:lnSpc>
              </a:pPr>
              <a:endParaRPr lang="fr-FR" sz="1400" spc="17" noProof="0" dirty="0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endParaRPr>
            </a:p>
          </p:txBody>
        </p:sp>
      </p:grpSp>
      <p:pic>
        <p:nvPicPr>
          <p:cNvPr id="41" name="Picture 2">
            <a:extLst>
              <a:ext uri="{FF2B5EF4-FFF2-40B4-BE49-F238E27FC236}">
                <a16:creationId xmlns:a16="http://schemas.microsoft.com/office/drawing/2014/main" id="{D08246B2-07DF-3DE6-0C87-8FC0D6072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950810"/>
            <a:ext cx="1182597" cy="41911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E2ECB699-1F65-61A7-7D81-DEE600D61B60}"/>
              </a:ext>
            </a:extLst>
          </p:cNvPr>
          <p:cNvCxnSpPr/>
          <p:nvPr/>
        </p:nvCxnSpPr>
        <p:spPr>
          <a:xfrm>
            <a:off x="1753718" y="1965524"/>
            <a:ext cx="0" cy="1781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3" name="Picture 2" descr="Que faire à Marseille : itinéraire de 2 jours">
            <a:extLst>
              <a:ext uri="{FF2B5EF4-FFF2-40B4-BE49-F238E27FC236}">
                <a16:creationId xmlns:a16="http://schemas.microsoft.com/office/drawing/2014/main" id="{B045B205-0A35-F8ED-66DF-48F68198A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578836"/>
            <a:ext cx="1182597" cy="68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6FBCDDB2-D39B-64C7-C2D1-2F4C0BEAC3A8}"/>
              </a:ext>
            </a:extLst>
          </p:cNvPr>
          <p:cNvCxnSpPr/>
          <p:nvPr/>
        </p:nvCxnSpPr>
        <p:spPr>
          <a:xfrm>
            <a:off x="3513248" y="1958658"/>
            <a:ext cx="0" cy="1781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8" name="Group 8">
            <a:extLst>
              <a:ext uri="{FF2B5EF4-FFF2-40B4-BE49-F238E27FC236}">
                <a16:creationId xmlns:a16="http://schemas.microsoft.com/office/drawing/2014/main" id="{37AA3F6D-EF7F-EAA4-270F-3A49BE5C588F}"/>
              </a:ext>
            </a:extLst>
          </p:cNvPr>
          <p:cNvGrpSpPr/>
          <p:nvPr/>
        </p:nvGrpSpPr>
        <p:grpSpPr>
          <a:xfrm>
            <a:off x="7705453" y="2323214"/>
            <a:ext cx="765894" cy="772563"/>
            <a:chOff x="0" y="0"/>
            <a:chExt cx="556826" cy="556826"/>
          </a:xfrm>
        </p:grpSpPr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55A7E949-452C-FF77-15C9-FED331C4C3E4}"/>
                </a:ext>
              </a:extLst>
            </p:cNvPr>
            <p:cNvSpPr/>
            <p:nvPr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fr-FR" sz="1500"/>
            </a:p>
          </p:txBody>
        </p:sp>
        <p:sp>
          <p:nvSpPr>
            <p:cNvPr id="50" name="TextBox 10">
              <a:extLst>
                <a:ext uri="{FF2B5EF4-FFF2-40B4-BE49-F238E27FC236}">
                  <a16:creationId xmlns:a16="http://schemas.microsoft.com/office/drawing/2014/main" id="{737EA022-1C84-643F-CCDB-16E1058B5ED4}"/>
                </a:ext>
              </a:extLst>
            </p:cNvPr>
            <p:cNvSpPr txBox="1"/>
            <p:nvPr/>
          </p:nvSpPr>
          <p:spPr>
            <a:xfrm>
              <a:off x="52202" y="-4948"/>
              <a:ext cx="452421" cy="509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3"/>
                </a:lnSpc>
              </a:pPr>
              <a:r>
                <a:rPr lang="en-US" sz="1500" b="1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2026</a:t>
              </a:r>
            </a:p>
          </p:txBody>
        </p:sp>
      </p:grpSp>
      <p:sp>
        <p:nvSpPr>
          <p:cNvPr id="59" name="AutoShape 28">
            <a:extLst>
              <a:ext uri="{FF2B5EF4-FFF2-40B4-BE49-F238E27FC236}">
                <a16:creationId xmlns:a16="http://schemas.microsoft.com/office/drawing/2014/main" id="{21F6262F-B835-53FC-9D2F-410A6D9D286B}"/>
              </a:ext>
            </a:extLst>
          </p:cNvPr>
          <p:cNvSpPr/>
          <p:nvPr/>
        </p:nvSpPr>
        <p:spPr>
          <a:xfrm>
            <a:off x="8088400" y="3095777"/>
            <a:ext cx="0" cy="411110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fr-FR" sz="1500"/>
          </a:p>
        </p:txBody>
      </p:sp>
      <p:pic>
        <p:nvPicPr>
          <p:cNvPr id="1028" name="Picture 4" descr="Visiter Grenoble : les 10 choses incontournables à faire">
            <a:extLst>
              <a:ext uri="{FF2B5EF4-FFF2-40B4-BE49-F238E27FC236}">
                <a16:creationId xmlns:a16="http://schemas.microsoft.com/office/drawing/2014/main" id="{19D272C3-B21D-C764-B610-0A862BC6E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254" y="1594411"/>
            <a:ext cx="1198447" cy="67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0B30FE7-9E5E-E6A8-DF40-6B856A1CAD93}"/>
              </a:ext>
            </a:extLst>
          </p:cNvPr>
          <p:cNvCxnSpPr/>
          <p:nvPr/>
        </p:nvCxnSpPr>
        <p:spPr>
          <a:xfrm>
            <a:off x="5407430" y="1921802"/>
            <a:ext cx="0" cy="1781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7" name="Picture 2" descr="Que faire à Marseille : itinéraire de 2 jours">
            <a:extLst>
              <a:ext uri="{FF2B5EF4-FFF2-40B4-BE49-F238E27FC236}">
                <a16:creationId xmlns:a16="http://schemas.microsoft.com/office/drawing/2014/main" id="{58747E66-54E3-6EC0-5AD1-A047AB478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617" y="1588980"/>
            <a:ext cx="1182597" cy="65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ect-Horus">
            <a:extLst>
              <a:ext uri="{FF2B5EF4-FFF2-40B4-BE49-F238E27FC236}">
                <a16:creationId xmlns:a16="http://schemas.microsoft.com/office/drawing/2014/main" id="{69C026EE-26DE-CE05-3AC0-1C70E3235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750" y="962454"/>
            <a:ext cx="1180464" cy="4116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Group 34">
            <a:extLst>
              <a:ext uri="{FF2B5EF4-FFF2-40B4-BE49-F238E27FC236}">
                <a16:creationId xmlns:a16="http://schemas.microsoft.com/office/drawing/2014/main" id="{A45FF7F0-E1BB-970A-9E8D-AEB4B8D8B5BB}"/>
              </a:ext>
            </a:extLst>
          </p:cNvPr>
          <p:cNvGrpSpPr/>
          <p:nvPr/>
        </p:nvGrpSpPr>
        <p:grpSpPr>
          <a:xfrm>
            <a:off x="5395505" y="3691870"/>
            <a:ext cx="1765818" cy="761371"/>
            <a:chOff x="-57310" y="-28575"/>
            <a:chExt cx="3397457" cy="1615385"/>
          </a:xfrm>
        </p:grpSpPr>
        <p:sp>
          <p:nvSpPr>
            <p:cNvPr id="69" name="TextBox 35">
              <a:extLst>
                <a:ext uri="{FF2B5EF4-FFF2-40B4-BE49-F238E27FC236}">
                  <a16:creationId xmlns:a16="http://schemas.microsoft.com/office/drawing/2014/main" id="{835714F1-0EE0-6297-61F2-A8CB5BD4B5D1}"/>
                </a:ext>
              </a:extLst>
            </p:cNvPr>
            <p:cNvSpPr txBox="1"/>
            <p:nvPr/>
          </p:nvSpPr>
          <p:spPr>
            <a:xfrm>
              <a:off x="63376" y="-28575"/>
              <a:ext cx="3276771" cy="536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fr-FR" sz="1400" b="1" noProof="0" dirty="0">
                  <a:solidFill>
                    <a:srgbClr val="191919"/>
                  </a:solidFill>
                  <a:latin typeface="Aileron"/>
                  <a:ea typeface="Aileron Bold"/>
                  <a:cs typeface="Aileron Bold"/>
                  <a:sym typeface="Aileron Bold"/>
                </a:rPr>
                <a:t>MASTER RECHERCHE</a:t>
              </a:r>
            </a:p>
          </p:txBody>
        </p:sp>
        <p:sp>
          <p:nvSpPr>
            <p:cNvPr id="70" name="TextBox 36">
              <a:extLst>
                <a:ext uri="{FF2B5EF4-FFF2-40B4-BE49-F238E27FC236}">
                  <a16:creationId xmlns:a16="http://schemas.microsoft.com/office/drawing/2014/main" id="{62B8630D-F1F8-DAE1-A206-96FFD1CEFAAF}"/>
                </a:ext>
              </a:extLst>
            </p:cNvPr>
            <p:cNvSpPr txBox="1"/>
            <p:nvPr/>
          </p:nvSpPr>
          <p:spPr>
            <a:xfrm>
              <a:off x="-57310" y="803206"/>
              <a:ext cx="3276773" cy="783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fr-FR" sz="1200" dirty="0">
                  <a:latin typeface="Aileron"/>
                </a:rPr>
                <a:t>Biochimie Structurale et</a:t>
              </a:r>
            </a:p>
            <a:p>
              <a:pPr algn="ctr"/>
              <a:r>
                <a:rPr lang="fr-FR" sz="1200" dirty="0">
                  <a:latin typeface="Aileron"/>
                </a:rPr>
                <a:t>Fonctionnelle </a:t>
              </a:r>
              <a:endParaRPr lang="fr-FR" sz="1200" spc="17" dirty="0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endParaRPr>
            </a:p>
          </p:txBody>
        </p:sp>
      </p:grpSp>
      <p:pic>
        <p:nvPicPr>
          <p:cNvPr id="74" name="Image 73" descr="Une image contenant plein air, nuage, ciel, arbre&#10;&#10;Description générée automatiquement">
            <a:extLst>
              <a:ext uri="{FF2B5EF4-FFF2-40B4-BE49-F238E27FC236}">
                <a16:creationId xmlns:a16="http://schemas.microsoft.com/office/drawing/2014/main" id="{70981945-06EC-1E3E-4B05-781DCD765B6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7239"/>
          <a:stretch/>
        </p:blipFill>
        <p:spPr>
          <a:xfrm>
            <a:off x="5713405" y="1590229"/>
            <a:ext cx="1180464" cy="688230"/>
          </a:xfrm>
          <a:prstGeom prst="rect">
            <a:avLst/>
          </a:prstGeom>
        </p:spPr>
      </p:pic>
      <p:sp>
        <p:nvSpPr>
          <p:cNvPr id="75" name="AutoShape 31">
            <a:extLst>
              <a:ext uri="{FF2B5EF4-FFF2-40B4-BE49-F238E27FC236}">
                <a16:creationId xmlns:a16="http://schemas.microsoft.com/office/drawing/2014/main" id="{9CB7CEFF-319B-809B-2F9C-7708BC93ACC4}"/>
              </a:ext>
            </a:extLst>
          </p:cNvPr>
          <p:cNvSpPr/>
          <p:nvPr/>
        </p:nvSpPr>
        <p:spPr>
          <a:xfrm>
            <a:off x="6713175" y="2708773"/>
            <a:ext cx="992278" cy="1"/>
          </a:xfrm>
          <a:prstGeom prst="line">
            <a:avLst/>
          </a:prstGeom>
          <a:ln w="57150" cap="flat">
            <a:solidFill>
              <a:schemeClr val="bg1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sz="1500" noProof="0" dirty="0"/>
          </a:p>
        </p:txBody>
      </p: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44B25F58-6082-CBB9-388A-E00E05D7D940}"/>
              </a:ext>
            </a:extLst>
          </p:cNvPr>
          <p:cNvCxnSpPr/>
          <p:nvPr/>
        </p:nvCxnSpPr>
        <p:spPr>
          <a:xfrm>
            <a:off x="7275467" y="1861107"/>
            <a:ext cx="0" cy="178117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4" name="Picture 10" descr="Lyon 1 Université — Wikipédia">
            <a:extLst>
              <a:ext uri="{FF2B5EF4-FFF2-40B4-BE49-F238E27FC236}">
                <a16:creationId xmlns:a16="http://schemas.microsoft.com/office/drawing/2014/main" id="{45F9B28A-DA42-91D8-B3B7-87E075314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261" y="962453"/>
            <a:ext cx="1180464" cy="41368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Université Grenoble-I - Définition et Explications">
            <a:extLst>
              <a:ext uri="{FF2B5EF4-FFF2-40B4-BE49-F238E27FC236}">
                <a16:creationId xmlns:a16="http://schemas.microsoft.com/office/drawing/2014/main" id="{7617F8E1-8EDF-BB92-5D0B-129B57FAE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813" y="959836"/>
            <a:ext cx="1243888" cy="4100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10" descr="Lyon 1 Université — Wikipédia">
            <a:extLst>
              <a:ext uri="{FF2B5EF4-FFF2-40B4-BE49-F238E27FC236}">
                <a16:creationId xmlns:a16="http://schemas.microsoft.com/office/drawing/2014/main" id="{176534A2-05E3-9825-95AB-88E6C48B2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344" y="947768"/>
            <a:ext cx="1180464" cy="4315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Image 80" descr="Une image contenant plein air, nuage, ciel, arbre&#10;&#10;Description générée automatiquement">
            <a:extLst>
              <a:ext uri="{FF2B5EF4-FFF2-40B4-BE49-F238E27FC236}">
                <a16:creationId xmlns:a16="http://schemas.microsoft.com/office/drawing/2014/main" id="{A8C772D5-999E-AC59-FD20-F6021295795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7239"/>
          <a:stretch/>
        </p:blipFill>
        <p:spPr>
          <a:xfrm>
            <a:off x="7462344" y="1594410"/>
            <a:ext cx="1180464" cy="688230"/>
          </a:xfrm>
          <a:prstGeom prst="rect">
            <a:avLst/>
          </a:prstGeom>
        </p:spPr>
      </p:pic>
      <p:grpSp>
        <p:nvGrpSpPr>
          <p:cNvPr id="82" name="Group 34">
            <a:extLst>
              <a:ext uri="{FF2B5EF4-FFF2-40B4-BE49-F238E27FC236}">
                <a16:creationId xmlns:a16="http://schemas.microsoft.com/office/drawing/2014/main" id="{B2591D75-227B-C7CC-B823-E06007EAD262}"/>
              </a:ext>
            </a:extLst>
          </p:cNvPr>
          <p:cNvGrpSpPr/>
          <p:nvPr/>
        </p:nvGrpSpPr>
        <p:grpSpPr>
          <a:xfrm>
            <a:off x="7177306" y="3707463"/>
            <a:ext cx="1703092" cy="1042119"/>
            <a:chOff x="250229" y="-28575"/>
            <a:chExt cx="3276771" cy="2211042"/>
          </a:xfrm>
        </p:grpSpPr>
        <p:sp>
          <p:nvSpPr>
            <p:cNvPr id="83" name="TextBox 35">
              <a:extLst>
                <a:ext uri="{FF2B5EF4-FFF2-40B4-BE49-F238E27FC236}">
                  <a16:creationId xmlns:a16="http://schemas.microsoft.com/office/drawing/2014/main" id="{4B4321BA-0968-5265-5AA3-F7F597FF3DAF}"/>
                </a:ext>
              </a:extLst>
            </p:cNvPr>
            <p:cNvSpPr txBox="1"/>
            <p:nvPr/>
          </p:nvSpPr>
          <p:spPr>
            <a:xfrm>
              <a:off x="250229" y="-28575"/>
              <a:ext cx="3276771" cy="529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fr-FR" sz="1400" b="1" noProof="0" dirty="0">
                  <a:solidFill>
                    <a:srgbClr val="191919"/>
                  </a:solidFill>
                  <a:latin typeface="Aileron"/>
                  <a:ea typeface="Aileron Bold"/>
                  <a:cs typeface="Aileron Bold"/>
                  <a:sym typeface="Aileron Bold"/>
                </a:rPr>
                <a:t>BUT3 AGED</a:t>
              </a:r>
            </a:p>
          </p:txBody>
        </p:sp>
        <p:sp>
          <p:nvSpPr>
            <p:cNvPr id="84" name="TextBox 36">
              <a:extLst>
                <a:ext uri="{FF2B5EF4-FFF2-40B4-BE49-F238E27FC236}">
                  <a16:creationId xmlns:a16="http://schemas.microsoft.com/office/drawing/2014/main" id="{DC772E2C-9110-79D4-DF2A-E11A296A7DE4}"/>
                </a:ext>
              </a:extLst>
            </p:cNvPr>
            <p:cNvSpPr txBox="1"/>
            <p:nvPr/>
          </p:nvSpPr>
          <p:spPr>
            <a:xfrm>
              <a:off x="441155" y="745861"/>
              <a:ext cx="2894918" cy="14366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100" dirty="0"/>
                <a:t>Administration, gestion et exploitation des données &amp; développement d’applications</a:t>
              </a:r>
              <a:endParaRPr lang="fr-FR" sz="1100" dirty="0">
                <a:latin typeface="Aileron"/>
              </a:endParaRPr>
            </a:p>
          </p:txBody>
        </p:sp>
      </p:grpSp>
      <p:sp>
        <p:nvSpPr>
          <p:cNvPr id="4" name="Shape 0">
            <a:extLst>
              <a:ext uri="{FF2B5EF4-FFF2-40B4-BE49-F238E27FC236}">
                <a16:creationId xmlns:a16="http://schemas.microsoft.com/office/drawing/2014/main" id="{018165DF-232E-09F9-E759-B158B7626A5B}"/>
              </a:ext>
            </a:extLst>
          </p:cNvPr>
          <p:cNvSpPr/>
          <p:nvPr/>
        </p:nvSpPr>
        <p:spPr>
          <a:xfrm>
            <a:off x="0" y="-9367"/>
            <a:ext cx="9144000" cy="60157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135B1F9-CD13-6895-82F1-62016FB690D6}"/>
              </a:ext>
            </a:extLst>
          </p:cNvPr>
          <p:cNvSpPr/>
          <p:nvPr/>
        </p:nvSpPr>
        <p:spPr>
          <a:xfrm>
            <a:off x="365760" y="578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200" b="1" noProof="0" dirty="0">
                <a:solidFill>
                  <a:schemeClr val="bg1"/>
                </a:solidFill>
              </a:rPr>
              <a:t>01 — </a:t>
            </a:r>
            <a:r>
              <a:rPr lang="fr-FR" sz="2200" b="1" dirty="0">
                <a:solidFill>
                  <a:schemeClr val="bg1"/>
                </a:solidFill>
              </a:rPr>
              <a:t>Un parcours hybride entre biologie et informatique</a:t>
            </a:r>
            <a:endParaRPr lang="fr-FR" sz="2200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584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883D59-7F19-CBF1-D534-C049C3076966}"/>
              </a:ext>
            </a:extLst>
          </p:cNvPr>
          <p:cNvSpPr/>
          <p:nvPr/>
        </p:nvSpPr>
        <p:spPr>
          <a:xfrm>
            <a:off x="0" y="0"/>
            <a:ext cx="2084832" cy="5143500"/>
          </a:xfrm>
          <a:prstGeom prst="rect">
            <a:avLst/>
          </a:prstGeom>
          <a:solidFill>
            <a:srgbClr val="06061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C923CC-984F-A1F7-EEE4-6151784C5EBF}"/>
              </a:ext>
            </a:extLst>
          </p:cNvPr>
          <p:cNvSpPr/>
          <p:nvPr/>
        </p:nvSpPr>
        <p:spPr>
          <a:xfrm>
            <a:off x="76694" y="228600"/>
            <a:ext cx="192446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b="1" noProof="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02 -</a:t>
            </a:r>
            <a:r>
              <a:rPr lang="fr-FR" b="1" dirty="0">
                <a:solidFill>
                  <a:schemeClr val="bg1"/>
                </a:solidFill>
              </a:rPr>
              <a:t>CONSTRUCTION DU PARCOURS</a:t>
            </a:r>
            <a:endParaRPr lang="fr-FR" b="1" noProof="0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96C37A-5B19-37A8-DC27-DAC3C5088CA5}"/>
              </a:ext>
            </a:extLst>
          </p:cNvPr>
          <p:cNvSpPr/>
          <p:nvPr/>
        </p:nvSpPr>
        <p:spPr>
          <a:xfrm>
            <a:off x="137160" y="1417320"/>
            <a:ext cx="1371600" cy="36576"/>
          </a:xfrm>
          <a:prstGeom prst="rect">
            <a:avLst/>
          </a:prstGeom>
          <a:solidFill>
            <a:srgbClr val="6B4FE0"/>
          </a:solidFill>
          <a:ln/>
        </p:spPr>
        <p:txBody>
          <a:bodyPr/>
          <a:lstStyle/>
          <a:p>
            <a:endParaRPr lang="fr-FR" sz="14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E74B43-CB37-9C4C-80EF-CEE9E40F6F25}"/>
              </a:ext>
            </a:extLst>
          </p:cNvPr>
          <p:cNvSpPr/>
          <p:nvPr/>
        </p:nvSpPr>
        <p:spPr>
          <a:xfrm>
            <a:off x="13716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fr-FR" sz="1100" noProof="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C9A4E89-BD4D-C561-3408-21B8188CE22A}"/>
              </a:ext>
            </a:extLst>
          </p:cNvPr>
          <p:cNvSpPr/>
          <p:nvPr/>
        </p:nvSpPr>
        <p:spPr>
          <a:xfrm>
            <a:off x="109728" y="2011680"/>
            <a:ext cx="1846210" cy="822960"/>
          </a:xfrm>
          <a:prstGeom prst="rect">
            <a:avLst/>
          </a:prstGeom>
          <a:solidFill>
            <a:srgbClr val="1414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DD335EB-4B49-5C4B-8146-E27F872216D9}"/>
              </a:ext>
            </a:extLst>
          </p:cNvPr>
          <p:cNvSpPr/>
          <p:nvPr/>
        </p:nvSpPr>
        <p:spPr>
          <a:xfrm>
            <a:off x="109728" y="2011680"/>
            <a:ext cx="54864" cy="822960"/>
          </a:xfrm>
          <a:prstGeom prst="rect">
            <a:avLst/>
          </a:prstGeom>
          <a:solidFill>
            <a:srgbClr val="6B4FE0"/>
          </a:solidFill>
          <a:ln/>
        </p:spPr>
        <p:txBody>
          <a:bodyPr/>
          <a:lstStyle/>
          <a:p>
            <a:endParaRPr lang="fr-FR" sz="14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E240FBB-0BDF-2D38-69CA-BFAB32443FDA}"/>
              </a:ext>
            </a:extLst>
          </p:cNvPr>
          <p:cNvSpPr/>
          <p:nvPr/>
        </p:nvSpPr>
        <p:spPr>
          <a:xfrm>
            <a:off x="2286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Biologie</a:t>
            </a:r>
            <a:endParaRPr lang="fr-FR" sz="1400" noProof="0" dirty="0"/>
          </a:p>
          <a:p>
            <a:pPr marL="0" indent="0" algn="l">
              <a:buNone/>
            </a:pPr>
            <a:r>
              <a:rPr lang="fr-FR" sz="1400" noProof="0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moléculaire</a:t>
            </a:r>
            <a:endParaRPr lang="fr-FR" sz="1400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08B97FF-68AC-E6F5-45EB-79B99DF876CA}"/>
              </a:ext>
            </a:extLst>
          </p:cNvPr>
          <p:cNvSpPr/>
          <p:nvPr/>
        </p:nvSpPr>
        <p:spPr>
          <a:xfrm>
            <a:off x="109728" y="2971800"/>
            <a:ext cx="1828800" cy="822960"/>
          </a:xfrm>
          <a:prstGeom prst="rect">
            <a:avLst/>
          </a:prstGeom>
          <a:solidFill>
            <a:srgbClr val="1414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2D32791-C682-2564-C355-87DDC28DB607}"/>
              </a:ext>
            </a:extLst>
          </p:cNvPr>
          <p:cNvSpPr/>
          <p:nvPr/>
        </p:nvSpPr>
        <p:spPr>
          <a:xfrm>
            <a:off x="109728" y="2971800"/>
            <a:ext cx="54864" cy="82296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sz="14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B08AA2F-6C40-3498-703A-6DDB7DC547F5}"/>
              </a:ext>
            </a:extLst>
          </p:cNvPr>
          <p:cNvSpPr/>
          <p:nvPr/>
        </p:nvSpPr>
        <p:spPr>
          <a:xfrm>
            <a:off x="228600" y="3063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Biochimie</a:t>
            </a:r>
            <a:endParaRPr lang="fr-FR" sz="1400" noProof="0" dirty="0"/>
          </a:p>
          <a:p>
            <a:pPr marL="0" indent="0" algn="l">
              <a:buNone/>
            </a:pPr>
            <a:r>
              <a:rPr lang="fr-FR" sz="1400" noProof="0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Protéines</a:t>
            </a:r>
            <a:endParaRPr lang="fr-FR" sz="1400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187363-66F6-06EE-7E0D-20459F17DE46}"/>
              </a:ext>
            </a:extLst>
          </p:cNvPr>
          <p:cNvSpPr/>
          <p:nvPr/>
        </p:nvSpPr>
        <p:spPr>
          <a:xfrm>
            <a:off x="109728" y="3931920"/>
            <a:ext cx="1828800" cy="822960"/>
          </a:xfrm>
          <a:prstGeom prst="rect">
            <a:avLst/>
          </a:prstGeom>
          <a:solidFill>
            <a:srgbClr val="1414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02D5C33-8687-B9FE-9622-ECA8AAEC85D8}"/>
              </a:ext>
            </a:extLst>
          </p:cNvPr>
          <p:cNvSpPr/>
          <p:nvPr/>
        </p:nvSpPr>
        <p:spPr>
          <a:xfrm>
            <a:off x="109728" y="3931920"/>
            <a:ext cx="54864" cy="822960"/>
          </a:xfrm>
          <a:prstGeom prst="rect">
            <a:avLst/>
          </a:prstGeom>
          <a:solidFill>
            <a:srgbClr val="E07040"/>
          </a:solidFill>
          <a:ln/>
        </p:spPr>
        <p:txBody>
          <a:bodyPr/>
          <a:lstStyle/>
          <a:p>
            <a:endParaRPr lang="fr-FR" sz="1400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B4725F8-C742-1603-A178-BA5CF868B955}"/>
              </a:ext>
            </a:extLst>
          </p:cNvPr>
          <p:cNvSpPr/>
          <p:nvPr/>
        </p:nvSpPr>
        <p:spPr>
          <a:xfrm>
            <a:off x="228600" y="4023360"/>
            <a:ext cx="1764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Informatique</a:t>
            </a:r>
            <a:endParaRPr lang="fr-FR" sz="1400" noProof="0" dirty="0"/>
          </a:p>
          <a:p>
            <a:pPr marL="0" indent="0" algn="l">
              <a:buNone/>
            </a:pPr>
            <a:r>
              <a:rPr lang="fr-FR" sz="1400" noProof="0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Données</a:t>
            </a:r>
            <a:endParaRPr lang="fr-FR" sz="1400" noProof="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5EF45C1-0AEE-99CE-68C7-CAFC5DC65817}"/>
              </a:ext>
            </a:extLst>
          </p:cNvPr>
          <p:cNvSpPr/>
          <p:nvPr/>
        </p:nvSpPr>
        <p:spPr>
          <a:xfrm>
            <a:off x="2144480" y="2587752"/>
            <a:ext cx="6862357" cy="182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04838EA-A96C-2ADC-067E-2CE2A8AB0C33}"/>
              </a:ext>
            </a:extLst>
          </p:cNvPr>
          <p:cNvSpPr/>
          <p:nvPr/>
        </p:nvSpPr>
        <p:spPr>
          <a:xfrm>
            <a:off x="2784561" y="1005840"/>
            <a:ext cx="0" cy="1554480"/>
          </a:xfrm>
          <a:prstGeom prst="line">
            <a:avLst/>
          </a:prstGeom>
          <a:noFill/>
          <a:ln w="12700">
            <a:solidFill>
              <a:srgbClr val="6B4FE0"/>
            </a:solidFill>
            <a:prstDash val="sys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6D1619A-F60C-0860-6F40-1DBDD8C2F9ED}"/>
              </a:ext>
            </a:extLst>
          </p:cNvPr>
          <p:cNvSpPr/>
          <p:nvPr/>
        </p:nvSpPr>
        <p:spPr>
          <a:xfrm>
            <a:off x="2665689" y="2514600"/>
            <a:ext cx="237744" cy="237744"/>
          </a:xfrm>
          <a:prstGeom prst="ellipse">
            <a:avLst/>
          </a:prstGeom>
          <a:solidFill>
            <a:srgbClr val="6B4F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6EDCA24-E9A2-98F1-0315-1014D0DCD7B2}"/>
              </a:ext>
            </a:extLst>
          </p:cNvPr>
          <p:cNvSpPr/>
          <p:nvPr/>
        </p:nvSpPr>
        <p:spPr>
          <a:xfrm>
            <a:off x="2354793" y="361188"/>
            <a:ext cx="914400" cy="256032"/>
          </a:xfrm>
          <a:prstGeom prst="rect">
            <a:avLst/>
          </a:prstGeom>
          <a:solidFill>
            <a:srgbClr val="6B4FE0"/>
          </a:solidFill>
          <a:ln/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B344C7E-6595-E120-D1E3-FC4D09F5B2E2}"/>
              </a:ext>
            </a:extLst>
          </p:cNvPr>
          <p:cNvSpPr/>
          <p:nvPr/>
        </p:nvSpPr>
        <p:spPr>
          <a:xfrm>
            <a:off x="2354793" y="3611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2007-2010</a:t>
            </a:r>
            <a:endParaRPr lang="fr-FR" sz="1000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1B9CFF7-A66D-7EE6-5557-EB6A092FDC0B}"/>
              </a:ext>
            </a:extLst>
          </p:cNvPr>
          <p:cNvSpPr/>
          <p:nvPr/>
        </p:nvSpPr>
        <p:spPr>
          <a:xfrm>
            <a:off x="2144481" y="58521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Biologie</a:t>
            </a:r>
            <a:endParaRPr lang="fr-FR" sz="10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66C62B2-ED8D-6E5E-52AD-65CA901E05BE}"/>
              </a:ext>
            </a:extLst>
          </p:cNvPr>
          <p:cNvSpPr/>
          <p:nvPr/>
        </p:nvSpPr>
        <p:spPr>
          <a:xfrm>
            <a:off x="2281641" y="170836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Marseille</a:t>
            </a:r>
            <a:endParaRPr lang="fr-FR" sz="1200" b="1" noProof="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48CA47E-3984-1B4F-C284-426EAAAD4722}"/>
              </a:ext>
            </a:extLst>
          </p:cNvPr>
          <p:cNvSpPr/>
          <p:nvPr/>
        </p:nvSpPr>
        <p:spPr>
          <a:xfrm>
            <a:off x="2144481" y="2874264"/>
            <a:ext cx="1336323" cy="1816608"/>
          </a:xfrm>
          <a:prstGeom prst="rect">
            <a:avLst/>
          </a:prstGeom>
          <a:solidFill>
            <a:srgbClr val="1010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56DDC8D-D745-F88D-3702-8E7C1B7E27B0}"/>
              </a:ext>
            </a:extLst>
          </p:cNvPr>
          <p:cNvSpPr/>
          <p:nvPr/>
        </p:nvSpPr>
        <p:spPr>
          <a:xfrm>
            <a:off x="2140908" y="2880360"/>
            <a:ext cx="1375173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000" b="1" noProof="0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mécanismes moléculaires des maladies</a:t>
            </a:r>
          </a:p>
          <a:p>
            <a:pPr algn="ctr"/>
            <a:endParaRPr lang="fr-FR" sz="1000" b="1" dirty="0">
              <a:solidFill>
                <a:srgbClr val="C8C8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fr-FR" sz="1000" b="1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</a:t>
            </a:r>
            <a:r>
              <a:rPr lang="fr-FR" sz="1000" b="1" noProof="0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nouvelles pistes </a:t>
            </a:r>
            <a:r>
              <a:rPr lang="fr-FR" sz="1000" b="1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thérapeutiques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B8B8EA7-A679-286B-2926-5F34D9EF21A4}"/>
              </a:ext>
            </a:extLst>
          </p:cNvPr>
          <p:cNvSpPr/>
          <p:nvPr/>
        </p:nvSpPr>
        <p:spPr>
          <a:xfrm>
            <a:off x="3668469" y="170836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Grenoble</a:t>
            </a:r>
            <a:endParaRPr lang="fr-FR" sz="1200" b="1" noProof="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1CF11B7-FA59-AC76-5057-5E50CFD36D49}"/>
              </a:ext>
            </a:extLst>
          </p:cNvPr>
          <p:cNvSpPr/>
          <p:nvPr/>
        </p:nvSpPr>
        <p:spPr>
          <a:xfrm>
            <a:off x="3531309" y="2874264"/>
            <a:ext cx="1319149" cy="1816608"/>
          </a:xfrm>
          <a:prstGeom prst="rect">
            <a:avLst/>
          </a:prstGeom>
          <a:solidFill>
            <a:srgbClr val="1010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8C06F29-F156-FB75-C9C2-1211109EEBFB}"/>
              </a:ext>
            </a:extLst>
          </p:cNvPr>
          <p:cNvSpPr/>
          <p:nvPr/>
        </p:nvSpPr>
        <p:spPr>
          <a:xfrm>
            <a:off x="4888540" y="2797194"/>
            <a:ext cx="1411660" cy="97535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4EF6A2A-1F04-433E-D737-2E7EAB88C22B}"/>
              </a:ext>
            </a:extLst>
          </p:cNvPr>
          <p:cNvSpPr/>
          <p:nvPr/>
        </p:nvSpPr>
        <p:spPr>
          <a:xfrm>
            <a:off x="3482548" y="2880360"/>
            <a:ext cx="135911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indent="0" algn="ctr">
              <a:buNone/>
            </a:pPr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fr-FR" sz="1000" b="1" dirty="0">
                <a:solidFill>
                  <a:srgbClr val="C8C8E8"/>
                </a:solidFill>
                <a:latin typeface="Calibri" pitchFamily="34" charset="0"/>
                <a:cs typeface="Calibri" pitchFamily="34" charset="-120"/>
              </a:rPr>
              <a:t>Formation aux techniques  expérimentales en laboratoire </a:t>
            </a:r>
          </a:p>
          <a:p>
            <a:pPr algn="ctr"/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fr-FR" sz="1000" b="1" dirty="0">
                <a:solidFill>
                  <a:srgbClr val="C8C8E8"/>
                </a:solidFill>
                <a:latin typeface="Calibri" pitchFamily="34" charset="0"/>
                <a:cs typeface="Calibri" pitchFamily="34" charset="-120"/>
              </a:rPr>
              <a:t>Spécialisation dans les techniques d’études de protéine </a:t>
            </a:r>
          </a:p>
          <a:p>
            <a:pPr indent="0" algn="ctr">
              <a:buNone/>
            </a:pPr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indent="0" algn="ctr">
              <a:buNone/>
            </a:pPr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9230FB9-14F2-05EF-5B4F-1380996CF3A9}"/>
              </a:ext>
            </a:extLst>
          </p:cNvPr>
          <p:cNvSpPr/>
          <p:nvPr/>
        </p:nvSpPr>
        <p:spPr>
          <a:xfrm>
            <a:off x="4987395" y="170836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Marseille</a:t>
            </a:r>
            <a:endParaRPr lang="fr-FR" sz="1200" b="1" noProof="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FCE3A5B-39D0-451C-B850-EFDB74435319}"/>
              </a:ext>
            </a:extLst>
          </p:cNvPr>
          <p:cNvSpPr/>
          <p:nvPr/>
        </p:nvSpPr>
        <p:spPr>
          <a:xfrm>
            <a:off x="4928600" y="2880360"/>
            <a:ext cx="1325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fr-FR" sz="900" noProof="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6C9856A-4FF4-D054-2B77-DD46661459C1}"/>
              </a:ext>
            </a:extLst>
          </p:cNvPr>
          <p:cNvSpPr/>
          <p:nvPr/>
        </p:nvSpPr>
        <p:spPr>
          <a:xfrm>
            <a:off x="7840142" y="168118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 </a:t>
            </a:r>
            <a:endParaRPr lang="fr-FR" sz="1200" b="1" noProof="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F2D90208-345F-E455-40A9-7DDBD57BBFB1}"/>
              </a:ext>
            </a:extLst>
          </p:cNvPr>
          <p:cNvSpPr/>
          <p:nvPr/>
        </p:nvSpPr>
        <p:spPr>
          <a:xfrm>
            <a:off x="2140908" y="4770555"/>
            <a:ext cx="6907276" cy="320040"/>
          </a:xfrm>
          <a:prstGeom prst="rect">
            <a:avLst/>
          </a:prstGeom>
          <a:solidFill>
            <a:srgbClr val="18183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BA767FB8-A9F6-6739-7C53-26A12451820D}"/>
              </a:ext>
            </a:extLst>
          </p:cNvPr>
          <p:cNvSpPr/>
          <p:nvPr/>
        </p:nvSpPr>
        <p:spPr>
          <a:xfrm>
            <a:off x="2140908" y="4770555"/>
            <a:ext cx="81916" cy="320040"/>
          </a:xfrm>
          <a:prstGeom prst="rect">
            <a:avLst/>
          </a:prstGeom>
          <a:solidFill>
            <a:srgbClr val="6B4FE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92E08AC2-C237-7B91-9211-711153C0F326}"/>
              </a:ext>
            </a:extLst>
          </p:cNvPr>
          <p:cNvSpPr/>
          <p:nvPr/>
        </p:nvSpPr>
        <p:spPr>
          <a:xfrm>
            <a:off x="2363585" y="4770555"/>
            <a:ext cx="66520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000" i="1" dirty="0">
                <a:solidFill>
                  <a:srgbClr val="9B7FFF"/>
                </a:solidFill>
                <a:latin typeface="Calibri" pitchFamily="34" charset="0"/>
                <a:cs typeface="Calibri" pitchFamily="34" charset="-120"/>
              </a:rPr>
              <a:t> De la compréhension des mécanismes moléculaires à l’exploitation des données biologiques</a:t>
            </a:r>
            <a:endParaRPr lang="fr-FR" sz="1000" noProof="0" dirty="0"/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D17C157F-8E24-0848-E657-46CFC32959FA}"/>
              </a:ext>
            </a:extLst>
          </p:cNvPr>
          <p:cNvSpPr/>
          <p:nvPr/>
        </p:nvSpPr>
        <p:spPr>
          <a:xfrm>
            <a:off x="4882880" y="2880360"/>
            <a:ext cx="1417320" cy="1810512"/>
          </a:xfrm>
          <a:prstGeom prst="rect">
            <a:avLst/>
          </a:prstGeom>
          <a:solidFill>
            <a:srgbClr val="1010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algn="ctr"/>
            <a:endParaRPr lang="fr-FR" noProof="0" dirty="0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8FBF9613-34A6-9EED-CCF2-CD7B2B9D23E3}"/>
              </a:ext>
            </a:extLst>
          </p:cNvPr>
          <p:cNvSpPr/>
          <p:nvPr/>
        </p:nvSpPr>
        <p:spPr>
          <a:xfrm>
            <a:off x="6356248" y="2882646"/>
            <a:ext cx="1313930" cy="1805940"/>
          </a:xfrm>
          <a:prstGeom prst="rect">
            <a:avLst/>
          </a:prstGeom>
          <a:solidFill>
            <a:srgbClr val="1010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72B9D581-84F6-E983-8996-8B6B58BB3EA1}"/>
              </a:ext>
            </a:extLst>
          </p:cNvPr>
          <p:cNvSpPr/>
          <p:nvPr/>
        </p:nvSpPr>
        <p:spPr>
          <a:xfrm>
            <a:off x="3708101" y="366849"/>
            <a:ext cx="914400" cy="256032"/>
          </a:xfrm>
          <a:prstGeom prst="rect">
            <a:avLst/>
          </a:prstGeom>
          <a:solidFill>
            <a:srgbClr val="6B4FE0"/>
          </a:solidFill>
          <a:ln/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91D42FDC-BC90-BC12-ABF3-13FE1445B995}"/>
              </a:ext>
            </a:extLst>
          </p:cNvPr>
          <p:cNvSpPr/>
          <p:nvPr/>
        </p:nvSpPr>
        <p:spPr>
          <a:xfrm>
            <a:off x="3708101" y="36684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2010-2012</a:t>
            </a:r>
            <a:endParaRPr lang="fr-FR" sz="1000" noProof="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6632158D-2A25-140A-2835-D8F403B93A7E}"/>
              </a:ext>
            </a:extLst>
          </p:cNvPr>
          <p:cNvSpPr/>
          <p:nvPr/>
        </p:nvSpPr>
        <p:spPr>
          <a:xfrm>
            <a:off x="3410264" y="598279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fr-FR" sz="1000" b="1" noProof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 Pro</a:t>
            </a:r>
            <a:endParaRPr lang="fr-FR" sz="1000" noProof="0" dirty="0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223A9839-F88E-BF21-0E96-61D2B737BFC1}"/>
              </a:ext>
            </a:extLst>
          </p:cNvPr>
          <p:cNvSpPr/>
          <p:nvPr/>
        </p:nvSpPr>
        <p:spPr>
          <a:xfrm>
            <a:off x="4189464" y="960120"/>
            <a:ext cx="0" cy="1554480"/>
          </a:xfrm>
          <a:prstGeom prst="line">
            <a:avLst/>
          </a:prstGeom>
          <a:noFill/>
          <a:ln w="12700">
            <a:solidFill>
              <a:srgbClr val="6B4FE0"/>
            </a:solidFill>
            <a:prstDash val="sys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47C32CE8-F204-35D8-0A16-5A13EC37D805}"/>
              </a:ext>
            </a:extLst>
          </p:cNvPr>
          <p:cNvSpPr/>
          <p:nvPr/>
        </p:nvSpPr>
        <p:spPr>
          <a:xfrm>
            <a:off x="4061663" y="2487168"/>
            <a:ext cx="237744" cy="237744"/>
          </a:xfrm>
          <a:prstGeom prst="ellipse">
            <a:avLst/>
          </a:prstGeom>
          <a:solidFill>
            <a:srgbClr val="6B4F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4D077A33-DCB2-C3E5-FBA2-C076E8B82C83}"/>
              </a:ext>
            </a:extLst>
          </p:cNvPr>
          <p:cNvSpPr/>
          <p:nvPr/>
        </p:nvSpPr>
        <p:spPr>
          <a:xfrm>
            <a:off x="3524578" y="2801984"/>
            <a:ext cx="1325880" cy="92745"/>
          </a:xfrm>
          <a:prstGeom prst="rect">
            <a:avLst/>
          </a:prstGeom>
          <a:solidFill>
            <a:srgbClr val="6B4FE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34F6B0C2-79BE-DFBA-9383-CB9FED38F84E}"/>
              </a:ext>
            </a:extLst>
          </p:cNvPr>
          <p:cNvSpPr/>
          <p:nvPr/>
        </p:nvSpPr>
        <p:spPr>
          <a:xfrm>
            <a:off x="5516203" y="984069"/>
            <a:ext cx="0" cy="1554480"/>
          </a:xfrm>
          <a:prstGeom prst="line">
            <a:avLst/>
          </a:prstGeom>
          <a:noFill/>
          <a:ln w="12700">
            <a:solidFill>
              <a:srgbClr val="00C9B1"/>
            </a:solidFill>
            <a:prstDash val="sysDash"/>
          </a:ln>
        </p:spPr>
        <p:txBody>
          <a:bodyPr/>
          <a:lstStyle/>
          <a:p>
            <a:endParaRPr lang="fr-FR" dirty="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E4D8669C-F34B-485E-8913-75C344FE3C49}"/>
              </a:ext>
            </a:extLst>
          </p:cNvPr>
          <p:cNvSpPr/>
          <p:nvPr/>
        </p:nvSpPr>
        <p:spPr>
          <a:xfrm>
            <a:off x="5423563" y="2468880"/>
            <a:ext cx="237744" cy="237744"/>
          </a:xfrm>
          <a:prstGeom prst="ellipse">
            <a:avLst/>
          </a:prstGeom>
          <a:solidFill>
            <a:srgbClr val="00C9B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6" name="Shape 26">
            <a:extLst>
              <a:ext uri="{FF2B5EF4-FFF2-40B4-BE49-F238E27FC236}">
                <a16:creationId xmlns:a16="http://schemas.microsoft.com/office/drawing/2014/main" id="{EB60AFAE-30CE-C43E-E3C1-54FDC0D82039}"/>
              </a:ext>
            </a:extLst>
          </p:cNvPr>
          <p:cNvSpPr/>
          <p:nvPr/>
        </p:nvSpPr>
        <p:spPr>
          <a:xfrm>
            <a:off x="5049444" y="352044"/>
            <a:ext cx="914400" cy="25603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A41C07A4-0EDE-DC7E-CCF4-B2B432C967DE}"/>
              </a:ext>
            </a:extLst>
          </p:cNvPr>
          <p:cNvSpPr/>
          <p:nvPr/>
        </p:nvSpPr>
        <p:spPr>
          <a:xfrm>
            <a:off x="5030505" y="3611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2012-2017</a:t>
            </a:r>
            <a:endParaRPr lang="fr-FR" sz="1000" dirty="0"/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FDFDAE59-E141-E6EB-3B48-A7EA31F6C2D9}"/>
              </a:ext>
            </a:extLst>
          </p:cNvPr>
          <p:cNvSpPr/>
          <p:nvPr/>
        </p:nvSpPr>
        <p:spPr>
          <a:xfrm>
            <a:off x="4815166" y="89854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0C9B1"/>
                </a:solidFill>
                <a:latin typeface="Arial" pitchFamily="34" charset="0"/>
                <a:cs typeface="Arial" pitchFamily="34" charset="-120"/>
              </a:rPr>
              <a:t>Expérience professionnelle : </a:t>
            </a:r>
          </a:p>
          <a:p>
            <a:pPr marL="0" indent="0" algn="ctr">
              <a:buNone/>
            </a:pPr>
            <a:endParaRPr lang="fr-FR" sz="1000" b="1" dirty="0">
              <a:solidFill>
                <a:srgbClr val="00C9B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endParaRPr lang="fr-FR" sz="1000" b="1" dirty="0">
              <a:solidFill>
                <a:srgbClr val="00C9B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fr-FR" sz="1000" b="1" dirty="0">
                <a:solidFill>
                  <a:srgbClr val="00C9B1"/>
                </a:solidFill>
                <a:latin typeface="Arial" pitchFamily="34" charset="0"/>
                <a:cs typeface="Arial" pitchFamily="34" charset="-120"/>
              </a:rPr>
              <a:t>C</a:t>
            </a:r>
            <a:r>
              <a:rPr lang="fr-FR" sz="1000" b="1" noProof="0" dirty="0" err="1">
                <a:solidFill>
                  <a:srgbClr val="00C9B1"/>
                </a:solidFill>
                <a:latin typeface="Arial" pitchFamily="34" charset="0"/>
                <a:cs typeface="Arial" pitchFamily="34" charset="-120"/>
              </a:rPr>
              <a:t>oncrétisation</a:t>
            </a:r>
            <a:r>
              <a:rPr lang="fr-FR" sz="1000" b="1" noProof="0" dirty="0">
                <a:solidFill>
                  <a:srgbClr val="00C9B1"/>
                </a:solidFill>
                <a:latin typeface="Arial" pitchFamily="34" charset="0"/>
                <a:cs typeface="Arial" pitchFamily="34" charset="-120"/>
              </a:rPr>
              <a:t> du parcours</a:t>
            </a:r>
            <a:endParaRPr lang="fr-FR" sz="1000" noProof="0" dirty="0"/>
          </a:p>
        </p:txBody>
      </p:sp>
      <p:sp>
        <p:nvSpPr>
          <p:cNvPr id="70" name="Shape 40">
            <a:extLst>
              <a:ext uri="{FF2B5EF4-FFF2-40B4-BE49-F238E27FC236}">
                <a16:creationId xmlns:a16="http://schemas.microsoft.com/office/drawing/2014/main" id="{FF8346DB-CE2B-4B09-16E2-4A9BD8813910}"/>
              </a:ext>
            </a:extLst>
          </p:cNvPr>
          <p:cNvSpPr/>
          <p:nvPr/>
        </p:nvSpPr>
        <p:spPr>
          <a:xfrm>
            <a:off x="7735344" y="2778199"/>
            <a:ext cx="1312840" cy="97534"/>
          </a:xfrm>
          <a:prstGeom prst="rect">
            <a:avLst/>
          </a:prstGeom>
          <a:solidFill>
            <a:srgbClr val="E0904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1" name="Shape 22">
            <a:extLst>
              <a:ext uri="{FF2B5EF4-FFF2-40B4-BE49-F238E27FC236}">
                <a16:creationId xmlns:a16="http://schemas.microsoft.com/office/drawing/2014/main" id="{9FDF15B8-E94C-87B3-54B4-32695D923446}"/>
              </a:ext>
            </a:extLst>
          </p:cNvPr>
          <p:cNvSpPr/>
          <p:nvPr/>
        </p:nvSpPr>
        <p:spPr>
          <a:xfrm>
            <a:off x="2145383" y="2797194"/>
            <a:ext cx="1325880" cy="92745"/>
          </a:xfrm>
          <a:prstGeom prst="rect">
            <a:avLst/>
          </a:prstGeom>
          <a:solidFill>
            <a:srgbClr val="6B4FE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3" name="Text 32">
            <a:extLst>
              <a:ext uri="{FF2B5EF4-FFF2-40B4-BE49-F238E27FC236}">
                <a16:creationId xmlns:a16="http://schemas.microsoft.com/office/drawing/2014/main" id="{F4BA8BE2-A766-9B24-5C72-EC1687353AA5}"/>
              </a:ext>
            </a:extLst>
          </p:cNvPr>
          <p:cNvSpPr/>
          <p:nvPr/>
        </p:nvSpPr>
        <p:spPr>
          <a:xfrm>
            <a:off x="4845239" y="2887545"/>
            <a:ext cx="149459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fr-FR" sz="1000" b="1" dirty="0">
                <a:solidFill>
                  <a:srgbClr val="C8C8E8"/>
                </a:solidFill>
                <a:latin typeface="Calibri" pitchFamily="34" charset="0"/>
                <a:cs typeface="Calibri" pitchFamily="34" charset="-120"/>
              </a:rPr>
              <a:t>Recherche appliquée sur les maladies neurodégénératives</a:t>
            </a:r>
          </a:p>
          <a:p>
            <a:pPr algn="ctr"/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fr-FR" sz="1000" b="1" dirty="0">
                <a:solidFill>
                  <a:srgbClr val="C8C8E8"/>
                </a:solidFill>
                <a:latin typeface="Calibri" pitchFamily="34" charset="0"/>
                <a:cs typeface="Calibri" pitchFamily="34" charset="-120"/>
              </a:rPr>
              <a:t>Mise en pratique des approches expérimentales en laboratoire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indent="0" algn="ctr">
              <a:buNone/>
            </a:pPr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78" name="Text 37">
            <a:extLst>
              <a:ext uri="{FF2B5EF4-FFF2-40B4-BE49-F238E27FC236}">
                <a16:creationId xmlns:a16="http://schemas.microsoft.com/office/drawing/2014/main" id="{58FF9108-1932-49A6-FEF0-77205D26A2DF}"/>
              </a:ext>
            </a:extLst>
          </p:cNvPr>
          <p:cNvSpPr/>
          <p:nvPr/>
        </p:nvSpPr>
        <p:spPr>
          <a:xfrm>
            <a:off x="7649986" y="57607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E09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Informatique</a:t>
            </a:r>
            <a:endParaRPr lang="fr-FR" sz="1000" dirty="0"/>
          </a:p>
        </p:txBody>
      </p:sp>
      <p:sp>
        <p:nvSpPr>
          <p:cNvPr id="81" name="Shape 31">
            <a:extLst>
              <a:ext uri="{FF2B5EF4-FFF2-40B4-BE49-F238E27FC236}">
                <a16:creationId xmlns:a16="http://schemas.microsoft.com/office/drawing/2014/main" id="{6E8EAF7E-DCE5-5FBC-AACD-0A0C1B0905D9}"/>
              </a:ext>
            </a:extLst>
          </p:cNvPr>
          <p:cNvSpPr/>
          <p:nvPr/>
        </p:nvSpPr>
        <p:spPr>
          <a:xfrm>
            <a:off x="6354694" y="2784132"/>
            <a:ext cx="1325880" cy="9851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FDC07B57-1989-E322-F9B8-57E553FA8047}"/>
              </a:ext>
            </a:extLst>
          </p:cNvPr>
          <p:cNvSpPr/>
          <p:nvPr/>
        </p:nvSpPr>
        <p:spPr>
          <a:xfrm>
            <a:off x="6974737" y="971007"/>
            <a:ext cx="0" cy="1554480"/>
          </a:xfrm>
          <a:prstGeom prst="line">
            <a:avLst/>
          </a:prstGeom>
          <a:noFill/>
          <a:ln w="12700">
            <a:solidFill>
              <a:srgbClr val="00C9B1"/>
            </a:solidFill>
            <a:prstDash val="sysDash"/>
          </a:ln>
        </p:spPr>
        <p:txBody>
          <a:bodyPr/>
          <a:lstStyle/>
          <a:p>
            <a:endParaRPr lang="fr-FR" dirty="0"/>
          </a:p>
        </p:txBody>
      </p:sp>
      <p:sp>
        <p:nvSpPr>
          <p:cNvPr id="84" name="Shape 25">
            <a:extLst>
              <a:ext uri="{FF2B5EF4-FFF2-40B4-BE49-F238E27FC236}">
                <a16:creationId xmlns:a16="http://schemas.microsoft.com/office/drawing/2014/main" id="{2111A843-049A-1282-9462-2EBC5EB1EE7B}"/>
              </a:ext>
            </a:extLst>
          </p:cNvPr>
          <p:cNvSpPr/>
          <p:nvPr/>
        </p:nvSpPr>
        <p:spPr>
          <a:xfrm>
            <a:off x="6882097" y="2455818"/>
            <a:ext cx="237744" cy="237744"/>
          </a:xfrm>
          <a:prstGeom prst="ellipse">
            <a:avLst/>
          </a:prstGeom>
          <a:solidFill>
            <a:srgbClr val="00C9B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6AD1A3AF-FDC8-1AD2-D948-6FC0E84E8C03}"/>
              </a:ext>
            </a:extLst>
          </p:cNvPr>
          <p:cNvSpPr/>
          <p:nvPr/>
        </p:nvSpPr>
        <p:spPr>
          <a:xfrm>
            <a:off x="6507978" y="338982"/>
            <a:ext cx="914400" cy="25603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E36764A8-1A71-E080-E45D-0E3D7D297291}"/>
              </a:ext>
            </a:extLst>
          </p:cNvPr>
          <p:cNvSpPr/>
          <p:nvPr/>
        </p:nvSpPr>
        <p:spPr>
          <a:xfrm>
            <a:off x="6489039" y="34812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2021-2023</a:t>
            </a:r>
            <a:endParaRPr lang="fr-FR" sz="1000" dirty="0"/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B9BE92C3-46F4-52DC-E4B4-76CAD879CCA3}"/>
              </a:ext>
            </a:extLst>
          </p:cNvPr>
          <p:cNvSpPr/>
          <p:nvPr/>
        </p:nvSpPr>
        <p:spPr>
          <a:xfrm>
            <a:off x="6304015" y="59262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00C9B1"/>
                </a:solidFill>
                <a:latin typeface="Arial" pitchFamily="34" charset="0"/>
                <a:cs typeface="Arial" pitchFamily="34" charset="-120"/>
              </a:rPr>
              <a:t>Master Recherche</a:t>
            </a:r>
            <a:endParaRPr lang="fr-FR" sz="1000" b="1" noProof="0" dirty="0">
              <a:solidFill>
                <a:srgbClr val="00C9B1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03F3AA68-0897-A2EA-50CD-4EB6D9DD1123}"/>
              </a:ext>
            </a:extLst>
          </p:cNvPr>
          <p:cNvSpPr/>
          <p:nvPr/>
        </p:nvSpPr>
        <p:spPr>
          <a:xfrm>
            <a:off x="7734254" y="2874264"/>
            <a:ext cx="1313930" cy="1805940"/>
          </a:xfrm>
          <a:prstGeom prst="rect">
            <a:avLst/>
          </a:prstGeom>
          <a:solidFill>
            <a:srgbClr val="1010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9" name="Signe de multiplication 88">
            <a:extLst>
              <a:ext uri="{FF2B5EF4-FFF2-40B4-BE49-F238E27FC236}">
                <a16:creationId xmlns:a16="http://schemas.microsoft.com/office/drawing/2014/main" id="{BC5E35B1-C679-48D8-BB79-0DF3C303E3E6}"/>
              </a:ext>
            </a:extLst>
          </p:cNvPr>
          <p:cNvSpPr/>
          <p:nvPr/>
        </p:nvSpPr>
        <p:spPr>
          <a:xfrm>
            <a:off x="6131268" y="2420819"/>
            <a:ext cx="347589" cy="32238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Shape 33">
            <a:extLst>
              <a:ext uri="{FF2B5EF4-FFF2-40B4-BE49-F238E27FC236}">
                <a16:creationId xmlns:a16="http://schemas.microsoft.com/office/drawing/2014/main" id="{B7D52606-7DBC-DC84-B3BD-09DD4E7F1953}"/>
              </a:ext>
            </a:extLst>
          </p:cNvPr>
          <p:cNvSpPr/>
          <p:nvPr/>
        </p:nvSpPr>
        <p:spPr>
          <a:xfrm>
            <a:off x="8388782" y="959768"/>
            <a:ext cx="0" cy="1554480"/>
          </a:xfrm>
          <a:prstGeom prst="line">
            <a:avLst/>
          </a:prstGeom>
          <a:noFill/>
          <a:ln w="12700">
            <a:solidFill>
              <a:srgbClr val="E09040"/>
            </a:solidFill>
            <a:prstDash val="sysDash"/>
          </a:ln>
        </p:spPr>
        <p:txBody>
          <a:bodyPr/>
          <a:lstStyle/>
          <a:p>
            <a:endParaRPr lang="fr-FR" dirty="0"/>
          </a:p>
        </p:txBody>
      </p:sp>
      <p:sp>
        <p:nvSpPr>
          <p:cNvPr id="91" name="Shape 34">
            <a:extLst>
              <a:ext uri="{FF2B5EF4-FFF2-40B4-BE49-F238E27FC236}">
                <a16:creationId xmlns:a16="http://schemas.microsoft.com/office/drawing/2014/main" id="{B8CD46AA-518E-384F-C722-BFE9A47FD40B}"/>
              </a:ext>
            </a:extLst>
          </p:cNvPr>
          <p:cNvSpPr/>
          <p:nvPr/>
        </p:nvSpPr>
        <p:spPr>
          <a:xfrm>
            <a:off x="8273911" y="2462784"/>
            <a:ext cx="237744" cy="237744"/>
          </a:xfrm>
          <a:prstGeom prst="ellipse">
            <a:avLst/>
          </a:prstGeom>
          <a:solidFill>
            <a:srgbClr val="E0904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2" name="Shape 35">
            <a:extLst>
              <a:ext uri="{FF2B5EF4-FFF2-40B4-BE49-F238E27FC236}">
                <a16:creationId xmlns:a16="http://schemas.microsoft.com/office/drawing/2014/main" id="{03F48978-25DA-130F-986B-097F8D5E197A}"/>
              </a:ext>
            </a:extLst>
          </p:cNvPr>
          <p:cNvSpPr/>
          <p:nvPr/>
        </p:nvSpPr>
        <p:spPr>
          <a:xfrm>
            <a:off x="7920373" y="332613"/>
            <a:ext cx="914400" cy="256032"/>
          </a:xfrm>
          <a:prstGeom prst="rect">
            <a:avLst/>
          </a:prstGeom>
          <a:solidFill>
            <a:srgbClr val="E09040"/>
          </a:solidFill>
          <a:ln/>
        </p:spPr>
        <p:txBody>
          <a:bodyPr/>
          <a:lstStyle/>
          <a:p>
            <a:endParaRPr lang="fr-FR" sz="1000" dirty="0"/>
          </a:p>
        </p:txBody>
      </p:sp>
      <p:sp>
        <p:nvSpPr>
          <p:cNvPr id="93" name="Text 36">
            <a:extLst>
              <a:ext uri="{FF2B5EF4-FFF2-40B4-BE49-F238E27FC236}">
                <a16:creationId xmlns:a16="http://schemas.microsoft.com/office/drawing/2014/main" id="{D28EEC70-3E94-8B63-1600-DD7B18B7FEEC}"/>
              </a:ext>
            </a:extLst>
          </p:cNvPr>
          <p:cNvSpPr/>
          <p:nvPr/>
        </p:nvSpPr>
        <p:spPr>
          <a:xfrm>
            <a:off x="7920373" y="332613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2023-2026</a:t>
            </a:r>
            <a:endParaRPr lang="fr-FR" sz="1000" dirty="0"/>
          </a:p>
        </p:txBody>
      </p:sp>
      <p:sp>
        <p:nvSpPr>
          <p:cNvPr id="96" name="Text 47">
            <a:extLst>
              <a:ext uri="{FF2B5EF4-FFF2-40B4-BE49-F238E27FC236}">
                <a16:creationId xmlns:a16="http://schemas.microsoft.com/office/drawing/2014/main" id="{112DA318-0E9A-85DB-83CB-FF7BA8019D16}"/>
              </a:ext>
            </a:extLst>
          </p:cNvPr>
          <p:cNvSpPr/>
          <p:nvPr/>
        </p:nvSpPr>
        <p:spPr>
          <a:xfrm>
            <a:off x="6461374" y="169225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i="1" noProof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 </a:t>
            </a:r>
            <a:endParaRPr lang="fr-FR" sz="1200" b="1" noProof="0" dirty="0"/>
          </a:p>
        </p:txBody>
      </p:sp>
      <p:sp>
        <p:nvSpPr>
          <p:cNvPr id="99" name="Text 32">
            <a:extLst>
              <a:ext uri="{FF2B5EF4-FFF2-40B4-BE49-F238E27FC236}">
                <a16:creationId xmlns:a16="http://schemas.microsoft.com/office/drawing/2014/main" id="{24D4C74E-CBF4-250A-F1D6-1694F8258B37}"/>
              </a:ext>
            </a:extLst>
          </p:cNvPr>
          <p:cNvSpPr/>
          <p:nvPr/>
        </p:nvSpPr>
        <p:spPr>
          <a:xfrm>
            <a:off x="6310528" y="2891028"/>
            <a:ext cx="135190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fr-FR" sz="1000" b="1" dirty="0">
                <a:solidFill>
                  <a:srgbClr val="C8C8E8"/>
                </a:solidFill>
                <a:latin typeface="Calibri" pitchFamily="34" charset="0"/>
                <a:cs typeface="Calibri" pitchFamily="34" charset="-120"/>
              </a:rPr>
              <a:t>Intérêt pour les protéines et les relations structure/fonction</a:t>
            </a:r>
          </a:p>
          <a:p>
            <a:pPr algn="ctr"/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fr-FR" sz="1000" b="1" dirty="0">
                <a:solidFill>
                  <a:srgbClr val="C8C8E8"/>
                </a:solidFill>
                <a:latin typeface="Calibri" pitchFamily="34" charset="0"/>
                <a:cs typeface="Calibri" pitchFamily="34" charset="-120"/>
              </a:rPr>
              <a:t>Comprendre comment la structure influence les mécanismes biologiques</a:t>
            </a:r>
          </a:p>
          <a:p>
            <a:pPr indent="0" algn="ctr">
              <a:buNone/>
            </a:pPr>
            <a:endParaRPr lang="fr-FR" sz="10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65DB58F3-DF11-9DC0-D667-B01E89386F23}"/>
              </a:ext>
            </a:extLst>
          </p:cNvPr>
          <p:cNvSpPr txBox="1"/>
          <p:nvPr/>
        </p:nvSpPr>
        <p:spPr>
          <a:xfrm rot="16200000">
            <a:off x="6847988" y="1485667"/>
            <a:ext cx="18059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b="1" dirty="0">
                <a:solidFill>
                  <a:srgbClr val="FF0000"/>
                </a:solidFill>
              </a:rPr>
              <a:t>Limites en programmation, scripts et environnements computationnels</a:t>
            </a:r>
            <a:endParaRPr lang="fr-FR" sz="700" dirty="0">
              <a:solidFill>
                <a:srgbClr val="FF0000"/>
              </a:solidFill>
            </a:endParaRPr>
          </a:p>
          <a:p>
            <a:endParaRPr lang="fr-FR" sz="700" dirty="0">
              <a:solidFill>
                <a:srgbClr val="FF0000"/>
              </a:solidFill>
            </a:endParaRPr>
          </a:p>
        </p:txBody>
      </p:sp>
      <p:sp>
        <p:nvSpPr>
          <p:cNvPr id="106" name="Text 32">
            <a:extLst>
              <a:ext uri="{FF2B5EF4-FFF2-40B4-BE49-F238E27FC236}">
                <a16:creationId xmlns:a16="http://schemas.microsoft.com/office/drawing/2014/main" id="{4D2D8923-6A7A-7E2C-ED3D-F214481EFED0}"/>
              </a:ext>
            </a:extLst>
          </p:cNvPr>
          <p:cNvSpPr/>
          <p:nvPr/>
        </p:nvSpPr>
        <p:spPr>
          <a:xfrm>
            <a:off x="7700532" y="2907792"/>
            <a:ext cx="13337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endParaRPr lang="fr-FR" sz="9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indent="0" algn="ctr">
              <a:buNone/>
            </a:pPr>
            <a:endParaRPr lang="fr-FR" sz="9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fr-FR" sz="900" b="1" dirty="0">
                <a:solidFill>
                  <a:srgbClr val="C8C8E8"/>
                </a:solidFill>
                <a:latin typeface="Calibri" pitchFamily="34" charset="0"/>
                <a:cs typeface="Calibri" pitchFamily="34" charset="-120"/>
              </a:rPr>
              <a:t>Développement applicatif, interfaces visuelles, bases de données et environnements système</a:t>
            </a:r>
          </a:p>
          <a:p>
            <a:pPr algn="ctr"/>
            <a:endParaRPr lang="fr-FR" sz="900" b="1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fr-FR" sz="900" b="1" dirty="0">
                <a:solidFill>
                  <a:srgbClr val="C8C8E8"/>
                </a:solidFill>
                <a:latin typeface="Calibri" pitchFamily="34" charset="0"/>
                <a:cs typeface="Calibri" pitchFamily="34" charset="-120"/>
              </a:rPr>
              <a:t>Franchir </a:t>
            </a:r>
            <a:r>
              <a:rPr lang="fr-FR" sz="900" b="1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limites pour aller vers les données et l'IA.</a:t>
            </a:r>
            <a:endParaRPr lang="fr-FR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900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  <a:p>
            <a:pPr indent="0" algn="ctr">
              <a:buNone/>
            </a:pPr>
            <a:endParaRPr lang="fr-FR" sz="900" dirty="0">
              <a:solidFill>
                <a:srgbClr val="C8C8E8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131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5030D40F-B8EB-114B-8D7A-56D20FE29F1C}"/>
              </a:ext>
            </a:extLst>
          </p:cNvPr>
          <p:cNvSpPr/>
          <p:nvPr/>
        </p:nvSpPr>
        <p:spPr>
          <a:xfrm>
            <a:off x="253092" y="726948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F462248-20BF-3A40-09AF-18AE97664902}"/>
              </a:ext>
            </a:extLst>
          </p:cNvPr>
          <p:cNvSpPr/>
          <p:nvPr/>
        </p:nvSpPr>
        <p:spPr>
          <a:xfrm>
            <a:off x="253092" y="726948"/>
            <a:ext cx="425196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4358627-A298-E735-2F09-E1FFAB580B23}"/>
              </a:ext>
            </a:extLst>
          </p:cNvPr>
          <p:cNvSpPr/>
          <p:nvPr/>
        </p:nvSpPr>
        <p:spPr>
          <a:xfrm>
            <a:off x="3544932" y="818388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</a:rPr>
              <a:t>photo</a:t>
            </a:r>
            <a:endParaRPr lang="en-US" sz="8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E763355-983D-F4D8-9FA2-B71D32F4E302}"/>
              </a:ext>
            </a:extLst>
          </p:cNvPr>
          <p:cNvSpPr/>
          <p:nvPr/>
        </p:nvSpPr>
        <p:spPr>
          <a:xfrm>
            <a:off x="417684" y="8183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</a:rPr>
              <a:t>Michel KHRESTCHATISKY</a:t>
            </a:r>
            <a:endParaRPr lang="en-US" sz="12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5E7380F-BAE8-D3DD-5C81-1C66C767CF68}"/>
              </a:ext>
            </a:extLst>
          </p:cNvPr>
          <p:cNvSpPr/>
          <p:nvPr/>
        </p:nvSpPr>
        <p:spPr>
          <a:xfrm>
            <a:off x="417684" y="10927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A7A"/>
                </a:solidFill>
              </a:rPr>
              <a:t>Directeur — VECT-HORUS, Hôpital Nord Marseille</a:t>
            </a:r>
            <a:endParaRPr lang="en-US" sz="85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E014257-85D2-A923-0F03-3A7F23346746}"/>
              </a:ext>
            </a:extLst>
          </p:cNvPr>
          <p:cNvSpPr/>
          <p:nvPr/>
        </p:nvSpPr>
        <p:spPr>
          <a:xfrm>
            <a:off x="417684" y="15316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📍 Poste : 2012–2017</a:t>
            </a:r>
            <a:endParaRPr lang="en-US" sz="9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65E842A-6FEB-D9C7-311A-2B8D86FFF7BA}"/>
              </a:ext>
            </a:extLst>
          </p:cNvPr>
          <p:cNvSpPr/>
          <p:nvPr/>
        </p:nvSpPr>
        <p:spPr>
          <a:xfrm>
            <a:off x="417684" y="176936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E"/>
                </a:solidFill>
              </a:rPr>
              <a:t>Apprentissage de la rigueur scientifique, analyse de données expérimentales et participation à 7 publications en recherche biomédicale.</a:t>
            </a:r>
            <a:endParaRPr lang="en-US" sz="10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1FD9FF9-3E10-B45D-E69A-863664A9295B}"/>
              </a:ext>
            </a:extLst>
          </p:cNvPr>
          <p:cNvSpPr/>
          <p:nvPr/>
        </p:nvSpPr>
        <p:spPr>
          <a:xfrm>
            <a:off x="4638948" y="726948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528F6A2-3C37-5BC0-421D-7FF3CF3DEA13}"/>
              </a:ext>
            </a:extLst>
          </p:cNvPr>
          <p:cNvSpPr/>
          <p:nvPr/>
        </p:nvSpPr>
        <p:spPr>
          <a:xfrm>
            <a:off x="4638948" y="726948"/>
            <a:ext cx="425196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61CD2EF5-0325-23BF-5F1E-70A58AD31D84}"/>
              </a:ext>
            </a:extLst>
          </p:cNvPr>
          <p:cNvSpPr/>
          <p:nvPr/>
        </p:nvSpPr>
        <p:spPr>
          <a:xfrm>
            <a:off x="7930788" y="818388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</a:rPr>
              <a:t>photo</a:t>
            </a:r>
            <a:endParaRPr lang="en-US" sz="8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42BE479D-7E10-E3CC-40A4-F208A4BB550D}"/>
              </a:ext>
            </a:extLst>
          </p:cNvPr>
          <p:cNvSpPr/>
          <p:nvPr/>
        </p:nvSpPr>
        <p:spPr>
          <a:xfrm>
            <a:off x="4803540" y="8183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</a:rPr>
              <a:t>Xavier CHARPENTIER &amp; Kelly GOLDLUST</a:t>
            </a:r>
            <a:endParaRPr lang="en-US" sz="12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992FAFBE-5FA9-EA78-51FF-9C92020A22D4}"/>
              </a:ext>
            </a:extLst>
          </p:cNvPr>
          <p:cNvSpPr/>
          <p:nvPr/>
        </p:nvSpPr>
        <p:spPr>
          <a:xfrm>
            <a:off x="4803540" y="10927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A7A"/>
                </a:solidFill>
              </a:rPr>
              <a:t>Microbiologistes — Directeurs de laboratoire &amp; Enseignants-chercheurs, CIRI / INSERM Gerland / Horigene</a:t>
            </a:r>
            <a:endParaRPr lang="en-US" sz="85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7ABC4AEF-7C06-A294-6F30-3155953022B7}"/>
              </a:ext>
            </a:extLst>
          </p:cNvPr>
          <p:cNvSpPr/>
          <p:nvPr/>
        </p:nvSpPr>
        <p:spPr>
          <a:xfrm>
            <a:off x="4803540" y="15316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📍 Projet laboratoire Horigene — 2023 à aujourd'hui</a:t>
            </a:r>
            <a:endParaRPr lang="en-US" sz="9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4126541E-D631-8886-BAC8-2EB3A8350352}"/>
              </a:ext>
            </a:extLst>
          </p:cNvPr>
          <p:cNvSpPr/>
          <p:nvPr/>
        </p:nvSpPr>
        <p:spPr>
          <a:xfrm>
            <a:off x="4803540" y="176936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E"/>
                </a:solidFill>
              </a:rPr>
              <a:t>Besoins métier réels : gestion des souches bactériennes, données hétérogènes, import Excel. Ancrage du projet dans la réalité scientifique.</a:t>
            </a:r>
            <a:endParaRPr lang="en-US" sz="10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61DEE0D2-8732-ADD1-C4CE-29E81BA9BA3B}"/>
              </a:ext>
            </a:extLst>
          </p:cNvPr>
          <p:cNvSpPr/>
          <p:nvPr/>
        </p:nvSpPr>
        <p:spPr>
          <a:xfrm>
            <a:off x="253092" y="276301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AEDC69D-4FCC-D032-B804-EF81C8428DE8}"/>
              </a:ext>
            </a:extLst>
          </p:cNvPr>
          <p:cNvSpPr/>
          <p:nvPr/>
        </p:nvSpPr>
        <p:spPr>
          <a:xfrm>
            <a:off x="253092" y="2763012"/>
            <a:ext cx="425196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BA55FD11-E8BA-1618-D848-E153EF75EBD0}"/>
              </a:ext>
            </a:extLst>
          </p:cNvPr>
          <p:cNvSpPr/>
          <p:nvPr/>
        </p:nvSpPr>
        <p:spPr>
          <a:xfrm>
            <a:off x="417684" y="28544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</a:rPr>
              <a:t>Emmanuel BETTLER &amp; Chantal ABERGEL</a:t>
            </a:r>
            <a:endParaRPr lang="en-US" sz="12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08F25E73-0704-CCF3-1123-926C3E30ACD7}"/>
              </a:ext>
            </a:extLst>
          </p:cNvPr>
          <p:cNvSpPr/>
          <p:nvPr/>
        </p:nvSpPr>
        <p:spPr>
          <a:xfrm>
            <a:off x="417684" y="31287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A7A"/>
                </a:solidFill>
              </a:rPr>
              <a:t>Maître de conférences — IBCP / LBTI, Université Lyon 1 &amp; Directrice de recherche CNRS / IGS, Marseille</a:t>
            </a:r>
            <a:endParaRPr lang="en-US" sz="850" dirty="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2C28A169-6002-B0E8-F25E-E39C2883184E}"/>
              </a:ext>
            </a:extLst>
          </p:cNvPr>
          <p:cNvSpPr/>
          <p:nvPr/>
        </p:nvSpPr>
        <p:spPr>
          <a:xfrm>
            <a:off x="417684" y="35676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📍 Stage 2021–2022  ·  Stage 2022–2023</a:t>
            </a:r>
            <a:endParaRPr lang="en-US" sz="9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B37917B5-A10E-8186-8048-4065D80563DD}"/>
              </a:ext>
            </a:extLst>
          </p:cNvPr>
          <p:cNvSpPr/>
          <p:nvPr/>
        </p:nvSpPr>
        <p:spPr>
          <a:xfrm>
            <a:off x="417684" y="3805428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E"/>
                </a:solidFill>
              </a:rPr>
              <a:t>Introduction à la bio-informatique structurale et prédictive (AlphaFold) et dynamique moléculaire. Confirmation de la voie informatique.</a:t>
            </a:r>
            <a:endParaRPr lang="en-US" sz="1000" dirty="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EC5D978-22EB-9DA9-BE41-5F2863CD291C}"/>
              </a:ext>
            </a:extLst>
          </p:cNvPr>
          <p:cNvSpPr/>
          <p:nvPr/>
        </p:nvSpPr>
        <p:spPr>
          <a:xfrm>
            <a:off x="4638948" y="276301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C53FEE82-FD10-B580-E25A-F0D3C4E068F9}"/>
              </a:ext>
            </a:extLst>
          </p:cNvPr>
          <p:cNvSpPr/>
          <p:nvPr/>
        </p:nvSpPr>
        <p:spPr>
          <a:xfrm>
            <a:off x="4638948" y="2763012"/>
            <a:ext cx="425196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28BF75BD-66EC-C6B1-5A3E-36197E2174E6}"/>
              </a:ext>
            </a:extLst>
          </p:cNvPr>
          <p:cNvSpPr/>
          <p:nvPr/>
        </p:nvSpPr>
        <p:spPr>
          <a:xfrm>
            <a:off x="7930788" y="2854452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</a:rPr>
              <a:t>photo</a:t>
            </a:r>
            <a:endParaRPr lang="en-US" sz="8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C2F21AA9-0E97-4DB2-7376-1C0322188AB6}"/>
              </a:ext>
            </a:extLst>
          </p:cNvPr>
          <p:cNvSpPr/>
          <p:nvPr/>
        </p:nvSpPr>
        <p:spPr>
          <a:xfrm>
            <a:off x="4803540" y="28544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</a:rPr>
              <a:t>Julien FOURET</a:t>
            </a:r>
            <a:endParaRPr lang="en-US" sz="12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39A5C5C6-25A5-B349-41E7-3366AE31E658}"/>
              </a:ext>
            </a:extLst>
          </p:cNvPr>
          <p:cNvSpPr/>
          <p:nvPr/>
        </p:nvSpPr>
        <p:spPr>
          <a:xfrm>
            <a:off x="4803540" y="31287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0" i="1" dirty="0">
                <a:solidFill>
                  <a:srgbClr val="5A6A7A"/>
                </a:solidFill>
              </a:rPr>
              <a:t>Chercheur en Bio-</a:t>
            </a:r>
            <a:r>
              <a:rPr lang="en-US" sz="850" i="1" dirty="0" err="1">
                <a:solidFill>
                  <a:srgbClr val="5A6A7A"/>
                </a:solidFill>
              </a:rPr>
              <a:t>informatique</a:t>
            </a:r>
            <a:r>
              <a:rPr lang="en-US" sz="850" i="1" dirty="0">
                <a:solidFill>
                  <a:srgbClr val="5A6A7A"/>
                </a:solidFill>
              </a:rPr>
              <a:t> — CIRI / INSERM Gerland / BIBS</a:t>
            </a:r>
            <a:endParaRPr lang="en-US" sz="850" dirty="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CAC7C5F-DF8A-B0FE-EB5E-C5F6431F32A5}"/>
              </a:ext>
            </a:extLst>
          </p:cNvPr>
          <p:cNvSpPr/>
          <p:nvPr/>
        </p:nvSpPr>
        <p:spPr>
          <a:xfrm>
            <a:off x="4803540" y="35676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📍 2023 à aujourd'hui : Encadrement technique</a:t>
            </a:r>
            <a:endParaRPr lang="en-US" sz="900" dirty="0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ED108ED1-4DC8-D2D8-0770-1247A9D402E2}"/>
              </a:ext>
            </a:extLst>
          </p:cNvPr>
          <p:cNvSpPr/>
          <p:nvPr/>
        </p:nvSpPr>
        <p:spPr>
          <a:xfrm>
            <a:off x="4803540" y="3805428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E"/>
                </a:solidFill>
              </a:rPr>
              <a:t>Architecture logicielle, bonnes pratiques (CI/CD, tests, migrations) et apprentissage des approches IA. Vision d'ensemble du projet Horigene et de sa généralisation INSERM.</a:t>
            </a:r>
            <a:endParaRPr lang="en-US" sz="1000" dirty="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40A7A066-51E4-35B9-E92F-D8183680C25E}"/>
              </a:ext>
            </a:extLst>
          </p:cNvPr>
          <p:cNvSpPr/>
          <p:nvPr/>
        </p:nvSpPr>
        <p:spPr>
          <a:xfrm>
            <a:off x="0" y="4818888"/>
            <a:ext cx="9144000" cy="3429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997A7084-8F54-2A1E-1DB8-A764604AA945}"/>
              </a:ext>
            </a:extLst>
          </p:cNvPr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4A6"/>
                </a:solidFill>
              </a:rPr>
              <a:t>« La valeur n'est pas dans les outils, mais dans la capacité à comprendre les données scientifiques pour les rendre exploitables. »</a:t>
            </a:r>
            <a:endParaRPr lang="en-US" sz="950" dirty="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A18E0656-3141-B8A7-56D9-FBE3D5DA0E3F}"/>
              </a:ext>
            </a:extLst>
          </p:cNvPr>
          <p:cNvSpPr/>
          <p:nvPr/>
        </p:nvSpPr>
        <p:spPr>
          <a:xfrm>
            <a:off x="0" y="-9367"/>
            <a:ext cx="9144000" cy="60157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C88D4675-E86A-0DAD-04B6-6EC0D7CD4FE7}"/>
              </a:ext>
            </a:extLst>
          </p:cNvPr>
          <p:cNvSpPr/>
          <p:nvPr/>
        </p:nvSpPr>
        <p:spPr>
          <a:xfrm>
            <a:off x="365760" y="578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200" b="1" noProof="0" dirty="0">
                <a:solidFill>
                  <a:schemeClr val="bg1"/>
                </a:solidFill>
              </a:rPr>
              <a:t>03 — </a:t>
            </a:r>
            <a:r>
              <a:rPr lang="fr-FR" sz="2200" b="1" dirty="0">
                <a:solidFill>
                  <a:srgbClr val="FFFFFF"/>
                </a:solidFill>
              </a:rPr>
              <a:t>Les rencontres clés qui ont façonné mon parcours</a:t>
            </a:r>
            <a:endParaRPr lang="fr-FR" sz="2200" b="1" noProof="0" dirty="0">
              <a:solidFill>
                <a:schemeClr val="bg1"/>
              </a:solidFill>
            </a:endParaRPr>
          </a:p>
        </p:txBody>
      </p:sp>
      <p:pic>
        <p:nvPicPr>
          <p:cNvPr id="39" name="Picture 2" descr="Vect-Horus">
            <a:extLst>
              <a:ext uri="{FF2B5EF4-FFF2-40B4-BE49-F238E27FC236}">
                <a16:creationId xmlns:a16="http://schemas.microsoft.com/office/drawing/2014/main" id="{46AD9AF3-F41A-467E-2184-D1E6FA760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148" y="854202"/>
            <a:ext cx="869659" cy="67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984DB993-C855-9E22-3139-4E139E371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92" y="855552"/>
            <a:ext cx="596472" cy="634921"/>
          </a:xfrm>
          <a:prstGeom prst="rect">
            <a:avLst/>
          </a:prstGeom>
        </p:spPr>
      </p:pic>
      <p:pic>
        <p:nvPicPr>
          <p:cNvPr id="42" name="Image 41" descr="Une image contenant Visage humain, personne, homme, habits&#10;&#10;Le contenu généré par l’IA peut être incorrect.">
            <a:extLst>
              <a:ext uri="{FF2B5EF4-FFF2-40B4-BE49-F238E27FC236}">
                <a16:creationId xmlns:a16="http://schemas.microsoft.com/office/drawing/2014/main" id="{52713A4E-51D6-D089-7ADE-088981D8F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956" y="854203"/>
            <a:ext cx="556184" cy="636270"/>
          </a:xfrm>
          <a:prstGeom prst="rect">
            <a:avLst/>
          </a:prstGeom>
        </p:spPr>
      </p:pic>
      <p:pic>
        <p:nvPicPr>
          <p:cNvPr id="43" name="Picture 8">
            <a:extLst>
              <a:ext uri="{FF2B5EF4-FFF2-40B4-BE49-F238E27FC236}">
                <a16:creationId xmlns:a16="http://schemas.microsoft.com/office/drawing/2014/main" id="{39F8B09A-10E0-704D-5E32-0836B1180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024" y="2865061"/>
            <a:ext cx="839491" cy="647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Annuaire | Enseignants de Biochimie">
            <a:extLst>
              <a:ext uri="{FF2B5EF4-FFF2-40B4-BE49-F238E27FC236}">
                <a16:creationId xmlns:a16="http://schemas.microsoft.com/office/drawing/2014/main" id="{849BC923-99F2-5CFB-53AF-7B972049D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600" y="2854452"/>
            <a:ext cx="484380" cy="60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6" descr="Chantal Abergel — Wikipédia">
            <a:extLst>
              <a:ext uri="{FF2B5EF4-FFF2-40B4-BE49-F238E27FC236}">
                <a16:creationId xmlns:a16="http://schemas.microsoft.com/office/drawing/2014/main" id="{9F8B18E3-6ECB-7EB2-8F0F-D4286718E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472" y="2846289"/>
            <a:ext cx="433173" cy="61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33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F360B-B433-95A8-B7F6-6B73214D9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>
            <a:extLst>
              <a:ext uri="{FF2B5EF4-FFF2-40B4-BE49-F238E27FC236}">
                <a16:creationId xmlns:a16="http://schemas.microsoft.com/office/drawing/2014/main" id="{0BCE2EFF-6E6F-FDD6-D3E7-003130771704}"/>
              </a:ext>
            </a:extLst>
          </p:cNvPr>
          <p:cNvSpPr/>
          <p:nvPr/>
        </p:nvSpPr>
        <p:spPr>
          <a:xfrm>
            <a:off x="0" y="-9367"/>
            <a:ext cx="9144000" cy="60157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3" name="Text 1">
            <a:extLst>
              <a:ext uri="{FF2B5EF4-FFF2-40B4-BE49-F238E27FC236}">
                <a16:creationId xmlns:a16="http://schemas.microsoft.com/office/drawing/2014/main" id="{D3FEEFD2-3C70-28CC-A253-45E609956630}"/>
              </a:ext>
            </a:extLst>
          </p:cNvPr>
          <p:cNvSpPr/>
          <p:nvPr/>
        </p:nvSpPr>
        <p:spPr>
          <a:xfrm>
            <a:off x="329946" y="39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</a:rPr>
              <a:t>04 — Le projet Horigene : une plateforme scientifique assisté par IA</a:t>
            </a:r>
            <a:endParaRPr lang="fr-FR" sz="2000" noProof="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B8B9830-84F4-9339-0BDE-61AA4783CEB7}"/>
              </a:ext>
            </a:extLst>
          </p:cNvPr>
          <p:cNvSpPr/>
          <p:nvPr/>
        </p:nvSpPr>
        <p:spPr>
          <a:xfrm>
            <a:off x="228600" y="749808"/>
            <a:ext cx="8686800" cy="658368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9067EE4-8C23-ED85-5A94-D7BB2631CA58}"/>
              </a:ext>
            </a:extLst>
          </p:cNvPr>
          <p:cNvSpPr/>
          <p:nvPr/>
        </p:nvSpPr>
        <p:spPr>
          <a:xfrm>
            <a:off x="292608" y="7498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000000"/>
                </a:solidFill>
              </a:rPr>
              <a:t>🔒</a:t>
            </a:r>
            <a:endParaRPr lang="fr-FR" sz="2000" noProof="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95CA386-88D4-EF96-0388-4AD7D4DBCF14}"/>
              </a:ext>
            </a:extLst>
          </p:cNvPr>
          <p:cNvSpPr/>
          <p:nvPr/>
        </p:nvSpPr>
        <p:spPr>
          <a:xfrm>
            <a:off x="822960" y="768096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fr-FR" sz="1100" noProof="0" dirty="0">
                <a:solidFill>
                  <a:srgbClr val="FFFFFF"/>
                </a:solidFill>
              </a:rPr>
              <a:t>Des fichiers biologiques organisés différemment selon les chercheurs, avec des colonnes hétérogènes ou "fourre-tout" mélangeant plusieurs types d'informations, rendant les données difficiles à structurer et exploiter directement</a:t>
            </a:r>
            <a:endParaRPr lang="fr-FR" sz="1100" noProof="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E43D239-DAC5-876E-75C0-F92CE3EC7CDD}"/>
              </a:ext>
            </a:extLst>
          </p:cNvPr>
          <p:cNvSpPr/>
          <p:nvPr/>
        </p:nvSpPr>
        <p:spPr>
          <a:xfrm>
            <a:off x="228600" y="150876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1B2A3E"/>
                </a:solidFill>
              </a:rPr>
              <a:t>Strain(+)</a:t>
            </a:r>
            <a:r>
              <a:rPr lang="fr-FR" sz="2000" b="1" noProof="0" dirty="0" err="1">
                <a:solidFill>
                  <a:srgbClr val="1B2A3E"/>
                </a:solidFill>
              </a:rPr>
              <a:t>Lab</a:t>
            </a:r>
            <a:r>
              <a:rPr lang="fr-FR" sz="2000" b="1" noProof="0" dirty="0">
                <a:solidFill>
                  <a:srgbClr val="1B2A3E"/>
                </a:solidFill>
              </a:rPr>
              <a:t> — une plateforme en 3 briques</a:t>
            </a:r>
            <a:endParaRPr lang="fr-FR" sz="2000" noProof="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C6DA79F-B1E9-000A-F30B-4D8EC45EF9F4}"/>
              </a:ext>
            </a:extLst>
          </p:cNvPr>
          <p:cNvSpPr/>
          <p:nvPr/>
        </p:nvSpPr>
        <p:spPr>
          <a:xfrm>
            <a:off x="329946" y="2043031"/>
            <a:ext cx="2679192" cy="270858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81E910C-BEB6-CFBF-F5F0-C476ED891DCF}"/>
              </a:ext>
            </a:extLst>
          </p:cNvPr>
          <p:cNvSpPr/>
          <p:nvPr/>
        </p:nvSpPr>
        <p:spPr>
          <a:xfrm>
            <a:off x="393954" y="2185828"/>
            <a:ext cx="2542032" cy="64399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400" b="1" noProof="0" dirty="0">
                <a:solidFill>
                  <a:srgbClr val="1B2A3E"/>
                </a:solidFill>
              </a:rPr>
              <a:t>① </a:t>
            </a:r>
            <a:r>
              <a:rPr lang="fr-FR" sz="1400" b="1" dirty="0">
                <a:solidFill>
                  <a:srgbClr val="1B2A3E"/>
                </a:solidFill>
              </a:rPr>
              <a:t> </a:t>
            </a:r>
            <a:r>
              <a:rPr lang="fr-FR" sz="1400" b="1" dirty="0"/>
              <a:t>Import et structuration assistés par IA</a:t>
            </a:r>
            <a:endParaRPr lang="fr-FR" sz="1400" b="1" noProof="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732EBD7-6829-C4A4-BD98-E974F4254C23}"/>
              </a:ext>
            </a:extLst>
          </p:cNvPr>
          <p:cNvSpPr/>
          <p:nvPr/>
        </p:nvSpPr>
        <p:spPr>
          <a:xfrm>
            <a:off x="434450" y="3018912"/>
            <a:ext cx="2407042" cy="157766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Analyse &amp; lecture du fichier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dirty="0">
                <a:solidFill>
                  <a:srgbClr val="5A6A7A"/>
                </a:solidFill>
              </a:rPr>
              <a:t>Mapping intelligent des colonnes vers le modèle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Catégorisation &amp; interprétation des données</a:t>
            </a:r>
            <a:endParaRPr lang="fr-FR" sz="105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Validation humaine avant insertion</a:t>
            </a:r>
            <a:endParaRPr lang="fr-FR" sz="1050" noProof="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BBD9C53B-CF2D-2DB5-1342-837F3ABCB8C7}"/>
              </a:ext>
            </a:extLst>
          </p:cNvPr>
          <p:cNvSpPr/>
          <p:nvPr/>
        </p:nvSpPr>
        <p:spPr>
          <a:xfrm>
            <a:off x="3260602" y="2034867"/>
            <a:ext cx="2679192" cy="271674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ACFED6A-68DB-2D68-1D8A-CC38E8DD975D}"/>
              </a:ext>
            </a:extLst>
          </p:cNvPr>
          <p:cNvSpPr/>
          <p:nvPr/>
        </p:nvSpPr>
        <p:spPr>
          <a:xfrm>
            <a:off x="3260602" y="2034867"/>
            <a:ext cx="2679192" cy="162152"/>
          </a:xfrm>
          <a:prstGeom prst="rect">
            <a:avLst/>
          </a:prstGeom>
          <a:solidFill>
            <a:srgbClr val="2E86C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12155C2-151C-3D77-24CD-C89F5E82B15F}"/>
              </a:ext>
            </a:extLst>
          </p:cNvPr>
          <p:cNvSpPr/>
          <p:nvPr/>
        </p:nvSpPr>
        <p:spPr>
          <a:xfrm>
            <a:off x="3309366" y="2346501"/>
            <a:ext cx="2434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1B2A3E"/>
                </a:solidFill>
              </a:rPr>
              <a:t>② Base  de données relationnelle</a:t>
            </a:r>
            <a:endParaRPr lang="fr-FR" sz="1400" noProof="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9648B8CB-1602-A996-D260-8791B32043BB}"/>
              </a:ext>
            </a:extLst>
          </p:cNvPr>
          <p:cNvSpPr/>
          <p:nvPr/>
        </p:nvSpPr>
        <p:spPr>
          <a:xfrm>
            <a:off x="3649226" y="27445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i="1" noProof="0" dirty="0">
                <a:solidFill>
                  <a:srgbClr val="2E86C1"/>
                </a:solidFill>
              </a:rPr>
              <a:t>Structuration centralisée</a:t>
            </a:r>
            <a:endParaRPr lang="fr-FR" sz="1400" b="1" noProof="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9F83E47-E436-8850-29F1-228CC06E4051}"/>
              </a:ext>
            </a:extLst>
          </p:cNvPr>
          <p:cNvSpPr/>
          <p:nvPr/>
        </p:nvSpPr>
        <p:spPr>
          <a:xfrm>
            <a:off x="3384050" y="2839540"/>
            <a:ext cx="2436872" cy="176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Modèle centré autour de la souche (</a:t>
            </a:r>
            <a:r>
              <a:rPr lang="fr-FR" sz="1050" noProof="0" dirty="0" err="1">
                <a:solidFill>
                  <a:srgbClr val="5A6A7A"/>
                </a:solidFill>
              </a:rPr>
              <a:t>strain</a:t>
            </a:r>
            <a:r>
              <a:rPr lang="fr-FR" sz="1050" noProof="0" dirty="0">
                <a:solidFill>
                  <a:srgbClr val="5A6A7A"/>
                </a:solidFill>
              </a:rPr>
              <a:t>-first)</a:t>
            </a:r>
            <a:endParaRPr lang="fr-FR" sz="105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Phénotypes, génotypes, résistances</a:t>
            </a:r>
            <a:endParaRPr lang="fr-FR" sz="105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Traçabilité parent/enfant</a:t>
            </a:r>
            <a:endParaRPr lang="fr-FR" sz="1050" noProof="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0D07A62D-28B7-528D-516F-0DCA8DCBC9C2}"/>
              </a:ext>
            </a:extLst>
          </p:cNvPr>
          <p:cNvSpPr/>
          <p:nvPr/>
        </p:nvSpPr>
        <p:spPr>
          <a:xfrm>
            <a:off x="5939794" y="336792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00B4A6"/>
                </a:solidFill>
              </a:rPr>
              <a:t>→</a:t>
            </a:r>
            <a:endParaRPr lang="fr-FR" sz="2000" noProof="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F2944A77-AF69-EE21-BC46-15EB34D87428}"/>
              </a:ext>
            </a:extLst>
          </p:cNvPr>
          <p:cNvSpPr/>
          <p:nvPr/>
        </p:nvSpPr>
        <p:spPr>
          <a:xfrm>
            <a:off x="6305554" y="2034867"/>
            <a:ext cx="2574032" cy="271674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41F2AC1F-0648-4788-8821-572F2CC862DB}"/>
              </a:ext>
            </a:extLst>
          </p:cNvPr>
          <p:cNvSpPr/>
          <p:nvPr/>
        </p:nvSpPr>
        <p:spPr>
          <a:xfrm>
            <a:off x="6305554" y="2034867"/>
            <a:ext cx="2574032" cy="162152"/>
          </a:xfrm>
          <a:prstGeom prst="rect">
            <a:avLst/>
          </a:prstGeom>
          <a:solidFill>
            <a:srgbClr val="E8C84A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5DC1AB01-EE45-B01A-90BA-D196144AE81D}"/>
              </a:ext>
            </a:extLst>
          </p:cNvPr>
          <p:cNvSpPr/>
          <p:nvPr/>
        </p:nvSpPr>
        <p:spPr>
          <a:xfrm>
            <a:off x="6240022" y="2293022"/>
            <a:ext cx="2574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1B2A3E"/>
                </a:solidFill>
              </a:rPr>
              <a:t>③ Interface web</a:t>
            </a:r>
            <a:endParaRPr lang="fr-FR" sz="1400" noProof="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FFE9A38F-598F-0825-878B-E1CB956CEBFC}"/>
              </a:ext>
            </a:extLst>
          </p:cNvPr>
          <p:cNvSpPr/>
          <p:nvPr/>
        </p:nvSpPr>
        <p:spPr>
          <a:xfrm>
            <a:off x="6323843" y="2695213"/>
            <a:ext cx="255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i="1" noProof="0" dirty="0">
                <a:solidFill>
                  <a:srgbClr val="E8C84A"/>
                </a:solidFill>
              </a:rPr>
              <a:t>Exploitation rapide</a:t>
            </a:r>
            <a:endParaRPr lang="fr-FR" sz="1400" b="1" noProof="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F8D3318-109A-470B-CD2A-C3DFAEA4E86A}"/>
              </a:ext>
            </a:extLst>
          </p:cNvPr>
          <p:cNvSpPr/>
          <p:nvPr/>
        </p:nvSpPr>
        <p:spPr>
          <a:xfrm>
            <a:off x="6442714" y="2839539"/>
            <a:ext cx="2335526" cy="1765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Recherche multicritère</a:t>
            </a:r>
            <a:endParaRPr lang="fr-FR" sz="105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Gestion des souches</a:t>
            </a:r>
            <a:endParaRPr lang="fr-FR" sz="105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Génération assistée de fichier réglementaire</a:t>
            </a:r>
            <a:endParaRPr lang="fr-FR" sz="105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fr-FR" sz="1050" noProof="0" dirty="0">
                <a:solidFill>
                  <a:srgbClr val="5A6A7A"/>
                </a:solidFill>
              </a:rPr>
              <a:t>Gestion des droits &amp; partage</a:t>
            </a:r>
            <a:endParaRPr lang="fr-FR" sz="1050" noProof="0" dirty="0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5851773D-916A-70F2-2341-FA9C105895DB}"/>
              </a:ext>
            </a:extLst>
          </p:cNvPr>
          <p:cNvSpPr/>
          <p:nvPr/>
        </p:nvSpPr>
        <p:spPr>
          <a:xfrm>
            <a:off x="329946" y="2041070"/>
            <a:ext cx="2679192" cy="154143"/>
          </a:xfrm>
          <a:prstGeom prst="rect">
            <a:avLst/>
          </a:prstGeom>
          <a:solidFill>
            <a:srgbClr val="00B4A6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6024E9-061D-1184-A337-B6B7E7C64042}"/>
              </a:ext>
            </a:extLst>
          </p:cNvPr>
          <p:cNvSpPr txBox="1"/>
          <p:nvPr/>
        </p:nvSpPr>
        <p:spPr>
          <a:xfrm>
            <a:off x="2847919" y="3349817"/>
            <a:ext cx="560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0B4A6"/>
                </a:solidFill>
              </a:rPr>
              <a:t>→</a:t>
            </a:r>
            <a:endParaRPr lang="fr-FR" sz="1800" noProof="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D877822-5D3C-AE1A-03F8-14DA8C0F2713}"/>
              </a:ext>
            </a:extLst>
          </p:cNvPr>
          <p:cNvSpPr/>
          <p:nvPr/>
        </p:nvSpPr>
        <p:spPr>
          <a:xfrm>
            <a:off x="450332" y="2749732"/>
            <a:ext cx="2427736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i="1" noProof="0" dirty="0">
                <a:solidFill>
                  <a:srgbClr val="00B4A6"/>
                </a:solidFill>
              </a:rPr>
              <a:t>Fichier : Excel / CSV hétérogènes</a:t>
            </a:r>
            <a:endParaRPr lang="fr-FR" sz="1400" b="1" noProof="0" dirty="0"/>
          </a:p>
        </p:txBody>
      </p:sp>
    </p:spTree>
    <p:extLst>
      <p:ext uri="{BB962C8B-B14F-4D97-AF65-F5344CB8AC3E}">
        <p14:creationId xmlns:p14="http://schemas.microsoft.com/office/powerpoint/2010/main" val="162426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6E25E-F18D-2646-2216-4E8D53FF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844E3ACF-EFE3-9C28-A6E5-2353B305CBF1}"/>
              </a:ext>
            </a:extLst>
          </p:cNvPr>
          <p:cNvSpPr/>
          <p:nvPr/>
        </p:nvSpPr>
        <p:spPr>
          <a:xfrm>
            <a:off x="0" y="8389"/>
            <a:ext cx="9144000" cy="60157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2C9B7A75-7FB5-7A7F-8362-CAE27A453F84}"/>
              </a:ext>
            </a:extLst>
          </p:cNvPr>
          <p:cNvSpPr/>
          <p:nvPr/>
        </p:nvSpPr>
        <p:spPr>
          <a:xfrm>
            <a:off x="320040" y="9296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000" b="1" noProof="0" dirty="0">
                <a:solidFill>
                  <a:srgbClr val="FFFFFF"/>
                </a:solidFill>
              </a:rPr>
              <a:t>05 — </a:t>
            </a:r>
            <a:r>
              <a:rPr lang="fr-FR" sz="2000" b="1" dirty="0">
                <a:solidFill>
                  <a:srgbClr val="FFFFFF"/>
                </a:solidFill>
              </a:rPr>
              <a:t>Métiers visés post BUT3 : référentiels APEC &amp; CIGREF</a:t>
            </a:r>
            <a:endParaRPr lang="fr-FR" sz="2000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EACEDB35-6495-111A-6515-34315D051531}"/>
              </a:ext>
            </a:extLst>
          </p:cNvPr>
          <p:cNvSpPr/>
          <p:nvPr/>
        </p:nvSpPr>
        <p:spPr>
          <a:xfrm>
            <a:off x="320040" y="708988"/>
            <a:ext cx="8595360" cy="13898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B3E27F8C-708D-BED5-6AB2-5B2975048645}"/>
              </a:ext>
            </a:extLst>
          </p:cNvPr>
          <p:cNvSpPr/>
          <p:nvPr/>
        </p:nvSpPr>
        <p:spPr>
          <a:xfrm>
            <a:off x="266156" y="708988"/>
            <a:ext cx="164592" cy="1389888"/>
          </a:xfrm>
          <a:prstGeom prst="rect">
            <a:avLst/>
          </a:prstGeom>
          <a:solidFill>
            <a:srgbClr val="00B4A6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3B1BEFA1-E1F9-E500-B715-ACBEFD8DA7AF}"/>
              </a:ext>
            </a:extLst>
          </p:cNvPr>
          <p:cNvSpPr/>
          <p:nvPr/>
        </p:nvSpPr>
        <p:spPr>
          <a:xfrm>
            <a:off x="613628" y="7760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150" dirty="0">
                <a:solidFill>
                  <a:srgbClr val="00B4A6"/>
                </a:solidFill>
              </a:rPr>
              <a:t>PLAN A : PRIORITAIRE</a:t>
            </a:r>
            <a:endParaRPr lang="fr-FR" sz="13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CD0C9DC4-8DC3-DE5D-6EA8-1995B67B2746}"/>
              </a:ext>
            </a:extLst>
          </p:cNvPr>
          <p:cNvSpPr/>
          <p:nvPr/>
        </p:nvSpPr>
        <p:spPr>
          <a:xfrm>
            <a:off x="613628" y="1007522"/>
            <a:ext cx="64729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dirty="0">
                <a:solidFill>
                  <a:srgbClr val="1B2A3E"/>
                </a:solidFill>
              </a:rPr>
              <a:t>Data Engineer / </a:t>
            </a:r>
            <a:r>
              <a:rPr lang="fr-FR" sz="1400" b="1" dirty="0"/>
              <a:t>AI Engineer </a:t>
            </a:r>
            <a:r>
              <a:rPr lang="fr-FR" sz="1400" b="1" dirty="0">
                <a:solidFill>
                  <a:srgbClr val="1B2A3E"/>
                </a:solidFill>
              </a:rPr>
              <a:t>orienté sur les données</a:t>
            </a:r>
            <a:r>
              <a:rPr lang="fr-FR" sz="1400" b="1" dirty="0"/>
              <a:t> scientifiques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B7AC2156-0BAE-1BB4-8387-B2EA61B9E62E}"/>
              </a:ext>
            </a:extLst>
          </p:cNvPr>
          <p:cNvSpPr/>
          <p:nvPr/>
        </p:nvSpPr>
        <p:spPr>
          <a:xfrm>
            <a:off x="613627" y="1379277"/>
            <a:ext cx="713062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fr-FR" sz="900" dirty="0">
                <a:solidFill>
                  <a:srgbClr val="5A6A7A"/>
                </a:solidFill>
              </a:rPr>
              <a:t>Continuer le développement de Strain(+)</a:t>
            </a:r>
            <a:r>
              <a:rPr lang="fr-FR" sz="900" dirty="0" err="1">
                <a:solidFill>
                  <a:srgbClr val="5A6A7A"/>
                </a:solidFill>
              </a:rPr>
              <a:t>Lab</a:t>
            </a:r>
            <a:r>
              <a:rPr lang="fr-FR" sz="900" dirty="0">
                <a:solidFill>
                  <a:srgbClr val="5A6A7A"/>
                </a:solidFill>
              </a:rPr>
              <a:t> au CIRI / INSERM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fr-FR" sz="900" dirty="0">
                <a:solidFill>
                  <a:srgbClr val="5A6A7A"/>
                </a:solidFill>
              </a:rPr>
              <a:t>Généraliser la plateforme à d'autres unités INSERM — pipeline assisté IA d'import + base de données autours de la souche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fr-FR" sz="900" dirty="0">
                <a:solidFill>
                  <a:srgbClr val="5A6A7A"/>
                </a:solidFill>
              </a:rPr>
              <a:t>Concevoir des pipelines ETL, bases de données et outils scientifiques, en combinant ingénierie des données, architecture logicielle et IA appliquée</a:t>
            </a: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C3AA9B77-97C7-BDB9-8D36-23A79EF9D549}"/>
              </a:ext>
            </a:extLst>
          </p:cNvPr>
          <p:cNvSpPr/>
          <p:nvPr/>
        </p:nvSpPr>
        <p:spPr>
          <a:xfrm>
            <a:off x="7415410" y="793315"/>
            <a:ext cx="1371600" cy="3474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BA2AC701-A86E-7E3F-72B7-6B225C8D4751}"/>
              </a:ext>
            </a:extLst>
          </p:cNvPr>
          <p:cNvSpPr/>
          <p:nvPr/>
        </p:nvSpPr>
        <p:spPr>
          <a:xfrm>
            <a:off x="7415410" y="79331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Priorité #1</a:t>
            </a:r>
            <a:endParaRPr lang="fr-FR" sz="10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28122841-1D03-020A-6AF6-D9884478E281}"/>
              </a:ext>
            </a:extLst>
          </p:cNvPr>
          <p:cNvSpPr/>
          <p:nvPr/>
        </p:nvSpPr>
        <p:spPr>
          <a:xfrm>
            <a:off x="266156" y="2199460"/>
            <a:ext cx="8595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9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4F6A2496-199B-6B62-3887-25A974511C1E}"/>
              </a:ext>
            </a:extLst>
          </p:cNvPr>
          <p:cNvSpPr/>
          <p:nvPr/>
        </p:nvSpPr>
        <p:spPr>
          <a:xfrm>
            <a:off x="266156" y="2199460"/>
            <a:ext cx="164592" cy="1298448"/>
          </a:xfrm>
          <a:prstGeom prst="rect">
            <a:avLst/>
          </a:prstGeom>
          <a:solidFill>
            <a:srgbClr val="2E86C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6BC93C73-87F2-1FE7-A6A1-C63675D13011}"/>
              </a:ext>
            </a:extLst>
          </p:cNvPr>
          <p:cNvSpPr/>
          <p:nvPr/>
        </p:nvSpPr>
        <p:spPr>
          <a:xfrm>
            <a:off x="577052" y="2291951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150" dirty="0">
                <a:solidFill>
                  <a:srgbClr val="2E86C1"/>
                </a:solidFill>
              </a:rPr>
              <a:t>PLAN B : PROJET PERSONNEL — CRÉATION D'ENTREPRISE</a:t>
            </a:r>
            <a:endParaRPr lang="fr-FR" sz="13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6A0DA6DE-6522-966A-DE03-ACFF0D3262FC}"/>
              </a:ext>
            </a:extLst>
          </p:cNvPr>
          <p:cNvSpPr/>
          <p:nvPr/>
        </p:nvSpPr>
        <p:spPr>
          <a:xfrm>
            <a:off x="577052" y="253303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dirty="0"/>
              <a:t>Développer Strain(+)</a:t>
            </a:r>
            <a:r>
              <a:rPr lang="fr-FR" sz="1400" b="1" dirty="0" err="1"/>
              <a:t>Lab</a:t>
            </a:r>
            <a:r>
              <a:rPr lang="fr-FR" sz="1400" b="1" dirty="0"/>
              <a:t> de manière autonome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B4CF58B2-859A-CF49-D02B-CBDE4ABA41E5}"/>
              </a:ext>
            </a:extLst>
          </p:cNvPr>
          <p:cNvSpPr/>
          <p:nvPr/>
        </p:nvSpPr>
        <p:spPr>
          <a:xfrm>
            <a:off x="577052" y="2787046"/>
            <a:ext cx="80054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fr-FR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fr-FR" sz="900" dirty="0">
                <a:solidFill>
                  <a:srgbClr val="5A6A7A"/>
                </a:solidFill>
              </a:rPr>
              <a:t>Poursuivre le développement de la plateforme hors cadre académique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fr-FR" sz="900" dirty="0">
                <a:solidFill>
                  <a:srgbClr val="5A6A7A"/>
                </a:solidFill>
              </a:rPr>
              <a:t>Import assisté par IA, structuration et visualisation des données biologiques pour répondre aux besoins des laboratoires et structures de recherche</a:t>
            </a: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06CF879E-DB73-C1F7-1745-07F650C6627A}"/>
              </a:ext>
            </a:extLst>
          </p:cNvPr>
          <p:cNvSpPr/>
          <p:nvPr/>
        </p:nvSpPr>
        <p:spPr>
          <a:xfrm>
            <a:off x="7415410" y="2283787"/>
            <a:ext cx="137160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C5B18DBF-E2A7-D76F-C480-DAA73E36724B}"/>
              </a:ext>
            </a:extLst>
          </p:cNvPr>
          <p:cNvSpPr/>
          <p:nvPr/>
        </p:nvSpPr>
        <p:spPr>
          <a:xfrm>
            <a:off x="7415410" y="228378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Option #2</a:t>
            </a:r>
            <a:endParaRPr lang="fr-FR" sz="10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98ACD820-A66A-E51D-DC69-F19F30A9F6CC}"/>
              </a:ext>
            </a:extLst>
          </p:cNvPr>
          <p:cNvSpPr/>
          <p:nvPr/>
        </p:nvSpPr>
        <p:spPr>
          <a:xfrm>
            <a:off x="266156" y="3607636"/>
            <a:ext cx="8595360" cy="14020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5668A13E-C8FF-7637-DAA1-7565DB15EE54}"/>
              </a:ext>
            </a:extLst>
          </p:cNvPr>
          <p:cNvSpPr/>
          <p:nvPr/>
        </p:nvSpPr>
        <p:spPr>
          <a:xfrm>
            <a:off x="266155" y="3607636"/>
            <a:ext cx="164593" cy="1389888"/>
          </a:xfrm>
          <a:prstGeom prst="rect">
            <a:avLst/>
          </a:prstGeom>
          <a:solidFill>
            <a:srgbClr val="27AE6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4E122640-840B-979B-69E3-5E37CA82C298}"/>
              </a:ext>
            </a:extLst>
          </p:cNvPr>
          <p:cNvSpPr/>
          <p:nvPr/>
        </p:nvSpPr>
        <p:spPr>
          <a:xfrm>
            <a:off x="577052" y="36990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150" dirty="0">
                <a:solidFill>
                  <a:srgbClr val="27AE60"/>
                </a:solidFill>
              </a:rPr>
              <a:t>PLAN C : RETOUR À LA RECHERCHE EN LABORATOIRE</a:t>
            </a:r>
            <a:endParaRPr lang="fr-FR" sz="13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87DBC2C5-DEDC-36DD-0E71-8EF35ECBD91C}"/>
              </a:ext>
            </a:extLst>
          </p:cNvPr>
          <p:cNvSpPr/>
          <p:nvPr/>
        </p:nvSpPr>
        <p:spPr>
          <a:xfrm>
            <a:off x="577052" y="3917855"/>
            <a:ext cx="71672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dirty="0">
                <a:solidFill>
                  <a:srgbClr val="1B2A3E"/>
                </a:solidFill>
              </a:rPr>
              <a:t>Ingénieur d’étude en microbiologie — approches structurales &amp; computationnelles</a:t>
            </a:r>
            <a:endParaRPr lang="fr-FR" sz="135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543CED91-1F25-495B-FB78-1575432F844E}"/>
              </a:ext>
            </a:extLst>
          </p:cNvPr>
          <p:cNvSpPr/>
          <p:nvPr/>
        </p:nvSpPr>
        <p:spPr>
          <a:xfrm>
            <a:off x="503900" y="432707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fr-FR" sz="900" dirty="0">
                <a:solidFill>
                  <a:srgbClr val="5A6A7A"/>
                </a:solidFill>
              </a:rPr>
              <a:t>Valoriser les deux masters (biologie / biochimie) et l'expérience terrain acquise en laboratoire de microbiologie</a:t>
            </a:r>
            <a:endParaRPr lang="fr-FR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fr-FR" sz="900" dirty="0">
                <a:solidFill>
                  <a:srgbClr val="5A6A7A"/>
                </a:solidFill>
              </a:rPr>
              <a:t>Contribuer au développement de nouvelles approches structurales et computationnelle en recherche fondamentale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fr-FR" sz="900" dirty="0">
                <a:solidFill>
                  <a:srgbClr val="5A6A7A"/>
                </a:solidFill>
              </a:rPr>
              <a:t>Profil hybride  : biologiste + biologie computationnelle — Prédire, comprendre et trouver de nouvelles pistes thérapeutiques</a:t>
            </a:r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C57C0892-E864-AFE2-3D33-0792D5263FD5}"/>
              </a:ext>
            </a:extLst>
          </p:cNvPr>
          <p:cNvSpPr/>
          <p:nvPr/>
        </p:nvSpPr>
        <p:spPr>
          <a:xfrm>
            <a:off x="7415410" y="3691963"/>
            <a:ext cx="13716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5F72AA3C-7989-8D96-D3D1-5A589DBE09EB}"/>
              </a:ext>
            </a:extLst>
          </p:cNvPr>
          <p:cNvSpPr/>
          <p:nvPr/>
        </p:nvSpPr>
        <p:spPr>
          <a:xfrm>
            <a:off x="7415410" y="3691963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</a:rPr>
              <a:t>Option #3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180899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60E8E-8679-122E-5009-F11ED58F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img1.png">
            <a:extLst>
              <a:ext uri="{FF2B5EF4-FFF2-40B4-BE49-F238E27FC236}">
                <a16:creationId xmlns:a16="http://schemas.microsoft.com/office/drawing/2014/main" id="{237CEF15-EB61-2EB4-DB8A-93A289D6E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904" y="2119008"/>
            <a:ext cx="1500187" cy="1500187"/>
          </a:xfrm>
          <a:prstGeom prst="rect">
            <a:avLst/>
          </a:prstGeom>
        </p:spPr>
      </p:pic>
      <p:pic>
        <p:nvPicPr>
          <p:cNvPr id="3" name="Picture 4" descr="img2.png">
            <a:extLst>
              <a:ext uri="{FF2B5EF4-FFF2-40B4-BE49-F238E27FC236}">
                <a16:creationId xmlns:a16="http://schemas.microsoft.com/office/drawing/2014/main" id="{B3A4895A-79F0-C63B-63CB-B1E4469C5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248" y="868852"/>
            <a:ext cx="1571625" cy="1571625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80CC0CBC-FDAB-BBC8-44CD-C63BF3A5434A}"/>
              </a:ext>
            </a:extLst>
          </p:cNvPr>
          <p:cNvSpPr txBox="1"/>
          <p:nvPr/>
        </p:nvSpPr>
        <p:spPr>
          <a:xfrm>
            <a:off x="230748" y="1124535"/>
            <a:ext cx="282570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300" b="1" noProof="0" dirty="0">
                <a:solidFill>
                  <a:srgbClr val="0EA5E9"/>
                </a:solidFill>
                <a:latin typeface="Calibri"/>
              </a:rPr>
              <a:t>Double culture biologie/informatique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0D9B1E68-8A83-1B94-2363-2CC8EB68D46D}"/>
              </a:ext>
            </a:extLst>
          </p:cNvPr>
          <p:cNvSpPr txBox="1"/>
          <p:nvPr/>
        </p:nvSpPr>
        <p:spPr>
          <a:xfrm>
            <a:off x="651164" y="1496539"/>
            <a:ext cx="213488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900" b="0" noProof="0" dirty="0">
                <a:latin typeface="Calibri"/>
              </a:rPr>
              <a:t>Comprendre les données scientifiques </a:t>
            </a:r>
            <a:r>
              <a:rPr lang="fr-FR" sz="900" noProof="0" dirty="0">
                <a:latin typeface="Calibri"/>
              </a:rPr>
              <a:t>et</a:t>
            </a:r>
            <a:r>
              <a:rPr lang="fr-FR" sz="900" b="0" noProof="0" dirty="0">
                <a:latin typeface="Calibri"/>
              </a:rPr>
              <a:t> les coder : un atout rare que peu de profils maîtrisent des deux côtés.</a:t>
            </a:r>
          </a:p>
        </p:txBody>
      </p:sp>
      <p:pic>
        <p:nvPicPr>
          <p:cNvPr id="6" name="Picture 7" descr="img3.png">
            <a:extLst>
              <a:ext uri="{FF2B5EF4-FFF2-40B4-BE49-F238E27FC236}">
                <a16:creationId xmlns:a16="http://schemas.microsoft.com/office/drawing/2014/main" id="{174DCAC2-228D-C468-F982-9CE3B54E3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873" y="868852"/>
            <a:ext cx="1571625" cy="1571625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41951D2E-59F4-8609-D38D-6529424DA1E3}"/>
              </a:ext>
            </a:extLst>
          </p:cNvPr>
          <p:cNvSpPr txBox="1"/>
          <p:nvPr/>
        </p:nvSpPr>
        <p:spPr>
          <a:xfrm>
            <a:off x="6346664" y="1155188"/>
            <a:ext cx="27973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300" b="1" noProof="0" dirty="0">
                <a:solidFill>
                  <a:srgbClr val="3B82F6"/>
                </a:solidFill>
                <a:latin typeface="Calibri"/>
              </a:rPr>
              <a:t>Interface chercheurs / développeurs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B8109013-DB14-8170-877D-EA8D42443503}"/>
              </a:ext>
            </a:extLst>
          </p:cNvPr>
          <p:cNvSpPr txBox="1"/>
          <p:nvPr/>
        </p:nvSpPr>
        <p:spPr>
          <a:xfrm>
            <a:off x="6346664" y="1477681"/>
            <a:ext cx="200025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900" b="0" noProof="0" dirty="0">
                <a:latin typeface="Calibri"/>
              </a:rPr>
              <a:t>Capacité à traduire les besoins d’un </a:t>
            </a:r>
            <a:r>
              <a:rPr lang="fr-FR" sz="900" dirty="0">
                <a:latin typeface="Calibri"/>
              </a:rPr>
              <a:t>biologiste</a:t>
            </a:r>
            <a:r>
              <a:rPr lang="fr-FR" sz="900" b="0" noProof="0" dirty="0">
                <a:latin typeface="Calibri"/>
              </a:rPr>
              <a:t> en spécifications techniques et inversement.</a:t>
            </a:r>
          </a:p>
        </p:txBody>
      </p:sp>
      <p:pic>
        <p:nvPicPr>
          <p:cNvPr id="9" name="Picture 10" descr="img4.png">
            <a:extLst>
              <a:ext uri="{FF2B5EF4-FFF2-40B4-BE49-F238E27FC236}">
                <a16:creationId xmlns:a16="http://schemas.microsoft.com/office/drawing/2014/main" id="{61D2D276-C9E1-2315-B27C-5B465D6E8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0998" y="2190445"/>
            <a:ext cx="1571625" cy="1571625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7E571269-D563-E076-ABEA-29346F3370D6}"/>
              </a:ext>
            </a:extLst>
          </p:cNvPr>
          <p:cNvSpPr txBox="1"/>
          <p:nvPr/>
        </p:nvSpPr>
        <p:spPr>
          <a:xfrm>
            <a:off x="230748" y="2539864"/>
            <a:ext cx="189309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300" b="1" noProof="0" dirty="0">
                <a:solidFill>
                  <a:srgbClr val="8B5CF6"/>
                </a:solidFill>
                <a:latin typeface="Calibri"/>
              </a:rPr>
              <a:t>Rigueur scientifique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F1FFF863-F2F6-2A87-6AF5-EACA73C85658}"/>
              </a:ext>
            </a:extLst>
          </p:cNvPr>
          <p:cNvSpPr txBox="1"/>
          <p:nvPr/>
        </p:nvSpPr>
        <p:spPr>
          <a:xfrm>
            <a:off x="123592" y="2812818"/>
            <a:ext cx="2000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900" b="0" noProof="0" dirty="0">
                <a:latin typeface="Calibri"/>
              </a:rPr>
              <a:t>Apprise en laboratoire sur 10 ans : validation des données, traçabilité, reproductibilité — transposées au développement.</a:t>
            </a:r>
          </a:p>
        </p:txBody>
      </p:sp>
      <p:pic>
        <p:nvPicPr>
          <p:cNvPr id="12" name="Picture 13" descr="img5.png">
            <a:extLst>
              <a:ext uri="{FF2B5EF4-FFF2-40B4-BE49-F238E27FC236}">
                <a16:creationId xmlns:a16="http://schemas.microsoft.com/office/drawing/2014/main" id="{C86AD099-8E62-5C4A-43B4-2328F4554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1373" y="2190445"/>
            <a:ext cx="1571625" cy="1571625"/>
          </a:xfrm>
          <a:prstGeom prst="rect">
            <a:avLst/>
          </a:prstGeom>
        </p:spPr>
      </p:pic>
      <p:sp>
        <p:nvSpPr>
          <p:cNvPr id="13" name="TextBox 14">
            <a:extLst>
              <a:ext uri="{FF2B5EF4-FFF2-40B4-BE49-F238E27FC236}">
                <a16:creationId xmlns:a16="http://schemas.microsoft.com/office/drawing/2014/main" id="{A9DAE9A0-E6DF-D22A-B8BF-FE95CECD6299}"/>
              </a:ext>
            </a:extLst>
          </p:cNvPr>
          <p:cNvSpPr txBox="1"/>
          <p:nvPr/>
        </p:nvSpPr>
        <p:spPr>
          <a:xfrm>
            <a:off x="6882446" y="2477557"/>
            <a:ext cx="2000250" cy="32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300" b="1" noProof="0" dirty="0">
                <a:solidFill>
                  <a:srgbClr val="F59E0B"/>
                </a:solidFill>
                <a:latin typeface="Calibri"/>
              </a:rPr>
              <a:t>Structuration des données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94C30465-33C8-DF5A-06FE-A69E50087A15}"/>
              </a:ext>
            </a:extLst>
          </p:cNvPr>
          <p:cNvSpPr txBox="1"/>
          <p:nvPr/>
        </p:nvSpPr>
        <p:spPr>
          <a:xfrm>
            <a:off x="6882446" y="2741592"/>
            <a:ext cx="18930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900" b="0" noProof="0" dirty="0">
                <a:latin typeface="Calibri"/>
              </a:rPr>
              <a:t>Conception de schémas relationnels, pipelines ETL/IA et bases de données biologiques complexes.</a:t>
            </a:r>
          </a:p>
        </p:txBody>
      </p:sp>
      <p:pic>
        <p:nvPicPr>
          <p:cNvPr id="15" name="Picture 16" descr="img6.png">
            <a:extLst>
              <a:ext uri="{FF2B5EF4-FFF2-40B4-BE49-F238E27FC236}">
                <a16:creationId xmlns:a16="http://schemas.microsoft.com/office/drawing/2014/main" id="{74B04C27-370D-D9F9-C246-E1DEDA5DF9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8248" y="3383452"/>
            <a:ext cx="1500187" cy="1500187"/>
          </a:xfrm>
          <a:prstGeom prst="rect">
            <a:avLst/>
          </a:prstGeom>
        </p:spPr>
      </p:pic>
      <p:sp>
        <p:nvSpPr>
          <p:cNvPr id="16" name="TextBox 17">
            <a:extLst>
              <a:ext uri="{FF2B5EF4-FFF2-40B4-BE49-F238E27FC236}">
                <a16:creationId xmlns:a16="http://schemas.microsoft.com/office/drawing/2014/main" id="{DD291925-0D94-6BDE-FA58-7AAA0A3D042E}"/>
              </a:ext>
            </a:extLst>
          </p:cNvPr>
          <p:cNvSpPr txBox="1"/>
          <p:nvPr/>
        </p:nvSpPr>
        <p:spPr>
          <a:xfrm>
            <a:off x="381000" y="3758921"/>
            <a:ext cx="25808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300" b="1" dirty="0">
                <a:solidFill>
                  <a:srgbClr val="10B981"/>
                </a:solidFill>
                <a:latin typeface="Calibri"/>
              </a:rPr>
              <a:t>Montée en compétence technique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552131E5-B315-873F-F281-3895F0D30266}"/>
              </a:ext>
            </a:extLst>
          </p:cNvPr>
          <p:cNvSpPr txBox="1"/>
          <p:nvPr/>
        </p:nvSpPr>
        <p:spPr>
          <a:xfrm>
            <a:off x="876283" y="4040618"/>
            <a:ext cx="1684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900" dirty="0"/>
              <a:t>Backend &amp; données :</a:t>
            </a:r>
          </a:p>
          <a:p>
            <a:pPr algn="just"/>
            <a:r>
              <a:rPr lang="fr-FR" sz="900" dirty="0" err="1"/>
              <a:t>FastAPI</a:t>
            </a:r>
            <a:r>
              <a:rPr lang="fr-FR" sz="900" dirty="0"/>
              <a:t>, </a:t>
            </a:r>
            <a:r>
              <a:rPr lang="fr-FR" sz="900" dirty="0" err="1"/>
              <a:t>SQLModel</a:t>
            </a:r>
            <a:r>
              <a:rPr lang="fr-FR" sz="900" dirty="0"/>
              <a:t>, </a:t>
            </a:r>
            <a:r>
              <a:rPr lang="fr-FR" sz="900" dirty="0" err="1"/>
              <a:t>Alembic</a:t>
            </a:r>
            <a:endParaRPr lang="fr-FR" sz="900" dirty="0"/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900" dirty="0"/>
              <a:t>IA appliquée : </a:t>
            </a:r>
          </a:p>
          <a:p>
            <a:pPr algn="just"/>
            <a:r>
              <a:rPr lang="fr-FR" sz="900" dirty="0" err="1"/>
              <a:t>LangChain</a:t>
            </a:r>
            <a:r>
              <a:rPr lang="fr-FR" sz="900" dirty="0"/>
              <a:t>, </a:t>
            </a:r>
            <a:r>
              <a:rPr lang="fr-FR" sz="900" dirty="0" err="1"/>
              <a:t>Pydantic</a:t>
            </a:r>
            <a:r>
              <a:rPr lang="fr-FR" sz="900" dirty="0"/>
              <a:t> AI</a:t>
            </a:r>
            <a:endParaRPr lang="fr-FR" sz="900" b="0" noProof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8" name="Picture 19" descr="img7.png">
            <a:extLst>
              <a:ext uri="{FF2B5EF4-FFF2-40B4-BE49-F238E27FC236}">
                <a16:creationId xmlns:a16="http://schemas.microsoft.com/office/drawing/2014/main" id="{6EC6A5E8-FDDB-1EBB-C21F-393764272D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873" y="3383452"/>
            <a:ext cx="1500187" cy="1500187"/>
          </a:xfrm>
          <a:prstGeom prst="rect">
            <a:avLst/>
          </a:prstGeom>
        </p:spPr>
      </p:pic>
      <p:sp>
        <p:nvSpPr>
          <p:cNvPr id="19" name="TextBox 20">
            <a:extLst>
              <a:ext uri="{FF2B5EF4-FFF2-40B4-BE49-F238E27FC236}">
                <a16:creationId xmlns:a16="http://schemas.microsoft.com/office/drawing/2014/main" id="{1698A4D5-800F-B831-0F0E-25FB55D12F9F}"/>
              </a:ext>
            </a:extLst>
          </p:cNvPr>
          <p:cNvSpPr txBox="1"/>
          <p:nvPr/>
        </p:nvSpPr>
        <p:spPr>
          <a:xfrm>
            <a:off x="6346664" y="3719150"/>
            <a:ext cx="2000250" cy="32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300" b="1" noProof="0" dirty="0">
                <a:solidFill>
                  <a:srgbClr val="06B6D4"/>
                </a:solidFill>
                <a:latin typeface="Calibri"/>
              </a:rPr>
              <a:t>Équipe interdisciplinaire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AA8611AF-5166-7306-148C-4B97E1AF006B}"/>
              </a:ext>
            </a:extLst>
          </p:cNvPr>
          <p:cNvSpPr txBox="1"/>
          <p:nvPr/>
        </p:nvSpPr>
        <p:spPr>
          <a:xfrm>
            <a:off x="6346665" y="4026105"/>
            <a:ext cx="183575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900" b="0" noProof="0" dirty="0">
                <a:latin typeface="Calibri"/>
              </a:rPr>
              <a:t>Collaboration quotidienne avec chercheurs, ingénieurs et enseignants-chercheurs.</a:t>
            </a:r>
          </a:p>
        </p:txBody>
      </p:sp>
      <p:sp>
        <p:nvSpPr>
          <p:cNvPr id="78" name="Shape 0">
            <a:extLst>
              <a:ext uri="{FF2B5EF4-FFF2-40B4-BE49-F238E27FC236}">
                <a16:creationId xmlns:a16="http://schemas.microsoft.com/office/drawing/2014/main" id="{03C8F9A3-B607-5D53-ECBF-4109ED6CE181}"/>
              </a:ext>
            </a:extLst>
          </p:cNvPr>
          <p:cNvSpPr/>
          <p:nvPr/>
        </p:nvSpPr>
        <p:spPr>
          <a:xfrm>
            <a:off x="0" y="8389"/>
            <a:ext cx="9144000" cy="60157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9" name="Text 0">
            <a:extLst>
              <a:ext uri="{FF2B5EF4-FFF2-40B4-BE49-F238E27FC236}">
                <a16:creationId xmlns:a16="http://schemas.microsoft.com/office/drawing/2014/main" id="{DC7991CA-BEED-91BC-7BA3-170D94FED44C}"/>
              </a:ext>
            </a:extLst>
          </p:cNvPr>
          <p:cNvSpPr/>
          <p:nvPr/>
        </p:nvSpPr>
        <p:spPr>
          <a:xfrm>
            <a:off x="320040" y="9296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000" b="1" noProof="0" dirty="0">
                <a:solidFill>
                  <a:schemeClr val="bg1"/>
                </a:solidFill>
              </a:rPr>
              <a:t>06 — </a:t>
            </a:r>
            <a:r>
              <a:rPr lang="fr-FR" sz="2000" b="1" dirty="0">
                <a:solidFill>
                  <a:schemeClr val="bg1"/>
                </a:solidFill>
              </a:rPr>
              <a:t>Compétences clés pour l’ingénierie des données scientifiques</a:t>
            </a:r>
          </a:p>
        </p:txBody>
      </p:sp>
    </p:spTree>
    <p:extLst>
      <p:ext uri="{BB962C8B-B14F-4D97-AF65-F5344CB8AC3E}">
        <p14:creationId xmlns:p14="http://schemas.microsoft.com/office/powerpoint/2010/main" val="1765033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A907A-3445-2B72-1D47-D04FC01A09E0}"/>
              </a:ext>
            </a:extLst>
          </p:cNvPr>
          <p:cNvSpPr txBox="1"/>
          <p:nvPr/>
        </p:nvSpPr>
        <p:spPr>
          <a:xfrm>
            <a:off x="201168" y="182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7200" b="1" noProof="0" dirty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B6CF77-CD4F-6170-0C58-51254D6F306F}"/>
              </a:ext>
            </a:extLst>
          </p:cNvPr>
          <p:cNvSpPr txBox="1"/>
          <p:nvPr/>
        </p:nvSpPr>
        <p:spPr>
          <a:xfrm>
            <a:off x="201168" y="1188720"/>
            <a:ext cx="2306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noProof="0" dirty="0">
                <a:solidFill>
                  <a:schemeClr val="bg1"/>
                </a:solidFill>
                <a:latin typeface="Calibri"/>
              </a:rPr>
              <a:t>Les contraintes</a:t>
            </a:r>
          </a:p>
          <a:p>
            <a:r>
              <a:rPr lang="fr-FR" sz="1800" b="1" noProof="0" dirty="0">
                <a:solidFill>
                  <a:schemeClr val="bg1"/>
                </a:solidFill>
                <a:latin typeface="Calibri"/>
              </a:rPr>
              <a:t>&amp; réalités du métier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FAAF46-074C-B88F-A21B-F6E534F6AD84}"/>
              </a:ext>
            </a:extLst>
          </p:cNvPr>
          <p:cNvSpPr/>
          <p:nvPr/>
        </p:nvSpPr>
        <p:spPr>
          <a:xfrm>
            <a:off x="2807208" y="318087"/>
            <a:ext cx="1901952" cy="2176272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5182AF-6256-0504-308D-AAF51DEFB481}"/>
              </a:ext>
            </a:extLst>
          </p:cNvPr>
          <p:cNvSpPr/>
          <p:nvPr/>
        </p:nvSpPr>
        <p:spPr>
          <a:xfrm>
            <a:off x="2807208" y="318087"/>
            <a:ext cx="1901952" cy="502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A255A0-A5AA-13E1-ADC7-051A414509CD}"/>
              </a:ext>
            </a:extLst>
          </p:cNvPr>
          <p:cNvSpPr/>
          <p:nvPr/>
        </p:nvSpPr>
        <p:spPr>
          <a:xfrm>
            <a:off x="4361688" y="377523"/>
            <a:ext cx="274320" cy="2011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A13A4B-A68F-47F6-D8AA-1374E337D647}"/>
              </a:ext>
            </a:extLst>
          </p:cNvPr>
          <p:cNvSpPr txBox="1"/>
          <p:nvPr/>
        </p:nvSpPr>
        <p:spPr>
          <a:xfrm>
            <a:off x="4361688" y="377523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750" b="1" noProof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12" name="Picture 11" descr="icon1.png">
            <a:extLst>
              <a:ext uri="{FF2B5EF4-FFF2-40B4-BE49-F238E27FC236}">
                <a16:creationId xmlns:a16="http://schemas.microsoft.com/office/drawing/2014/main" id="{2500D951-3532-4905-FCAF-107C0EE2F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36" y="409527"/>
            <a:ext cx="347472" cy="3474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D8E49F-D9AB-74C1-924D-0AA8A80F91BF}"/>
              </a:ext>
            </a:extLst>
          </p:cNvPr>
          <p:cNvSpPr txBox="1"/>
          <p:nvPr/>
        </p:nvSpPr>
        <p:spPr>
          <a:xfrm>
            <a:off x="2898648" y="793575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50" b="1" noProof="0" dirty="0">
                <a:solidFill>
                  <a:srgbClr val="0EA5E9"/>
                </a:solidFill>
                <a:latin typeface="Calibri"/>
              </a:rPr>
              <a:t>Données complexes &amp; hétérogènes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A51272-B93D-748A-B73D-EC7BA3A319E4}"/>
              </a:ext>
            </a:extLst>
          </p:cNvPr>
          <p:cNvSpPr txBox="1"/>
          <p:nvPr/>
        </p:nvSpPr>
        <p:spPr>
          <a:xfrm>
            <a:off x="2898648" y="1433655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noProof="0" dirty="0">
                <a:solidFill>
                  <a:srgbClr val="334155"/>
                </a:solidFill>
                <a:latin typeface="Calibri"/>
              </a:rPr>
              <a:t>Les données biologiques sont rarement propres : colonnes fourre-tout, formats inconsistants, vocabulaire non standardisé. Structurer demande rigueur et patience.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8AE9BD-2D5F-8EC6-D44A-A2E334A4C17F}"/>
              </a:ext>
            </a:extLst>
          </p:cNvPr>
          <p:cNvSpPr/>
          <p:nvPr/>
        </p:nvSpPr>
        <p:spPr>
          <a:xfrm>
            <a:off x="4791456" y="318087"/>
            <a:ext cx="1901952" cy="21762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05C77B-05CA-0CC6-2C2F-E14B4584DA10}"/>
              </a:ext>
            </a:extLst>
          </p:cNvPr>
          <p:cNvSpPr/>
          <p:nvPr/>
        </p:nvSpPr>
        <p:spPr>
          <a:xfrm>
            <a:off x="4791456" y="318087"/>
            <a:ext cx="1901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4AA1CC-ECFD-4144-729F-20B09CE74310}"/>
              </a:ext>
            </a:extLst>
          </p:cNvPr>
          <p:cNvSpPr/>
          <p:nvPr/>
        </p:nvSpPr>
        <p:spPr>
          <a:xfrm>
            <a:off x="6345936" y="377523"/>
            <a:ext cx="27432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984F92-8C07-BA47-0480-69ED7E30F7EE}"/>
              </a:ext>
            </a:extLst>
          </p:cNvPr>
          <p:cNvSpPr txBox="1"/>
          <p:nvPr/>
        </p:nvSpPr>
        <p:spPr>
          <a:xfrm>
            <a:off x="6345936" y="377523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750" b="1" noProof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9" name="Picture 18" descr="icon2.png">
            <a:extLst>
              <a:ext uri="{FF2B5EF4-FFF2-40B4-BE49-F238E27FC236}">
                <a16:creationId xmlns:a16="http://schemas.microsoft.com/office/drawing/2014/main" id="{E6C47238-D3BB-3100-8068-01C7D152C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409527"/>
            <a:ext cx="347472" cy="3474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732F265-A52A-56FA-4E2F-B002DEC77358}"/>
              </a:ext>
            </a:extLst>
          </p:cNvPr>
          <p:cNvSpPr txBox="1"/>
          <p:nvPr/>
        </p:nvSpPr>
        <p:spPr>
          <a:xfrm>
            <a:off x="4882895" y="793575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50" b="1" noProof="0" dirty="0">
                <a:solidFill>
                  <a:srgbClr val="3B82F6"/>
                </a:solidFill>
                <a:latin typeface="Calibri"/>
              </a:rPr>
              <a:t>Veille technologique permanente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16035F-9D30-C533-A157-BDFAA69A25F2}"/>
              </a:ext>
            </a:extLst>
          </p:cNvPr>
          <p:cNvSpPr txBox="1"/>
          <p:nvPr/>
        </p:nvSpPr>
        <p:spPr>
          <a:xfrm>
            <a:off x="4882895" y="1433655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noProof="0" dirty="0">
                <a:solidFill>
                  <a:srgbClr val="334155"/>
                </a:solidFill>
                <a:latin typeface="Calibri"/>
              </a:rPr>
              <a:t>L'IA appliquée aux sciences du vivant évolue très vite (</a:t>
            </a:r>
            <a:r>
              <a:rPr lang="fr-FR" sz="850" noProof="0" dirty="0" err="1">
                <a:solidFill>
                  <a:srgbClr val="334155"/>
                </a:solidFill>
                <a:latin typeface="Calibri"/>
              </a:rPr>
              <a:t>LLMs</a:t>
            </a:r>
            <a:r>
              <a:rPr lang="fr-FR" sz="850" noProof="0" dirty="0">
                <a:solidFill>
                  <a:srgbClr val="334155"/>
                </a:solidFill>
                <a:latin typeface="Calibri"/>
              </a:rPr>
              <a:t>, agents, </a:t>
            </a:r>
            <a:r>
              <a:rPr lang="fr-FR" sz="850" noProof="0" dirty="0" err="1">
                <a:solidFill>
                  <a:srgbClr val="334155"/>
                </a:solidFill>
                <a:latin typeface="Calibri"/>
              </a:rPr>
              <a:t>embeddings</a:t>
            </a:r>
            <a:r>
              <a:rPr lang="fr-FR" sz="850" noProof="0" dirty="0">
                <a:solidFill>
                  <a:srgbClr val="334155"/>
                </a:solidFill>
                <a:latin typeface="Calibri"/>
              </a:rPr>
              <a:t>). Rester à jour est une obligation, pas un choix.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ADDFE3-8E87-9BE5-A312-876EADF5F66C}"/>
              </a:ext>
            </a:extLst>
          </p:cNvPr>
          <p:cNvSpPr/>
          <p:nvPr/>
        </p:nvSpPr>
        <p:spPr>
          <a:xfrm>
            <a:off x="6775704" y="318087"/>
            <a:ext cx="1901952" cy="217627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1B2E82-B373-F5D3-6F75-EBD1475876F7}"/>
              </a:ext>
            </a:extLst>
          </p:cNvPr>
          <p:cNvSpPr/>
          <p:nvPr/>
        </p:nvSpPr>
        <p:spPr>
          <a:xfrm>
            <a:off x="6775704" y="318087"/>
            <a:ext cx="1901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C0E1BD-4A04-A577-80C4-76B7F1D7766C}"/>
              </a:ext>
            </a:extLst>
          </p:cNvPr>
          <p:cNvSpPr/>
          <p:nvPr/>
        </p:nvSpPr>
        <p:spPr>
          <a:xfrm>
            <a:off x="8330183" y="377523"/>
            <a:ext cx="27432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909AED-AEFA-DF0D-F496-82BC96F13F00}"/>
              </a:ext>
            </a:extLst>
          </p:cNvPr>
          <p:cNvSpPr txBox="1"/>
          <p:nvPr/>
        </p:nvSpPr>
        <p:spPr>
          <a:xfrm>
            <a:off x="8330183" y="377523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750" b="1" noProof="0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26" name="Picture 25" descr="icon3.png">
            <a:extLst>
              <a:ext uri="{FF2B5EF4-FFF2-40B4-BE49-F238E27FC236}">
                <a16:creationId xmlns:a16="http://schemas.microsoft.com/office/drawing/2014/main" id="{6A23E025-01D3-F21E-07D7-48A6F8B13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409527"/>
            <a:ext cx="347472" cy="3474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C7BD95F-19E8-ACBE-3980-156CCCFA47E9}"/>
              </a:ext>
            </a:extLst>
          </p:cNvPr>
          <p:cNvSpPr txBox="1"/>
          <p:nvPr/>
        </p:nvSpPr>
        <p:spPr>
          <a:xfrm>
            <a:off x="6867143" y="793575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50" b="1" noProof="0" dirty="0">
                <a:solidFill>
                  <a:srgbClr val="F59E0B"/>
                </a:solidFill>
                <a:latin typeface="Calibri"/>
              </a:rPr>
              <a:t>Équilibre besoins scientifiques / contraintes techniques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932FC7-2E72-C359-5753-82C2FDD99986}"/>
              </a:ext>
            </a:extLst>
          </p:cNvPr>
          <p:cNvSpPr txBox="1"/>
          <p:nvPr/>
        </p:nvSpPr>
        <p:spPr>
          <a:xfrm>
            <a:off x="6867143" y="1433655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noProof="0" dirty="0">
                <a:solidFill>
                  <a:srgbClr val="334155"/>
                </a:solidFill>
                <a:latin typeface="Calibri"/>
              </a:rPr>
              <a:t>Les chercheurs ont des attentes parfois contradictoires avec les contraintes système. Trouver le bon compromis demande diplomatie et expérience.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D27B77-E521-C048-6898-34D4D7F4D490}"/>
              </a:ext>
            </a:extLst>
          </p:cNvPr>
          <p:cNvSpPr/>
          <p:nvPr/>
        </p:nvSpPr>
        <p:spPr>
          <a:xfrm>
            <a:off x="2807208" y="2658951"/>
            <a:ext cx="1901952" cy="217627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604853-F332-CC86-DBCB-69C908B39BDA}"/>
              </a:ext>
            </a:extLst>
          </p:cNvPr>
          <p:cNvSpPr/>
          <p:nvPr/>
        </p:nvSpPr>
        <p:spPr>
          <a:xfrm>
            <a:off x="2807208" y="2658951"/>
            <a:ext cx="1901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5FD03A-02CA-C417-32CB-89F0B5F1525D}"/>
              </a:ext>
            </a:extLst>
          </p:cNvPr>
          <p:cNvSpPr/>
          <p:nvPr/>
        </p:nvSpPr>
        <p:spPr>
          <a:xfrm>
            <a:off x="4361688" y="2718387"/>
            <a:ext cx="274320" cy="2011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656C23-63BB-4C3A-A56D-86A4791D9BEF}"/>
              </a:ext>
            </a:extLst>
          </p:cNvPr>
          <p:cNvSpPr txBox="1"/>
          <p:nvPr/>
        </p:nvSpPr>
        <p:spPr>
          <a:xfrm>
            <a:off x="4361688" y="2718387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750" b="1" noProof="0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33" name="Picture 32" descr="icon4.png">
            <a:extLst>
              <a:ext uri="{FF2B5EF4-FFF2-40B4-BE49-F238E27FC236}">
                <a16:creationId xmlns:a16="http://schemas.microsoft.com/office/drawing/2014/main" id="{C6D3EAD5-A281-49A2-01CE-72F31CB60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936" y="2750391"/>
            <a:ext cx="347472" cy="34747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2220558-BB0C-FB70-DFD8-F1FF1444A398}"/>
              </a:ext>
            </a:extLst>
          </p:cNvPr>
          <p:cNvSpPr txBox="1"/>
          <p:nvPr/>
        </p:nvSpPr>
        <p:spPr>
          <a:xfrm>
            <a:off x="2898648" y="3134439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50" b="1" noProof="0" dirty="0">
                <a:solidFill>
                  <a:srgbClr val="8B5CF6"/>
                </a:solidFill>
                <a:latin typeface="Calibri"/>
              </a:rPr>
              <a:t>Travail interdisciplinaire exigeant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3B7226-439F-A4C1-8BF8-17D75714A5A9}"/>
              </a:ext>
            </a:extLst>
          </p:cNvPr>
          <p:cNvSpPr txBox="1"/>
          <p:nvPr/>
        </p:nvSpPr>
        <p:spPr>
          <a:xfrm>
            <a:off x="2898648" y="3774519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noProof="0" dirty="0">
                <a:solidFill>
                  <a:srgbClr val="334155"/>
                </a:solidFill>
                <a:latin typeface="Calibri"/>
              </a:rPr>
              <a:t>Collaborer avec des biologistes, </a:t>
            </a:r>
            <a:r>
              <a:rPr lang="fr-FR" sz="850" noProof="0" dirty="0" err="1">
                <a:solidFill>
                  <a:srgbClr val="334155"/>
                </a:solidFill>
                <a:latin typeface="Calibri"/>
              </a:rPr>
              <a:t>bioinformaticiens</a:t>
            </a:r>
            <a:r>
              <a:rPr lang="fr-FR" sz="850" noProof="0" dirty="0">
                <a:solidFill>
                  <a:srgbClr val="334155"/>
                </a:solidFill>
                <a:latin typeface="Calibri"/>
              </a:rPr>
              <a:t>, médecins et ingénieurs nécessite un langage commun que l'on doit construire soi-même.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1351D0-8B02-5A81-116B-0917C0C26A8A}"/>
              </a:ext>
            </a:extLst>
          </p:cNvPr>
          <p:cNvSpPr/>
          <p:nvPr/>
        </p:nvSpPr>
        <p:spPr>
          <a:xfrm>
            <a:off x="4791456" y="2658951"/>
            <a:ext cx="1901952" cy="2176272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DA4ED7-671D-AF5A-8935-93EECEC51D55}"/>
              </a:ext>
            </a:extLst>
          </p:cNvPr>
          <p:cNvSpPr/>
          <p:nvPr/>
        </p:nvSpPr>
        <p:spPr>
          <a:xfrm>
            <a:off x="4791456" y="2658951"/>
            <a:ext cx="1901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ACF399-5C00-600C-301C-47528D711590}"/>
              </a:ext>
            </a:extLst>
          </p:cNvPr>
          <p:cNvSpPr/>
          <p:nvPr/>
        </p:nvSpPr>
        <p:spPr>
          <a:xfrm>
            <a:off x="6345936" y="2718387"/>
            <a:ext cx="2743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237E29-202F-3DFD-781B-B42DDD5583D3}"/>
              </a:ext>
            </a:extLst>
          </p:cNvPr>
          <p:cNvSpPr txBox="1"/>
          <p:nvPr/>
        </p:nvSpPr>
        <p:spPr>
          <a:xfrm>
            <a:off x="6345936" y="2718387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750" b="1" noProof="0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40" name="Picture 39" descr="icon5.png">
            <a:extLst>
              <a:ext uri="{FF2B5EF4-FFF2-40B4-BE49-F238E27FC236}">
                <a16:creationId xmlns:a16="http://schemas.microsoft.com/office/drawing/2014/main" id="{779199FB-EAC0-46B8-2FE6-3EFF967CE4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750391"/>
            <a:ext cx="347472" cy="34747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8557A07-DCC6-19B5-07B5-571D752521D7}"/>
              </a:ext>
            </a:extLst>
          </p:cNvPr>
          <p:cNvSpPr txBox="1"/>
          <p:nvPr/>
        </p:nvSpPr>
        <p:spPr>
          <a:xfrm>
            <a:off x="4882895" y="3134439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50" b="1" noProof="0" dirty="0">
                <a:solidFill>
                  <a:srgbClr val="10B981"/>
                </a:solidFill>
                <a:latin typeface="Calibri"/>
              </a:rPr>
              <a:t>Apprentissage continu non négociable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3DEC7F-0277-F4BE-81FC-52BA528FEB61}"/>
              </a:ext>
            </a:extLst>
          </p:cNvPr>
          <p:cNvSpPr txBox="1"/>
          <p:nvPr/>
        </p:nvSpPr>
        <p:spPr>
          <a:xfrm>
            <a:off x="4882895" y="3788373"/>
            <a:ext cx="180136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noProof="0" dirty="0">
                <a:solidFill>
                  <a:srgbClr val="334155"/>
                </a:solidFill>
                <a:latin typeface="Calibri"/>
              </a:rPr>
              <a:t>Les outils, </a:t>
            </a:r>
            <a:r>
              <a:rPr lang="fr-FR" sz="850" noProof="0" dirty="0" err="1">
                <a:solidFill>
                  <a:srgbClr val="334155"/>
                </a:solidFill>
                <a:latin typeface="Calibri"/>
              </a:rPr>
              <a:t>frameworks</a:t>
            </a:r>
            <a:r>
              <a:rPr lang="fr-FR" sz="850" noProof="0" dirty="0">
                <a:solidFill>
                  <a:srgbClr val="334155"/>
                </a:solidFill>
                <a:latin typeface="Calibri"/>
              </a:rPr>
              <a:t> et pratiques évoluent. Se former en permanence fait partie intégrante du métier, même hors des heures de travail.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B61883B-C4A7-31C9-8B7F-D958C6D6E290}"/>
              </a:ext>
            </a:extLst>
          </p:cNvPr>
          <p:cNvSpPr/>
          <p:nvPr/>
        </p:nvSpPr>
        <p:spPr>
          <a:xfrm>
            <a:off x="6775704" y="2658951"/>
            <a:ext cx="1901952" cy="2176272"/>
          </a:xfrm>
          <a:prstGeom prst="rect">
            <a:avLst/>
          </a:prstGeom>
          <a:solidFill>
            <a:srgbClr val="ECFE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86D427F-48FC-B57C-2F38-4C8121AB1149}"/>
              </a:ext>
            </a:extLst>
          </p:cNvPr>
          <p:cNvSpPr/>
          <p:nvPr/>
        </p:nvSpPr>
        <p:spPr>
          <a:xfrm>
            <a:off x="6775704" y="2658951"/>
            <a:ext cx="1901952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69DF63-2C85-24EA-AB41-45C5B884820B}"/>
              </a:ext>
            </a:extLst>
          </p:cNvPr>
          <p:cNvSpPr/>
          <p:nvPr/>
        </p:nvSpPr>
        <p:spPr>
          <a:xfrm>
            <a:off x="8330183" y="2718387"/>
            <a:ext cx="274320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A6C4BF-BCDA-F4BC-9EE2-8B43D4030549}"/>
              </a:ext>
            </a:extLst>
          </p:cNvPr>
          <p:cNvSpPr txBox="1"/>
          <p:nvPr/>
        </p:nvSpPr>
        <p:spPr>
          <a:xfrm>
            <a:off x="8330183" y="2718387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750" b="1" noProof="0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47" name="Picture 46" descr="icon6.png">
            <a:extLst>
              <a:ext uri="{FF2B5EF4-FFF2-40B4-BE49-F238E27FC236}">
                <a16:creationId xmlns:a16="http://schemas.microsoft.com/office/drawing/2014/main" id="{11B29006-8AF7-B28D-944A-C2B01FABAF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2" y="2750391"/>
            <a:ext cx="347472" cy="34747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30D63A1-384C-6DC2-4219-9F2637B9AC83}"/>
              </a:ext>
            </a:extLst>
          </p:cNvPr>
          <p:cNvSpPr txBox="1"/>
          <p:nvPr/>
        </p:nvSpPr>
        <p:spPr>
          <a:xfrm>
            <a:off x="6867143" y="3134439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50" b="1" noProof="0" dirty="0">
                <a:solidFill>
                  <a:srgbClr val="06B6D4"/>
                </a:solidFill>
                <a:latin typeface="Calibri"/>
              </a:rPr>
              <a:t>Marché de niche — moins de postes visibles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7EDDBE-40DF-75AF-D57A-DE29745936A9}"/>
              </a:ext>
            </a:extLst>
          </p:cNvPr>
          <p:cNvSpPr txBox="1"/>
          <p:nvPr/>
        </p:nvSpPr>
        <p:spPr>
          <a:xfrm>
            <a:off x="6867143" y="3774519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50" noProof="0" dirty="0">
                <a:solidFill>
                  <a:srgbClr val="334155"/>
                </a:solidFill>
                <a:latin typeface="Calibri"/>
              </a:rPr>
              <a:t>Les offres bio-info sont moins nombreuses que dans le web généraliste. Il faut savoir chercher (SFBI, APEC CNRS), se positionner et se démarquer.</a:t>
            </a:r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0C03FDE9-8F9B-7212-4138-1689868EE22B}"/>
              </a:ext>
            </a:extLst>
          </p:cNvPr>
          <p:cNvSpPr/>
          <p:nvPr/>
        </p:nvSpPr>
        <p:spPr>
          <a:xfrm>
            <a:off x="0" y="13577"/>
            <a:ext cx="2267712" cy="5143500"/>
          </a:xfrm>
          <a:prstGeom prst="rect">
            <a:avLst/>
          </a:prstGeom>
          <a:solidFill>
            <a:srgbClr val="06061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Box 2">
            <a:extLst>
              <a:ext uri="{FF2B5EF4-FFF2-40B4-BE49-F238E27FC236}">
                <a16:creationId xmlns:a16="http://schemas.microsoft.com/office/drawing/2014/main" id="{30DBEC40-B8B8-F8E6-D2ED-E8A6A99F4C65}"/>
              </a:ext>
            </a:extLst>
          </p:cNvPr>
          <p:cNvSpPr txBox="1"/>
          <p:nvPr/>
        </p:nvSpPr>
        <p:spPr>
          <a:xfrm>
            <a:off x="-1" y="101566"/>
            <a:ext cx="23065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>
                <a:solidFill>
                  <a:srgbClr val="FFFFFF"/>
                </a:solidFill>
                <a:latin typeface="Calibri"/>
              </a:rPr>
              <a:t>07 : </a:t>
            </a:r>
          </a:p>
          <a:p>
            <a:r>
              <a:rPr lang="fr-FR" sz="2000" b="1" noProof="0" dirty="0">
                <a:solidFill>
                  <a:schemeClr val="bg1"/>
                </a:solidFill>
              </a:rPr>
              <a:t>Les contraintes</a:t>
            </a:r>
          </a:p>
          <a:p>
            <a:r>
              <a:rPr lang="fr-FR" sz="2000" b="1" noProof="0" dirty="0">
                <a:solidFill>
                  <a:schemeClr val="bg1"/>
                </a:solidFill>
              </a:rPr>
              <a:t>&amp; réalités du métier</a:t>
            </a:r>
          </a:p>
          <a:p>
            <a:pPr algn="l"/>
            <a:endParaRPr lang="fr-FR" sz="20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4" name="TextBox 6">
            <a:extLst>
              <a:ext uri="{FF2B5EF4-FFF2-40B4-BE49-F238E27FC236}">
                <a16:creationId xmlns:a16="http://schemas.microsoft.com/office/drawing/2014/main" id="{B1468044-AD3D-CD16-301A-4CA374D4D7DE}"/>
              </a:ext>
            </a:extLst>
          </p:cNvPr>
          <p:cNvSpPr txBox="1"/>
          <p:nvPr/>
        </p:nvSpPr>
        <p:spPr>
          <a:xfrm>
            <a:off x="-9144" y="2029131"/>
            <a:ext cx="227685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50" i="1" noProof="0" dirty="0">
                <a:solidFill>
                  <a:schemeClr val="bg1"/>
                </a:solidFill>
                <a:latin typeface="Calibri"/>
              </a:rPr>
              <a:t>Ces contraintes sont connues et assumées — elles font partie de ce qui rend ce travail enrichissant.</a:t>
            </a: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ACF8439D-7DD8-D36B-4E33-B660D1E9B27F}"/>
              </a:ext>
            </a:extLst>
          </p:cNvPr>
          <p:cNvSpPr txBox="1"/>
          <p:nvPr/>
        </p:nvSpPr>
        <p:spPr>
          <a:xfrm>
            <a:off x="-9144" y="1544383"/>
            <a:ext cx="2276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i="1" noProof="0" dirty="0">
                <a:solidFill>
                  <a:schemeClr val="bg1"/>
                </a:solidFill>
                <a:latin typeface="Calibri"/>
              </a:rPr>
              <a:t>Savoir où on met les pieds — ce métier est exigeant et stimulant à la fois</a:t>
            </a:r>
            <a:r>
              <a:rPr lang="fr-FR" sz="900" i="1" noProof="0" dirty="0">
                <a:solidFill>
                  <a:srgbClr val="93C5FD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776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79A97-06DA-807A-55F2-6E1AF345D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501B3DD7-DFF3-B3CF-A2B0-3D3396549E3A}"/>
              </a:ext>
            </a:extLst>
          </p:cNvPr>
          <p:cNvSpPr/>
          <p:nvPr/>
        </p:nvSpPr>
        <p:spPr>
          <a:xfrm>
            <a:off x="0" y="8389"/>
            <a:ext cx="9144000" cy="60157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79615CF2-832B-A6C0-DB2A-B9145192B8E8}"/>
              </a:ext>
            </a:extLst>
          </p:cNvPr>
          <p:cNvSpPr/>
          <p:nvPr/>
        </p:nvSpPr>
        <p:spPr>
          <a:xfrm>
            <a:off x="233553" y="749808"/>
            <a:ext cx="1389888" cy="804672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0B734ED6-4815-6B0E-4753-2172017342B0}"/>
              </a:ext>
            </a:extLst>
          </p:cNvPr>
          <p:cNvSpPr/>
          <p:nvPr/>
        </p:nvSpPr>
        <p:spPr>
          <a:xfrm>
            <a:off x="306705" y="78638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dirty="0">
                <a:solidFill>
                  <a:srgbClr val="0891B2"/>
                </a:solidFill>
              </a:rPr>
              <a:t>#1</a:t>
            </a:r>
            <a:endParaRPr lang="fr-FR" sz="2200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920CBB12-D276-F531-2E77-538BB2118DDC}"/>
              </a:ext>
            </a:extLst>
          </p:cNvPr>
          <p:cNvSpPr/>
          <p:nvPr/>
        </p:nvSpPr>
        <p:spPr>
          <a:xfrm>
            <a:off x="288417" y="1197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1B2A4A"/>
                </a:solidFill>
              </a:rPr>
              <a:t>Compétence recherchée</a:t>
            </a:r>
            <a:endParaRPr lang="fr-FR" sz="75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EEE7C619-D1E5-B72B-7875-DB98668379B1}"/>
              </a:ext>
            </a:extLst>
          </p:cNvPr>
          <p:cNvSpPr/>
          <p:nvPr/>
        </p:nvSpPr>
        <p:spPr>
          <a:xfrm>
            <a:off x="288417" y="1371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650" dirty="0">
                <a:solidFill>
                  <a:srgbClr val="64748B"/>
                </a:solidFill>
              </a:rPr>
              <a:t>Data Engineering 2026</a:t>
            </a:r>
            <a:endParaRPr lang="fr-FR" sz="650" dirty="0"/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41E882E5-EB69-3D1A-BA41-EBCFE65A1A50}"/>
              </a:ext>
            </a:extLst>
          </p:cNvPr>
          <p:cNvSpPr/>
          <p:nvPr/>
        </p:nvSpPr>
        <p:spPr>
          <a:xfrm>
            <a:off x="1678305" y="749808"/>
            <a:ext cx="138988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6AFEE594-2DA2-259F-1066-B749BCC96D34}"/>
              </a:ext>
            </a:extLst>
          </p:cNvPr>
          <p:cNvSpPr/>
          <p:nvPr/>
        </p:nvSpPr>
        <p:spPr>
          <a:xfrm>
            <a:off x="1751457" y="78638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dirty="0">
                <a:solidFill>
                  <a:srgbClr val="0891B2"/>
                </a:solidFill>
              </a:rPr>
              <a:t>46%</a:t>
            </a:r>
            <a:endParaRPr lang="fr-FR" sz="22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4DE035BC-D83B-0019-3CD6-69381FEBD47D}"/>
              </a:ext>
            </a:extLst>
          </p:cNvPr>
          <p:cNvSpPr/>
          <p:nvPr/>
        </p:nvSpPr>
        <p:spPr>
          <a:xfrm>
            <a:off x="1733169" y="1197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1B2A4A"/>
                </a:solidFill>
              </a:rPr>
              <a:t>des recruteurs</a:t>
            </a:r>
            <a:endParaRPr lang="fr-FR" sz="75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949D181C-2FAD-089D-F4C1-09903D4177CE}"/>
              </a:ext>
            </a:extLst>
          </p:cNvPr>
          <p:cNvSpPr/>
          <p:nvPr/>
        </p:nvSpPr>
        <p:spPr>
          <a:xfrm>
            <a:off x="1733169" y="1371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650" dirty="0">
                <a:solidFill>
                  <a:srgbClr val="64748B"/>
                </a:solidFill>
              </a:rPr>
              <a:t>veulent du Data Eng.</a:t>
            </a:r>
            <a:endParaRPr lang="fr-FR" sz="650" dirty="0"/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7293C564-839B-A4C5-F3FF-3E29105DD9A2}"/>
              </a:ext>
            </a:extLst>
          </p:cNvPr>
          <p:cNvSpPr/>
          <p:nvPr/>
        </p:nvSpPr>
        <p:spPr>
          <a:xfrm>
            <a:off x="3123057" y="749808"/>
            <a:ext cx="1389888" cy="80467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9E517799-3A7A-F752-7DCD-3DA7D5F25D21}"/>
              </a:ext>
            </a:extLst>
          </p:cNvPr>
          <p:cNvSpPr/>
          <p:nvPr/>
        </p:nvSpPr>
        <p:spPr>
          <a:xfrm>
            <a:off x="3196209" y="78638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dirty="0">
                <a:solidFill>
                  <a:srgbClr val="059669"/>
                </a:solidFill>
              </a:rPr>
              <a:t>#2</a:t>
            </a:r>
            <a:endParaRPr lang="fr-FR" sz="220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4D95151B-1AF1-4A23-6B0F-86BAD00C89AD}"/>
              </a:ext>
            </a:extLst>
          </p:cNvPr>
          <p:cNvSpPr/>
          <p:nvPr/>
        </p:nvSpPr>
        <p:spPr>
          <a:xfrm>
            <a:off x="3177921" y="1197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1B2A4A"/>
                </a:solidFill>
              </a:rPr>
              <a:t>Compétence demandée</a:t>
            </a:r>
            <a:endParaRPr lang="fr-FR" sz="750" dirty="0"/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36DD220C-B823-8589-9072-3EACC04F96D4}"/>
              </a:ext>
            </a:extLst>
          </p:cNvPr>
          <p:cNvSpPr/>
          <p:nvPr/>
        </p:nvSpPr>
        <p:spPr>
          <a:xfrm>
            <a:off x="3177921" y="1371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650" dirty="0">
                <a:solidFill>
                  <a:srgbClr val="64748B"/>
                </a:solidFill>
              </a:rPr>
              <a:t>IA appliquée au métier</a:t>
            </a:r>
            <a:endParaRPr lang="fr-FR" sz="650" dirty="0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3887E1E0-2BD2-6F16-4439-94EC8EDC23BF}"/>
              </a:ext>
            </a:extLst>
          </p:cNvPr>
          <p:cNvSpPr/>
          <p:nvPr/>
        </p:nvSpPr>
        <p:spPr>
          <a:xfrm>
            <a:off x="4567809" y="749808"/>
            <a:ext cx="138988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A11E0264-5AD4-B790-E9B4-CD04C81C942D}"/>
              </a:ext>
            </a:extLst>
          </p:cNvPr>
          <p:cNvSpPr/>
          <p:nvPr/>
        </p:nvSpPr>
        <p:spPr>
          <a:xfrm>
            <a:off x="4640961" y="78638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dirty="0">
                <a:solidFill>
                  <a:srgbClr val="059669"/>
                </a:solidFill>
              </a:rPr>
              <a:t>35%</a:t>
            </a:r>
            <a:endParaRPr lang="fr-FR" sz="2200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35AF1703-0781-912C-5EC1-3A133FC60EBE}"/>
              </a:ext>
            </a:extLst>
          </p:cNvPr>
          <p:cNvSpPr/>
          <p:nvPr/>
        </p:nvSpPr>
        <p:spPr>
          <a:xfrm>
            <a:off x="4622673" y="1197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1B2A4A"/>
                </a:solidFill>
              </a:rPr>
              <a:t>des recruteurs</a:t>
            </a:r>
            <a:endParaRPr lang="fr-FR" sz="75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1A840515-08B1-4DAF-ED5D-A985A2FA7AD8}"/>
              </a:ext>
            </a:extLst>
          </p:cNvPr>
          <p:cNvSpPr/>
          <p:nvPr/>
        </p:nvSpPr>
        <p:spPr>
          <a:xfrm>
            <a:off x="4622673" y="1371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650" dirty="0">
                <a:solidFill>
                  <a:srgbClr val="64748B"/>
                </a:solidFill>
              </a:rPr>
              <a:t>veulent de l'IA appliquée</a:t>
            </a:r>
            <a:endParaRPr lang="fr-FR" sz="65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59A9AB8B-49E5-3B78-5C53-D46408CCF906}"/>
              </a:ext>
            </a:extLst>
          </p:cNvPr>
          <p:cNvSpPr/>
          <p:nvPr/>
        </p:nvSpPr>
        <p:spPr>
          <a:xfrm>
            <a:off x="6012561" y="749808"/>
            <a:ext cx="1389888" cy="804672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1BD70486-25BE-7E95-2902-8C477EAC8F9B}"/>
              </a:ext>
            </a:extLst>
          </p:cNvPr>
          <p:cNvSpPr/>
          <p:nvPr/>
        </p:nvSpPr>
        <p:spPr>
          <a:xfrm>
            <a:off x="6085713" y="78638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dirty="0">
                <a:solidFill>
                  <a:srgbClr val="EA580C"/>
                </a:solidFill>
              </a:rPr>
              <a:t>23%</a:t>
            </a:r>
            <a:endParaRPr lang="fr-FR" sz="2200" dirty="0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AA516359-6B85-26DF-9E4D-8290AFEF9D2F}"/>
              </a:ext>
            </a:extLst>
          </p:cNvPr>
          <p:cNvSpPr/>
          <p:nvPr/>
        </p:nvSpPr>
        <p:spPr>
          <a:xfrm>
            <a:off x="6067425" y="1197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1B2A4A"/>
                </a:solidFill>
              </a:rPr>
              <a:t>des profils data</a:t>
            </a:r>
            <a:endParaRPr lang="fr-FR" sz="750" dirty="0"/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733B79FF-9E33-A58C-AB1F-BC2383E01D7D}"/>
              </a:ext>
            </a:extLst>
          </p:cNvPr>
          <p:cNvSpPr/>
          <p:nvPr/>
        </p:nvSpPr>
        <p:spPr>
          <a:xfrm>
            <a:off x="6067425" y="1371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650" dirty="0">
                <a:solidFill>
                  <a:srgbClr val="64748B"/>
                </a:solidFill>
              </a:rPr>
              <a:t>sont Data </a:t>
            </a:r>
            <a:r>
              <a:rPr lang="fr-FR" sz="650" dirty="0" err="1">
                <a:solidFill>
                  <a:srgbClr val="64748B"/>
                </a:solidFill>
              </a:rPr>
              <a:t>Engineers</a:t>
            </a:r>
            <a:endParaRPr lang="fr-FR" sz="650" dirty="0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FEE5D4C6-A682-94C2-C690-7CB8DF1A1AA5}"/>
              </a:ext>
            </a:extLst>
          </p:cNvPr>
          <p:cNvSpPr/>
          <p:nvPr/>
        </p:nvSpPr>
        <p:spPr>
          <a:xfrm>
            <a:off x="7457313" y="749808"/>
            <a:ext cx="1389888" cy="804672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74514FCC-B406-ADDC-0906-98526279B7B4}"/>
              </a:ext>
            </a:extLst>
          </p:cNvPr>
          <p:cNvSpPr/>
          <p:nvPr/>
        </p:nvSpPr>
        <p:spPr>
          <a:xfrm>
            <a:off x="7530465" y="78638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dirty="0">
                <a:solidFill>
                  <a:srgbClr val="7C3AED"/>
                </a:solidFill>
              </a:rPr>
              <a:t>41%</a:t>
            </a:r>
            <a:endParaRPr lang="fr-FR" sz="2200" dirty="0"/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78D1028C-67D4-9E97-293A-5C37B6B783E6}"/>
              </a:ext>
            </a:extLst>
          </p:cNvPr>
          <p:cNvSpPr/>
          <p:nvPr/>
        </p:nvSpPr>
        <p:spPr>
          <a:xfrm>
            <a:off x="7512177" y="1197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1B2A4A"/>
                </a:solidFill>
              </a:rPr>
              <a:t>travaillent</a:t>
            </a:r>
            <a:endParaRPr lang="fr-FR" sz="750" dirty="0"/>
          </a:p>
        </p:txBody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23C0CF69-9E13-E220-7C06-1CD8D9D661ED}"/>
              </a:ext>
            </a:extLst>
          </p:cNvPr>
          <p:cNvSpPr/>
          <p:nvPr/>
        </p:nvSpPr>
        <p:spPr>
          <a:xfrm>
            <a:off x="7512177" y="1371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650" dirty="0">
                <a:solidFill>
                  <a:srgbClr val="64748B"/>
                </a:solidFill>
              </a:rPr>
              <a:t>3j/</a:t>
            </a:r>
            <a:r>
              <a:rPr lang="fr-FR" sz="650" dirty="0" err="1">
                <a:solidFill>
                  <a:srgbClr val="64748B"/>
                </a:solidFill>
              </a:rPr>
              <a:t>sem</a:t>
            </a:r>
            <a:r>
              <a:rPr lang="fr-FR" sz="650" dirty="0">
                <a:solidFill>
                  <a:srgbClr val="64748B"/>
                </a:solidFill>
              </a:rPr>
              <a:t> au bureau</a:t>
            </a:r>
            <a:endParaRPr lang="fr-FR" sz="650" dirty="0"/>
          </a:p>
        </p:txBody>
      </p:sp>
      <p:sp>
        <p:nvSpPr>
          <p:cNvPr id="26" name="Shape 30">
            <a:extLst>
              <a:ext uri="{FF2B5EF4-FFF2-40B4-BE49-F238E27FC236}">
                <a16:creationId xmlns:a16="http://schemas.microsoft.com/office/drawing/2014/main" id="{3978FDB9-8938-BB53-A98A-2AE6732B6CA2}"/>
              </a:ext>
            </a:extLst>
          </p:cNvPr>
          <p:cNvSpPr/>
          <p:nvPr/>
        </p:nvSpPr>
        <p:spPr>
          <a:xfrm>
            <a:off x="112395" y="1673352"/>
            <a:ext cx="4005072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Shape 31">
            <a:extLst>
              <a:ext uri="{FF2B5EF4-FFF2-40B4-BE49-F238E27FC236}">
                <a16:creationId xmlns:a16="http://schemas.microsoft.com/office/drawing/2014/main" id="{BCC41FA8-D459-C5E8-3F25-9ADF1D9618C2}"/>
              </a:ext>
            </a:extLst>
          </p:cNvPr>
          <p:cNvSpPr/>
          <p:nvPr/>
        </p:nvSpPr>
        <p:spPr>
          <a:xfrm>
            <a:off x="112395" y="1673352"/>
            <a:ext cx="40050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0" name="Text 33">
            <a:extLst>
              <a:ext uri="{FF2B5EF4-FFF2-40B4-BE49-F238E27FC236}">
                <a16:creationId xmlns:a16="http://schemas.microsoft.com/office/drawing/2014/main" id="{DA99C501-37AC-2080-1685-E82D9E074F16}"/>
              </a:ext>
            </a:extLst>
          </p:cNvPr>
          <p:cNvSpPr/>
          <p:nvPr/>
        </p:nvSpPr>
        <p:spPr>
          <a:xfrm>
            <a:off x="152019" y="1691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300" b="1" dirty="0">
                <a:solidFill>
                  <a:srgbClr val="FFFFFF"/>
                </a:solidFill>
              </a:rPr>
              <a:t>Data Engineer </a:t>
            </a:r>
            <a:r>
              <a:rPr lang="fr-FR" sz="1300" b="1" dirty="0">
                <a:solidFill>
                  <a:schemeClr val="bg1"/>
                </a:solidFill>
              </a:rPr>
              <a:t>(0-3 ans)</a:t>
            </a:r>
            <a:endParaRPr lang="fr-FR" sz="1300" dirty="0">
              <a:solidFill>
                <a:schemeClr val="bg1"/>
              </a:solidFill>
            </a:endParaRPr>
          </a:p>
        </p:txBody>
      </p:sp>
      <p:sp>
        <p:nvSpPr>
          <p:cNvPr id="31" name="Text 34">
            <a:extLst>
              <a:ext uri="{FF2B5EF4-FFF2-40B4-BE49-F238E27FC236}">
                <a16:creationId xmlns:a16="http://schemas.microsoft.com/office/drawing/2014/main" id="{75B84035-6828-8DC1-AF1A-343905C41BCC}"/>
              </a:ext>
            </a:extLst>
          </p:cNvPr>
          <p:cNvSpPr/>
          <p:nvPr/>
        </p:nvSpPr>
        <p:spPr>
          <a:xfrm>
            <a:off x="171069" y="169164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750" dirty="0">
                <a:solidFill>
                  <a:srgbClr val="BAE6FD"/>
                </a:solidFill>
              </a:rPr>
              <a:t>Salaire brut annuel K€ France (fixe + variable) — TPC 2026</a:t>
            </a:r>
            <a:endParaRPr lang="fr-FR" sz="750" dirty="0"/>
          </a:p>
        </p:txBody>
      </p:sp>
      <p:sp>
        <p:nvSpPr>
          <p:cNvPr id="32" name="Shape 35">
            <a:extLst>
              <a:ext uri="{FF2B5EF4-FFF2-40B4-BE49-F238E27FC236}">
                <a16:creationId xmlns:a16="http://schemas.microsoft.com/office/drawing/2014/main" id="{9386E7A5-E85F-1ACF-E56E-DF538AC6160A}"/>
              </a:ext>
            </a:extLst>
          </p:cNvPr>
          <p:cNvSpPr/>
          <p:nvPr/>
        </p:nvSpPr>
        <p:spPr>
          <a:xfrm>
            <a:off x="304800" y="2258567"/>
            <a:ext cx="688572" cy="207645"/>
          </a:xfrm>
          <a:prstGeom prst="rect">
            <a:avLst/>
          </a:prstGeom>
          <a:solidFill>
            <a:srgbClr val="F4F6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3" name="Text 36">
            <a:extLst>
              <a:ext uri="{FF2B5EF4-FFF2-40B4-BE49-F238E27FC236}">
                <a16:creationId xmlns:a16="http://schemas.microsoft.com/office/drawing/2014/main" id="{695BC7C0-9AF1-FACB-B76F-309A71EB28F0}"/>
              </a:ext>
            </a:extLst>
          </p:cNvPr>
          <p:cNvSpPr/>
          <p:nvPr/>
        </p:nvSpPr>
        <p:spPr>
          <a:xfrm>
            <a:off x="304800" y="2258567"/>
            <a:ext cx="688572" cy="207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750" dirty="0"/>
          </a:p>
        </p:txBody>
      </p:sp>
      <p:sp>
        <p:nvSpPr>
          <p:cNvPr id="34" name="Shape 37">
            <a:extLst>
              <a:ext uri="{FF2B5EF4-FFF2-40B4-BE49-F238E27FC236}">
                <a16:creationId xmlns:a16="http://schemas.microsoft.com/office/drawing/2014/main" id="{4FC3A8E0-16A7-4F52-B662-7B1C55D4034E}"/>
              </a:ext>
            </a:extLst>
          </p:cNvPr>
          <p:cNvSpPr/>
          <p:nvPr/>
        </p:nvSpPr>
        <p:spPr>
          <a:xfrm>
            <a:off x="980799" y="2246757"/>
            <a:ext cx="768096" cy="219456"/>
          </a:xfrm>
          <a:prstGeom prst="rect">
            <a:avLst/>
          </a:prstGeom>
          <a:solidFill>
            <a:srgbClr val="2D4A7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80191839-7685-10AB-98AC-E2D021EF9B4E}"/>
              </a:ext>
            </a:extLst>
          </p:cNvPr>
          <p:cNvSpPr/>
          <p:nvPr/>
        </p:nvSpPr>
        <p:spPr>
          <a:xfrm>
            <a:off x="980799" y="2246757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FFFFFF"/>
                </a:solidFill>
              </a:rPr>
              <a:t>0-2 ans</a:t>
            </a:r>
            <a:endParaRPr lang="fr-FR" sz="750" dirty="0"/>
          </a:p>
        </p:txBody>
      </p:sp>
      <p:sp>
        <p:nvSpPr>
          <p:cNvPr id="36" name="Shape 39">
            <a:extLst>
              <a:ext uri="{FF2B5EF4-FFF2-40B4-BE49-F238E27FC236}">
                <a16:creationId xmlns:a16="http://schemas.microsoft.com/office/drawing/2014/main" id="{6AC6F853-9AD4-1AAA-7017-3104569CA1C6}"/>
              </a:ext>
            </a:extLst>
          </p:cNvPr>
          <p:cNvSpPr/>
          <p:nvPr/>
        </p:nvSpPr>
        <p:spPr>
          <a:xfrm>
            <a:off x="1767183" y="2246757"/>
            <a:ext cx="768096" cy="219456"/>
          </a:xfrm>
          <a:prstGeom prst="rect">
            <a:avLst/>
          </a:prstGeom>
          <a:solidFill>
            <a:srgbClr val="2D4A7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7" name="Text 40">
            <a:extLst>
              <a:ext uri="{FF2B5EF4-FFF2-40B4-BE49-F238E27FC236}">
                <a16:creationId xmlns:a16="http://schemas.microsoft.com/office/drawing/2014/main" id="{C37C5C9C-7ED2-4953-9099-3B010A304150}"/>
              </a:ext>
            </a:extLst>
          </p:cNvPr>
          <p:cNvSpPr/>
          <p:nvPr/>
        </p:nvSpPr>
        <p:spPr>
          <a:xfrm>
            <a:off x="1767183" y="2246757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FFFFFF"/>
                </a:solidFill>
              </a:rPr>
              <a:t>3-5 ans</a:t>
            </a:r>
            <a:endParaRPr lang="fr-FR" sz="750" dirty="0"/>
          </a:p>
        </p:txBody>
      </p:sp>
      <p:sp>
        <p:nvSpPr>
          <p:cNvPr id="38" name="Shape 41">
            <a:extLst>
              <a:ext uri="{FF2B5EF4-FFF2-40B4-BE49-F238E27FC236}">
                <a16:creationId xmlns:a16="http://schemas.microsoft.com/office/drawing/2014/main" id="{75F3F3E1-A411-D614-EF19-2AFB2B224EDE}"/>
              </a:ext>
            </a:extLst>
          </p:cNvPr>
          <p:cNvSpPr/>
          <p:nvPr/>
        </p:nvSpPr>
        <p:spPr>
          <a:xfrm>
            <a:off x="2553567" y="2246757"/>
            <a:ext cx="768096" cy="219456"/>
          </a:xfrm>
          <a:prstGeom prst="rect">
            <a:avLst/>
          </a:prstGeom>
          <a:solidFill>
            <a:srgbClr val="2D4A7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30033D4A-69A0-3FA5-B16B-63E60DC4E629}"/>
              </a:ext>
            </a:extLst>
          </p:cNvPr>
          <p:cNvSpPr/>
          <p:nvPr/>
        </p:nvSpPr>
        <p:spPr>
          <a:xfrm>
            <a:off x="2553567" y="2246757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FFFFFF"/>
                </a:solidFill>
              </a:rPr>
              <a:t>6-9 ans</a:t>
            </a:r>
            <a:endParaRPr lang="fr-FR" sz="750" dirty="0"/>
          </a:p>
        </p:txBody>
      </p:sp>
      <p:sp>
        <p:nvSpPr>
          <p:cNvPr id="40" name="Shape 43">
            <a:extLst>
              <a:ext uri="{FF2B5EF4-FFF2-40B4-BE49-F238E27FC236}">
                <a16:creationId xmlns:a16="http://schemas.microsoft.com/office/drawing/2014/main" id="{85D56053-EE1C-2BC9-6327-AB615D8875BA}"/>
              </a:ext>
            </a:extLst>
          </p:cNvPr>
          <p:cNvSpPr/>
          <p:nvPr/>
        </p:nvSpPr>
        <p:spPr>
          <a:xfrm>
            <a:off x="3321663" y="2246757"/>
            <a:ext cx="768096" cy="219456"/>
          </a:xfrm>
          <a:prstGeom prst="rect">
            <a:avLst/>
          </a:prstGeom>
          <a:solidFill>
            <a:srgbClr val="2D4A7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1" name="Text 44">
            <a:extLst>
              <a:ext uri="{FF2B5EF4-FFF2-40B4-BE49-F238E27FC236}">
                <a16:creationId xmlns:a16="http://schemas.microsoft.com/office/drawing/2014/main" id="{FDBAAA62-DAD8-12CD-91F5-54E163B40FD0}"/>
              </a:ext>
            </a:extLst>
          </p:cNvPr>
          <p:cNvSpPr/>
          <p:nvPr/>
        </p:nvSpPr>
        <p:spPr>
          <a:xfrm>
            <a:off x="3321663" y="2246757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FFFFFF"/>
                </a:solidFill>
              </a:rPr>
              <a:t>+10 ans</a:t>
            </a:r>
            <a:endParaRPr lang="fr-FR" sz="750" dirty="0"/>
          </a:p>
        </p:txBody>
      </p:sp>
      <p:sp>
        <p:nvSpPr>
          <p:cNvPr id="42" name="Shape 45">
            <a:extLst>
              <a:ext uri="{FF2B5EF4-FFF2-40B4-BE49-F238E27FC236}">
                <a16:creationId xmlns:a16="http://schemas.microsoft.com/office/drawing/2014/main" id="{CEB19560-3255-5687-99F5-14DBBE4647CC}"/>
              </a:ext>
            </a:extLst>
          </p:cNvPr>
          <p:cNvSpPr/>
          <p:nvPr/>
        </p:nvSpPr>
        <p:spPr>
          <a:xfrm>
            <a:off x="304800" y="2479991"/>
            <a:ext cx="688572" cy="242253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3" name="Text 46">
            <a:extLst>
              <a:ext uri="{FF2B5EF4-FFF2-40B4-BE49-F238E27FC236}">
                <a16:creationId xmlns:a16="http://schemas.microsoft.com/office/drawing/2014/main" id="{3C33F8E7-9F97-25E5-315B-EA266A4EDDB7}"/>
              </a:ext>
            </a:extLst>
          </p:cNvPr>
          <p:cNvSpPr/>
          <p:nvPr/>
        </p:nvSpPr>
        <p:spPr>
          <a:xfrm>
            <a:off x="304800" y="2479991"/>
            <a:ext cx="688572" cy="242253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fr-FR" sz="780" dirty="0">
                <a:solidFill>
                  <a:srgbClr val="1B2A4A"/>
                </a:solidFill>
              </a:rPr>
              <a:t>Paris / IDF</a:t>
            </a:r>
            <a:endParaRPr lang="fr-FR" sz="780" dirty="0"/>
          </a:p>
        </p:txBody>
      </p:sp>
      <p:sp>
        <p:nvSpPr>
          <p:cNvPr id="44" name="Shape 47">
            <a:extLst>
              <a:ext uri="{FF2B5EF4-FFF2-40B4-BE49-F238E27FC236}">
                <a16:creationId xmlns:a16="http://schemas.microsoft.com/office/drawing/2014/main" id="{CACCB0C1-FF58-17C6-0F2F-95D83BD220CA}"/>
              </a:ext>
            </a:extLst>
          </p:cNvPr>
          <p:cNvSpPr/>
          <p:nvPr/>
        </p:nvSpPr>
        <p:spPr>
          <a:xfrm>
            <a:off x="980799" y="2466213"/>
            <a:ext cx="768096" cy="256032"/>
          </a:xfrm>
          <a:prstGeom prst="rect">
            <a:avLst/>
          </a:prstGeom>
          <a:solidFill>
            <a:srgbClr val="E0F2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5" name="Text 48">
            <a:extLst>
              <a:ext uri="{FF2B5EF4-FFF2-40B4-BE49-F238E27FC236}">
                <a16:creationId xmlns:a16="http://schemas.microsoft.com/office/drawing/2014/main" id="{016B5646-AF9B-E233-BB15-D24D70A3B114}"/>
              </a:ext>
            </a:extLst>
          </p:cNvPr>
          <p:cNvSpPr/>
          <p:nvPr/>
        </p:nvSpPr>
        <p:spPr>
          <a:xfrm>
            <a:off x="980799" y="2466213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46</a:t>
            </a:r>
            <a:endParaRPr lang="fr-FR" sz="1000" dirty="0"/>
          </a:p>
        </p:txBody>
      </p:sp>
      <p:sp>
        <p:nvSpPr>
          <p:cNvPr id="46" name="Shape 49">
            <a:extLst>
              <a:ext uri="{FF2B5EF4-FFF2-40B4-BE49-F238E27FC236}">
                <a16:creationId xmlns:a16="http://schemas.microsoft.com/office/drawing/2014/main" id="{8FFA837C-3C51-FBA6-F514-6C232D10EC61}"/>
              </a:ext>
            </a:extLst>
          </p:cNvPr>
          <p:cNvSpPr/>
          <p:nvPr/>
        </p:nvSpPr>
        <p:spPr>
          <a:xfrm>
            <a:off x="1767183" y="2466213"/>
            <a:ext cx="768096" cy="256032"/>
          </a:xfrm>
          <a:prstGeom prst="rect">
            <a:avLst/>
          </a:prstGeom>
          <a:solidFill>
            <a:srgbClr val="E0F2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7" name="Text 50">
            <a:extLst>
              <a:ext uri="{FF2B5EF4-FFF2-40B4-BE49-F238E27FC236}">
                <a16:creationId xmlns:a16="http://schemas.microsoft.com/office/drawing/2014/main" id="{1FAABF77-4E71-AA10-EAF9-D21BDFD3C1B6}"/>
              </a:ext>
            </a:extLst>
          </p:cNvPr>
          <p:cNvSpPr/>
          <p:nvPr/>
        </p:nvSpPr>
        <p:spPr>
          <a:xfrm>
            <a:off x="1767183" y="2466213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52</a:t>
            </a:r>
            <a:endParaRPr lang="fr-FR" sz="1000" dirty="0"/>
          </a:p>
        </p:txBody>
      </p:sp>
      <p:sp>
        <p:nvSpPr>
          <p:cNvPr id="48" name="Shape 51">
            <a:extLst>
              <a:ext uri="{FF2B5EF4-FFF2-40B4-BE49-F238E27FC236}">
                <a16:creationId xmlns:a16="http://schemas.microsoft.com/office/drawing/2014/main" id="{11965A68-DF4A-7C9B-514E-2DC7A3C16C4A}"/>
              </a:ext>
            </a:extLst>
          </p:cNvPr>
          <p:cNvSpPr/>
          <p:nvPr/>
        </p:nvSpPr>
        <p:spPr>
          <a:xfrm>
            <a:off x="2553567" y="2466213"/>
            <a:ext cx="768096" cy="256032"/>
          </a:xfrm>
          <a:prstGeom prst="rect">
            <a:avLst/>
          </a:prstGeom>
          <a:solidFill>
            <a:srgbClr val="E0F2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9" name="Text 52">
            <a:extLst>
              <a:ext uri="{FF2B5EF4-FFF2-40B4-BE49-F238E27FC236}">
                <a16:creationId xmlns:a16="http://schemas.microsoft.com/office/drawing/2014/main" id="{6E93A38A-E686-7627-46CA-3220F2F0DC0C}"/>
              </a:ext>
            </a:extLst>
          </p:cNvPr>
          <p:cNvSpPr/>
          <p:nvPr/>
        </p:nvSpPr>
        <p:spPr>
          <a:xfrm>
            <a:off x="2553567" y="2466213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68</a:t>
            </a:r>
            <a:endParaRPr lang="fr-FR" sz="1000" dirty="0"/>
          </a:p>
        </p:txBody>
      </p:sp>
      <p:sp>
        <p:nvSpPr>
          <p:cNvPr id="50" name="Shape 53">
            <a:extLst>
              <a:ext uri="{FF2B5EF4-FFF2-40B4-BE49-F238E27FC236}">
                <a16:creationId xmlns:a16="http://schemas.microsoft.com/office/drawing/2014/main" id="{27C09E2A-63AB-AB57-C338-EA4BED6866E5}"/>
              </a:ext>
            </a:extLst>
          </p:cNvPr>
          <p:cNvSpPr/>
          <p:nvPr/>
        </p:nvSpPr>
        <p:spPr>
          <a:xfrm>
            <a:off x="3321663" y="2466213"/>
            <a:ext cx="768096" cy="256032"/>
          </a:xfrm>
          <a:prstGeom prst="rect">
            <a:avLst/>
          </a:prstGeom>
          <a:solidFill>
            <a:srgbClr val="E0F2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1" name="Text 54">
            <a:extLst>
              <a:ext uri="{FF2B5EF4-FFF2-40B4-BE49-F238E27FC236}">
                <a16:creationId xmlns:a16="http://schemas.microsoft.com/office/drawing/2014/main" id="{EE1D1740-AC27-60FF-829F-D724DBA0DD35}"/>
              </a:ext>
            </a:extLst>
          </p:cNvPr>
          <p:cNvSpPr/>
          <p:nvPr/>
        </p:nvSpPr>
        <p:spPr>
          <a:xfrm>
            <a:off x="3321663" y="2466213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0891B2"/>
                </a:solidFill>
              </a:rPr>
              <a:t>68</a:t>
            </a:r>
            <a:endParaRPr lang="fr-FR" sz="1000" dirty="0"/>
          </a:p>
        </p:txBody>
      </p:sp>
      <p:sp>
        <p:nvSpPr>
          <p:cNvPr id="52" name="Shape 55">
            <a:extLst>
              <a:ext uri="{FF2B5EF4-FFF2-40B4-BE49-F238E27FC236}">
                <a16:creationId xmlns:a16="http://schemas.microsoft.com/office/drawing/2014/main" id="{4104FDC1-ADCB-1498-EA12-EAC3D9524AEE}"/>
              </a:ext>
            </a:extLst>
          </p:cNvPr>
          <p:cNvSpPr/>
          <p:nvPr/>
        </p:nvSpPr>
        <p:spPr>
          <a:xfrm>
            <a:off x="304800" y="2736023"/>
            <a:ext cx="688572" cy="242253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3" name="Text 56">
            <a:extLst>
              <a:ext uri="{FF2B5EF4-FFF2-40B4-BE49-F238E27FC236}">
                <a16:creationId xmlns:a16="http://schemas.microsoft.com/office/drawing/2014/main" id="{9B8C99F3-12F1-0EE7-A0E2-928954819C6A}"/>
              </a:ext>
            </a:extLst>
          </p:cNvPr>
          <p:cNvSpPr/>
          <p:nvPr/>
        </p:nvSpPr>
        <p:spPr>
          <a:xfrm>
            <a:off x="304800" y="2736023"/>
            <a:ext cx="688572" cy="242253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fr-FR" sz="780" dirty="0">
                <a:solidFill>
                  <a:srgbClr val="1B2A4A"/>
                </a:solidFill>
              </a:rPr>
              <a:t>Autres villes</a:t>
            </a:r>
            <a:endParaRPr lang="fr-FR" sz="780" dirty="0"/>
          </a:p>
        </p:txBody>
      </p:sp>
      <p:sp>
        <p:nvSpPr>
          <p:cNvPr id="54" name="Shape 57">
            <a:extLst>
              <a:ext uri="{FF2B5EF4-FFF2-40B4-BE49-F238E27FC236}">
                <a16:creationId xmlns:a16="http://schemas.microsoft.com/office/drawing/2014/main" id="{F652FFFB-A0DC-3B91-11C3-A651967D53D3}"/>
              </a:ext>
            </a:extLst>
          </p:cNvPr>
          <p:cNvSpPr/>
          <p:nvPr/>
        </p:nvSpPr>
        <p:spPr>
          <a:xfrm>
            <a:off x="980799" y="2722245"/>
            <a:ext cx="76809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5" name="Text 58">
            <a:extLst>
              <a:ext uri="{FF2B5EF4-FFF2-40B4-BE49-F238E27FC236}">
                <a16:creationId xmlns:a16="http://schemas.microsoft.com/office/drawing/2014/main" id="{90D676B4-9FF5-BF88-D8DA-FE66C1FEB6E4}"/>
              </a:ext>
            </a:extLst>
          </p:cNvPr>
          <p:cNvSpPr/>
          <p:nvPr/>
        </p:nvSpPr>
        <p:spPr>
          <a:xfrm>
            <a:off x="980799" y="2722245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40</a:t>
            </a:r>
            <a:endParaRPr lang="fr-FR" sz="1000" dirty="0"/>
          </a:p>
        </p:txBody>
      </p:sp>
      <p:sp>
        <p:nvSpPr>
          <p:cNvPr id="56" name="Shape 59">
            <a:extLst>
              <a:ext uri="{FF2B5EF4-FFF2-40B4-BE49-F238E27FC236}">
                <a16:creationId xmlns:a16="http://schemas.microsoft.com/office/drawing/2014/main" id="{A1DD7D17-4C9E-836D-6A1E-1AC0B7A30691}"/>
              </a:ext>
            </a:extLst>
          </p:cNvPr>
          <p:cNvSpPr/>
          <p:nvPr/>
        </p:nvSpPr>
        <p:spPr>
          <a:xfrm>
            <a:off x="1767183" y="2722245"/>
            <a:ext cx="76809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7" name="Text 60">
            <a:extLst>
              <a:ext uri="{FF2B5EF4-FFF2-40B4-BE49-F238E27FC236}">
                <a16:creationId xmlns:a16="http://schemas.microsoft.com/office/drawing/2014/main" id="{794ADA74-33E9-EB34-6346-67E8F256DA1D}"/>
              </a:ext>
            </a:extLst>
          </p:cNvPr>
          <p:cNvSpPr/>
          <p:nvPr/>
        </p:nvSpPr>
        <p:spPr>
          <a:xfrm>
            <a:off x="1767183" y="2722245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46</a:t>
            </a:r>
            <a:endParaRPr lang="fr-FR" sz="1000" dirty="0"/>
          </a:p>
        </p:txBody>
      </p:sp>
      <p:sp>
        <p:nvSpPr>
          <p:cNvPr id="58" name="Shape 61">
            <a:extLst>
              <a:ext uri="{FF2B5EF4-FFF2-40B4-BE49-F238E27FC236}">
                <a16:creationId xmlns:a16="http://schemas.microsoft.com/office/drawing/2014/main" id="{37ABEA06-82FD-3DB2-DD56-27C783AD8DA2}"/>
              </a:ext>
            </a:extLst>
          </p:cNvPr>
          <p:cNvSpPr/>
          <p:nvPr/>
        </p:nvSpPr>
        <p:spPr>
          <a:xfrm>
            <a:off x="2553567" y="2722245"/>
            <a:ext cx="76809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9" name="Text 62">
            <a:extLst>
              <a:ext uri="{FF2B5EF4-FFF2-40B4-BE49-F238E27FC236}">
                <a16:creationId xmlns:a16="http://schemas.microsoft.com/office/drawing/2014/main" id="{A38B061A-D87F-6FFF-E9C4-AC4A55892FB7}"/>
              </a:ext>
            </a:extLst>
          </p:cNvPr>
          <p:cNvSpPr/>
          <p:nvPr/>
        </p:nvSpPr>
        <p:spPr>
          <a:xfrm>
            <a:off x="2553567" y="2722245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48,5</a:t>
            </a:r>
            <a:endParaRPr lang="fr-FR" sz="1000" dirty="0"/>
          </a:p>
        </p:txBody>
      </p:sp>
      <p:sp>
        <p:nvSpPr>
          <p:cNvPr id="60" name="Shape 63">
            <a:extLst>
              <a:ext uri="{FF2B5EF4-FFF2-40B4-BE49-F238E27FC236}">
                <a16:creationId xmlns:a16="http://schemas.microsoft.com/office/drawing/2014/main" id="{11E92286-82F7-A110-4957-DF8CDCA91598}"/>
              </a:ext>
            </a:extLst>
          </p:cNvPr>
          <p:cNvSpPr/>
          <p:nvPr/>
        </p:nvSpPr>
        <p:spPr>
          <a:xfrm>
            <a:off x="3321663" y="2722245"/>
            <a:ext cx="76809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1" name="Text 64">
            <a:extLst>
              <a:ext uri="{FF2B5EF4-FFF2-40B4-BE49-F238E27FC236}">
                <a16:creationId xmlns:a16="http://schemas.microsoft.com/office/drawing/2014/main" id="{71CA2FD6-831B-85FB-FA16-8BE6D81A5A66}"/>
              </a:ext>
            </a:extLst>
          </p:cNvPr>
          <p:cNvSpPr/>
          <p:nvPr/>
        </p:nvSpPr>
        <p:spPr>
          <a:xfrm>
            <a:off x="3321663" y="2722245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0891B2"/>
                </a:solidFill>
              </a:rPr>
              <a:t>60,5</a:t>
            </a:r>
            <a:endParaRPr lang="fr-FR" sz="1000" dirty="0"/>
          </a:p>
        </p:txBody>
      </p:sp>
      <p:sp>
        <p:nvSpPr>
          <p:cNvPr id="62" name="Shape 65">
            <a:extLst>
              <a:ext uri="{FF2B5EF4-FFF2-40B4-BE49-F238E27FC236}">
                <a16:creationId xmlns:a16="http://schemas.microsoft.com/office/drawing/2014/main" id="{E16038AF-F17C-40C4-89AC-87E599B63D52}"/>
              </a:ext>
            </a:extLst>
          </p:cNvPr>
          <p:cNvSpPr/>
          <p:nvPr/>
        </p:nvSpPr>
        <p:spPr>
          <a:xfrm>
            <a:off x="304799" y="3014853"/>
            <a:ext cx="3739515" cy="207645"/>
          </a:xfrm>
          <a:prstGeom prst="rect">
            <a:avLst/>
          </a:prstGeom>
          <a:solidFill>
            <a:srgbClr val="E0F2FE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3" name="Text 66">
            <a:extLst>
              <a:ext uri="{FF2B5EF4-FFF2-40B4-BE49-F238E27FC236}">
                <a16:creationId xmlns:a16="http://schemas.microsoft.com/office/drawing/2014/main" id="{2DEAC38B-75E5-43A8-EDFB-99AA3B087A1E}"/>
              </a:ext>
            </a:extLst>
          </p:cNvPr>
          <p:cNvSpPr/>
          <p:nvPr/>
        </p:nvSpPr>
        <p:spPr>
          <a:xfrm>
            <a:off x="304799" y="3014853"/>
            <a:ext cx="3739515" cy="207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0891B2"/>
                </a:solidFill>
              </a:rPr>
              <a:t>Variable : 5-8%  </a:t>
            </a:r>
            <a:r>
              <a:rPr lang="fr-FR" sz="750" dirty="0">
                <a:solidFill>
                  <a:srgbClr val="CBD5E1"/>
                </a:solidFill>
              </a:rPr>
              <a:t> | </a:t>
            </a:r>
            <a:r>
              <a:rPr lang="fr-FR" sz="750" b="1" dirty="0">
                <a:solidFill>
                  <a:srgbClr val="2D4A7A"/>
                </a:solidFill>
              </a:rPr>
              <a:t>  BSPCE : 13-27%  </a:t>
            </a:r>
            <a:r>
              <a:rPr lang="fr-FR" sz="750" dirty="0">
                <a:solidFill>
                  <a:srgbClr val="CBD5E1"/>
                </a:solidFill>
              </a:rPr>
              <a:t> | </a:t>
            </a:r>
            <a:r>
              <a:rPr lang="fr-FR" sz="750" dirty="0">
                <a:solidFill>
                  <a:srgbClr val="64748B"/>
                </a:solidFill>
              </a:rPr>
              <a:t>  Contrat : CDI majoritaire</a:t>
            </a:r>
            <a:endParaRPr lang="fr-FR" sz="750" dirty="0"/>
          </a:p>
        </p:txBody>
      </p:sp>
      <p:sp>
        <p:nvSpPr>
          <p:cNvPr id="64" name="Shape 67">
            <a:extLst>
              <a:ext uri="{FF2B5EF4-FFF2-40B4-BE49-F238E27FC236}">
                <a16:creationId xmlns:a16="http://schemas.microsoft.com/office/drawing/2014/main" id="{48DBBB5C-96E4-A109-94CF-662691719338}"/>
              </a:ext>
            </a:extLst>
          </p:cNvPr>
          <p:cNvSpPr/>
          <p:nvPr/>
        </p:nvSpPr>
        <p:spPr>
          <a:xfrm>
            <a:off x="4170045" y="1673352"/>
            <a:ext cx="301752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5" name="Shape 68">
            <a:extLst>
              <a:ext uri="{FF2B5EF4-FFF2-40B4-BE49-F238E27FC236}">
                <a16:creationId xmlns:a16="http://schemas.microsoft.com/office/drawing/2014/main" id="{6E4F4E85-7935-38E9-16E3-DC62B0B8020F}"/>
              </a:ext>
            </a:extLst>
          </p:cNvPr>
          <p:cNvSpPr/>
          <p:nvPr/>
        </p:nvSpPr>
        <p:spPr>
          <a:xfrm>
            <a:off x="4170045" y="1673352"/>
            <a:ext cx="299923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7" name="Text 70">
            <a:extLst>
              <a:ext uri="{FF2B5EF4-FFF2-40B4-BE49-F238E27FC236}">
                <a16:creationId xmlns:a16="http://schemas.microsoft.com/office/drawing/2014/main" id="{88BDB46F-011A-A866-7B82-44D506D80FA4}"/>
              </a:ext>
            </a:extLst>
          </p:cNvPr>
          <p:cNvSpPr/>
          <p:nvPr/>
        </p:nvSpPr>
        <p:spPr>
          <a:xfrm>
            <a:off x="4298061" y="1691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FFFFFF"/>
                </a:solidFill>
              </a:rPr>
              <a:t>AI Engineer (0-3ans)</a:t>
            </a:r>
            <a:endParaRPr lang="fr-FR" sz="1300" dirty="0"/>
          </a:p>
        </p:txBody>
      </p:sp>
      <p:sp>
        <p:nvSpPr>
          <p:cNvPr id="68" name="Text 71">
            <a:extLst>
              <a:ext uri="{FF2B5EF4-FFF2-40B4-BE49-F238E27FC236}">
                <a16:creationId xmlns:a16="http://schemas.microsoft.com/office/drawing/2014/main" id="{77B4F3A9-4DC3-B36E-9188-6CB77CBA67A7}"/>
              </a:ext>
            </a:extLst>
          </p:cNvPr>
          <p:cNvSpPr/>
          <p:nvPr/>
        </p:nvSpPr>
        <p:spPr>
          <a:xfrm>
            <a:off x="4193286" y="169164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750" dirty="0">
                <a:solidFill>
                  <a:srgbClr val="A7F3D0"/>
                </a:solidFill>
              </a:rPr>
              <a:t>Salaire brut annuel K€ — TPC 2026</a:t>
            </a:r>
            <a:endParaRPr lang="fr-FR" sz="750" dirty="0"/>
          </a:p>
        </p:txBody>
      </p:sp>
      <p:sp>
        <p:nvSpPr>
          <p:cNvPr id="69" name="Shape 72">
            <a:extLst>
              <a:ext uri="{FF2B5EF4-FFF2-40B4-BE49-F238E27FC236}">
                <a16:creationId xmlns:a16="http://schemas.microsoft.com/office/drawing/2014/main" id="{040EDA8C-860F-32EF-C295-00E2C9ABF9BF}"/>
              </a:ext>
            </a:extLst>
          </p:cNvPr>
          <p:cNvSpPr/>
          <p:nvPr/>
        </p:nvSpPr>
        <p:spPr>
          <a:xfrm>
            <a:off x="4224909" y="2246757"/>
            <a:ext cx="932688" cy="219456"/>
          </a:xfrm>
          <a:prstGeom prst="rect">
            <a:avLst/>
          </a:prstGeom>
          <a:solidFill>
            <a:srgbClr val="F4F6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0" name="Text 73">
            <a:extLst>
              <a:ext uri="{FF2B5EF4-FFF2-40B4-BE49-F238E27FC236}">
                <a16:creationId xmlns:a16="http://schemas.microsoft.com/office/drawing/2014/main" id="{1F8C1763-85AB-14FE-E89C-E22F00D9C453}"/>
              </a:ext>
            </a:extLst>
          </p:cNvPr>
          <p:cNvSpPr/>
          <p:nvPr/>
        </p:nvSpPr>
        <p:spPr>
          <a:xfrm>
            <a:off x="4224909" y="2246757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750" dirty="0"/>
          </a:p>
        </p:txBody>
      </p:sp>
      <p:sp>
        <p:nvSpPr>
          <p:cNvPr id="71" name="Shape 74">
            <a:extLst>
              <a:ext uri="{FF2B5EF4-FFF2-40B4-BE49-F238E27FC236}">
                <a16:creationId xmlns:a16="http://schemas.microsoft.com/office/drawing/2014/main" id="{0BA6E91A-BC37-B108-FF81-4518EF31558E}"/>
              </a:ext>
            </a:extLst>
          </p:cNvPr>
          <p:cNvSpPr/>
          <p:nvPr/>
        </p:nvSpPr>
        <p:spPr>
          <a:xfrm>
            <a:off x="5157597" y="2246757"/>
            <a:ext cx="603504" cy="219456"/>
          </a:xfrm>
          <a:prstGeom prst="rect">
            <a:avLst/>
          </a:prstGeom>
          <a:solidFill>
            <a:srgbClr val="065F46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2" name="Text 75">
            <a:extLst>
              <a:ext uri="{FF2B5EF4-FFF2-40B4-BE49-F238E27FC236}">
                <a16:creationId xmlns:a16="http://schemas.microsoft.com/office/drawing/2014/main" id="{7C7D9EB4-958F-AA88-2E43-BD554884A372}"/>
              </a:ext>
            </a:extLst>
          </p:cNvPr>
          <p:cNvSpPr/>
          <p:nvPr/>
        </p:nvSpPr>
        <p:spPr>
          <a:xfrm>
            <a:off x="5157597" y="224675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FFFFFF"/>
                </a:solidFill>
              </a:rPr>
              <a:t>0-2 ans</a:t>
            </a:r>
            <a:endParaRPr lang="fr-FR" sz="750" dirty="0"/>
          </a:p>
        </p:txBody>
      </p:sp>
      <p:sp>
        <p:nvSpPr>
          <p:cNvPr id="73" name="Shape 76">
            <a:extLst>
              <a:ext uri="{FF2B5EF4-FFF2-40B4-BE49-F238E27FC236}">
                <a16:creationId xmlns:a16="http://schemas.microsoft.com/office/drawing/2014/main" id="{496F2E8D-9C6F-F899-C14E-B9A99C284C0C}"/>
              </a:ext>
            </a:extLst>
          </p:cNvPr>
          <p:cNvSpPr/>
          <p:nvPr/>
        </p:nvSpPr>
        <p:spPr>
          <a:xfrm>
            <a:off x="5761101" y="2246757"/>
            <a:ext cx="603504" cy="219456"/>
          </a:xfrm>
          <a:prstGeom prst="rect">
            <a:avLst/>
          </a:prstGeom>
          <a:solidFill>
            <a:srgbClr val="065F46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4" name="Text 77">
            <a:extLst>
              <a:ext uri="{FF2B5EF4-FFF2-40B4-BE49-F238E27FC236}">
                <a16:creationId xmlns:a16="http://schemas.microsoft.com/office/drawing/2014/main" id="{3879734D-9B42-4E78-4A4C-61D67440490D}"/>
              </a:ext>
            </a:extLst>
          </p:cNvPr>
          <p:cNvSpPr/>
          <p:nvPr/>
        </p:nvSpPr>
        <p:spPr>
          <a:xfrm>
            <a:off x="5761101" y="224675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FFFFFF"/>
                </a:solidFill>
              </a:rPr>
              <a:t>3-5 ans</a:t>
            </a:r>
            <a:endParaRPr lang="fr-FR" sz="750" dirty="0"/>
          </a:p>
        </p:txBody>
      </p:sp>
      <p:sp>
        <p:nvSpPr>
          <p:cNvPr id="75" name="Shape 78">
            <a:extLst>
              <a:ext uri="{FF2B5EF4-FFF2-40B4-BE49-F238E27FC236}">
                <a16:creationId xmlns:a16="http://schemas.microsoft.com/office/drawing/2014/main" id="{286AF757-2259-597D-7C6E-DBF24C5BFBED}"/>
              </a:ext>
            </a:extLst>
          </p:cNvPr>
          <p:cNvSpPr/>
          <p:nvPr/>
        </p:nvSpPr>
        <p:spPr>
          <a:xfrm>
            <a:off x="6364605" y="2246757"/>
            <a:ext cx="603504" cy="219456"/>
          </a:xfrm>
          <a:prstGeom prst="rect">
            <a:avLst/>
          </a:prstGeom>
          <a:solidFill>
            <a:srgbClr val="065F46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6" name="Text 79">
            <a:extLst>
              <a:ext uri="{FF2B5EF4-FFF2-40B4-BE49-F238E27FC236}">
                <a16:creationId xmlns:a16="http://schemas.microsoft.com/office/drawing/2014/main" id="{A707ED8A-2191-771F-0D8F-E7CDF81BC868}"/>
              </a:ext>
            </a:extLst>
          </p:cNvPr>
          <p:cNvSpPr/>
          <p:nvPr/>
        </p:nvSpPr>
        <p:spPr>
          <a:xfrm>
            <a:off x="6364605" y="2246757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FFFFFF"/>
                </a:solidFill>
              </a:rPr>
              <a:t>6-9 ans</a:t>
            </a:r>
            <a:endParaRPr lang="fr-FR" sz="750" dirty="0"/>
          </a:p>
        </p:txBody>
      </p:sp>
      <p:sp>
        <p:nvSpPr>
          <p:cNvPr id="77" name="Shape 80">
            <a:extLst>
              <a:ext uri="{FF2B5EF4-FFF2-40B4-BE49-F238E27FC236}">
                <a16:creationId xmlns:a16="http://schemas.microsoft.com/office/drawing/2014/main" id="{FB8CBC4A-FB1F-0421-0243-6D0138E3341B}"/>
              </a:ext>
            </a:extLst>
          </p:cNvPr>
          <p:cNvSpPr/>
          <p:nvPr/>
        </p:nvSpPr>
        <p:spPr>
          <a:xfrm>
            <a:off x="4224909" y="2466213"/>
            <a:ext cx="932688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8" name="Text 81">
            <a:extLst>
              <a:ext uri="{FF2B5EF4-FFF2-40B4-BE49-F238E27FC236}">
                <a16:creationId xmlns:a16="http://schemas.microsoft.com/office/drawing/2014/main" id="{9BF4FF49-53CD-8C51-16EE-C969BD2AB0B7}"/>
              </a:ext>
            </a:extLst>
          </p:cNvPr>
          <p:cNvSpPr/>
          <p:nvPr/>
        </p:nvSpPr>
        <p:spPr>
          <a:xfrm>
            <a:off x="4263009" y="2466213"/>
            <a:ext cx="932688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fr-FR" sz="780" dirty="0">
                <a:solidFill>
                  <a:srgbClr val="1B2A4A"/>
                </a:solidFill>
              </a:rPr>
              <a:t>Paris / IDF</a:t>
            </a:r>
            <a:endParaRPr lang="fr-FR" sz="780" dirty="0"/>
          </a:p>
        </p:txBody>
      </p:sp>
      <p:sp>
        <p:nvSpPr>
          <p:cNvPr id="79" name="Shape 82">
            <a:extLst>
              <a:ext uri="{FF2B5EF4-FFF2-40B4-BE49-F238E27FC236}">
                <a16:creationId xmlns:a16="http://schemas.microsoft.com/office/drawing/2014/main" id="{85911CA7-2E53-1E9A-EA56-9B788D727756}"/>
              </a:ext>
            </a:extLst>
          </p:cNvPr>
          <p:cNvSpPr/>
          <p:nvPr/>
        </p:nvSpPr>
        <p:spPr>
          <a:xfrm>
            <a:off x="5157597" y="2466213"/>
            <a:ext cx="603504" cy="256032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0" name="Text 83">
            <a:extLst>
              <a:ext uri="{FF2B5EF4-FFF2-40B4-BE49-F238E27FC236}">
                <a16:creationId xmlns:a16="http://schemas.microsoft.com/office/drawing/2014/main" id="{66D5651D-29F1-BF9B-767C-0AFFC4AE44A5}"/>
              </a:ext>
            </a:extLst>
          </p:cNvPr>
          <p:cNvSpPr/>
          <p:nvPr/>
        </p:nvSpPr>
        <p:spPr>
          <a:xfrm>
            <a:off x="5157597" y="2466213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48,5</a:t>
            </a:r>
            <a:endParaRPr lang="fr-FR" sz="1000" dirty="0"/>
          </a:p>
        </p:txBody>
      </p:sp>
      <p:sp>
        <p:nvSpPr>
          <p:cNvPr id="81" name="Shape 84">
            <a:extLst>
              <a:ext uri="{FF2B5EF4-FFF2-40B4-BE49-F238E27FC236}">
                <a16:creationId xmlns:a16="http://schemas.microsoft.com/office/drawing/2014/main" id="{4749F243-141E-ABBD-F7EE-0CBD14FC7887}"/>
              </a:ext>
            </a:extLst>
          </p:cNvPr>
          <p:cNvSpPr/>
          <p:nvPr/>
        </p:nvSpPr>
        <p:spPr>
          <a:xfrm>
            <a:off x="5761101" y="2466213"/>
            <a:ext cx="603504" cy="256032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2" name="Text 85">
            <a:extLst>
              <a:ext uri="{FF2B5EF4-FFF2-40B4-BE49-F238E27FC236}">
                <a16:creationId xmlns:a16="http://schemas.microsoft.com/office/drawing/2014/main" id="{3A1D8453-0368-AF39-7F95-DFB08674B698}"/>
              </a:ext>
            </a:extLst>
          </p:cNvPr>
          <p:cNvSpPr/>
          <p:nvPr/>
        </p:nvSpPr>
        <p:spPr>
          <a:xfrm>
            <a:off x="5761101" y="2466213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58</a:t>
            </a:r>
            <a:endParaRPr lang="fr-FR" sz="1000" dirty="0"/>
          </a:p>
        </p:txBody>
      </p:sp>
      <p:sp>
        <p:nvSpPr>
          <p:cNvPr id="83" name="Shape 86">
            <a:extLst>
              <a:ext uri="{FF2B5EF4-FFF2-40B4-BE49-F238E27FC236}">
                <a16:creationId xmlns:a16="http://schemas.microsoft.com/office/drawing/2014/main" id="{6EAAE9E4-EDD7-D955-BDFA-BB52AAE16FDB}"/>
              </a:ext>
            </a:extLst>
          </p:cNvPr>
          <p:cNvSpPr/>
          <p:nvPr/>
        </p:nvSpPr>
        <p:spPr>
          <a:xfrm>
            <a:off x="6364605" y="2466213"/>
            <a:ext cx="603504" cy="256032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4" name="Text 87">
            <a:extLst>
              <a:ext uri="{FF2B5EF4-FFF2-40B4-BE49-F238E27FC236}">
                <a16:creationId xmlns:a16="http://schemas.microsoft.com/office/drawing/2014/main" id="{770AB088-45B0-40D5-C647-6BF3A28F68F0}"/>
              </a:ext>
            </a:extLst>
          </p:cNvPr>
          <p:cNvSpPr/>
          <p:nvPr/>
        </p:nvSpPr>
        <p:spPr>
          <a:xfrm>
            <a:off x="6364605" y="2466213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059669"/>
                </a:solidFill>
              </a:rPr>
              <a:t>80</a:t>
            </a:r>
            <a:endParaRPr lang="fr-FR" sz="1000" dirty="0"/>
          </a:p>
        </p:txBody>
      </p:sp>
      <p:sp>
        <p:nvSpPr>
          <p:cNvPr id="85" name="Shape 88">
            <a:extLst>
              <a:ext uri="{FF2B5EF4-FFF2-40B4-BE49-F238E27FC236}">
                <a16:creationId xmlns:a16="http://schemas.microsoft.com/office/drawing/2014/main" id="{D13CE61C-82A1-1AE0-1A43-84C5A050FFF2}"/>
              </a:ext>
            </a:extLst>
          </p:cNvPr>
          <p:cNvSpPr/>
          <p:nvPr/>
        </p:nvSpPr>
        <p:spPr>
          <a:xfrm>
            <a:off x="4224909" y="2722245"/>
            <a:ext cx="932688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6" name="Text 89">
            <a:extLst>
              <a:ext uri="{FF2B5EF4-FFF2-40B4-BE49-F238E27FC236}">
                <a16:creationId xmlns:a16="http://schemas.microsoft.com/office/drawing/2014/main" id="{007B8D27-C3F4-20F3-BB86-26C392C6FFBA}"/>
              </a:ext>
            </a:extLst>
          </p:cNvPr>
          <p:cNvSpPr/>
          <p:nvPr/>
        </p:nvSpPr>
        <p:spPr>
          <a:xfrm>
            <a:off x="4253484" y="2722245"/>
            <a:ext cx="932688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fr-FR" sz="780" dirty="0">
                <a:solidFill>
                  <a:srgbClr val="1B2A4A"/>
                </a:solidFill>
              </a:rPr>
              <a:t>Autres villes</a:t>
            </a:r>
            <a:endParaRPr lang="fr-FR" sz="780" dirty="0"/>
          </a:p>
        </p:txBody>
      </p:sp>
      <p:sp>
        <p:nvSpPr>
          <p:cNvPr id="87" name="Shape 90">
            <a:extLst>
              <a:ext uri="{FF2B5EF4-FFF2-40B4-BE49-F238E27FC236}">
                <a16:creationId xmlns:a16="http://schemas.microsoft.com/office/drawing/2014/main" id="{65BBE9B8-6222-E476-5F7E-25852B2A791D}"/>
              </a:ext>
            </a:extLst>
          </p:cNvPr>
          <p:cNvSpPr/>
          <p:nvPr/>
        </p:nvSpPr>
        <p:spPr>
          <a:xfrm>
            <a:off x="5157597" y="2722245"/>
            <a:ext cx="6035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8" name="Text 91">
            <a:extLst>
              <a:ext uri="{FF2B5EF4-FFF2-40B4-BE49-F238E27FC236}">
                <a16:creationId xmlns:a16="http://schemas.microsoft.com/office/drawing/2014/main" id="{FD475116-9570-2B3A-BDBD-1AC13F83D9AF}"/>
              </a:ext>
            </a:extLst>
          </p:cNvPr>
          <p:cNvSpPr/>
          <p:nvPr/>
        </p:nvSpPr>
        <p:spPr>
          <a:xfrm>
            <a:off x="5157597" y="2722245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42</a:t>
            </a:r>
            <a:endParaRPr lang="fr-FR" sz="1000" dirty="0"/>
          </a:p>
        </p:txBody>
      </p:sp>
      <p:sp>
        <p:nvSpPr>
          <p:cNvPr id="89" name="Shape 92">
            <a:extLst>
              <a:ext uri="{FF2B5EF4-FFF2-40B4-BE49-F238E27FC236}">
                <a16:creationId xmlns:a16="http://schemas.microsoft.com/office/drawing/2014/main" id="{FCE410D8-F334-B4D6-2F42-64F37EF5A220}"/>
              </a:ext>
            </a:extLst>
          </p:cNvPr>
          <p:cNvSpPr/>
          <p:nvPr/>
        </p:nvSpPr>
        <p:spPr>
          <a:xfrm>
            <a:off x="5761101" y="2722245"/>
            <a:ext cx="6035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0" name="Text 93">
            <a:extLst>
              <a:ext uri="{FF2B5EF4-FFF2-40B4-BE49-F238E27FC236}">
                <a16:creationId xmlns:a16="http://schemas.microsoft.com/office/drawing/2014/main" id="{8FE76DF1-0533-F2E4-5110-60B9AD55A4E1}"/>
              </a:ext>
            </a:extLst>
          </p:cNvPr>
          <p:cNvSpPr/>
          <p:nvPr/>
        </p:nvSpPr>
        <p:spPr>
          <a:xfrm>
            <a:off x="5761101" y="2722245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4A"/>
                </a:solidFill>
              </a:rPr>
              <a:t>49,2</a:t>
            </a:r>
            <a:endParaRPr lang="fr-FR" sz="1000" dirty="0"/>
          </a:p>
        </p:txBody>
      </p:sp>
      <p:sp>
        <p:nvSpPr>
          <p:cNvPr id="91" name="Shape 94">
            <a:extLst>
              <a:ext uri="{FF2B5EF4-FFF2-40B4-BE49-F238E27FC236}">
                <a16:creationId xmlns:a16="http://schemas.microsoft.com/office/drawing/2014/main" id="{F95EBB8A-990E-389E-AE32-C551C9FD95F2}"/>
              </a:ext>
            </a:extLst>
          </p:cNvPr>
          <p:cNvSpPr/>
          <p:nvPr/>
        </p:nvSpPr>
        <p:spPr>
          <a:xfrm>
            <a:off x="6364605" y="2722245"/>
            <a:ext cx="6035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2" name="Text 95">
            <a:extLst>
              <a:ext uri="{FF2B5EF4-FFF2-40B4-BE49-F238E27FC236}">
                <a16:creationId xmlns:a16="http://schemas.microsoft.com/office/drawing/2014/main" id="{043A15EF-2D59-03F9-9BCF-8DA5581A9506}"/>
              </a:ext>
            </a:extLst>
          </p:cNvPr>
          <p:cNvSpPr/>
          <p:nvPr/>
        </p:nvSpPr>
        <p:spPr>
          <a:xfrm>
            <a:off x="6364605" y="2722245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059669"/>
                </a:solidFill>
              </a:rPr>
              <a:t>55,5</a:t>
            </a:r>
            <a:endParaRPr lang="fr-FR" sz="1000" dirty="0"/>
          </a:p>
        </p:txBody>
      </p:sp>
      <p:sp>
        <p:nvSpPr>
          <p:cNvPr id="93" name="Shape 96">
            <a:extLst>
              <a:ext uri="{FF2B5EF4-FFF2-40B4-BE49-F238E27FC236}">
                <a16:creationId xmlns:a16="http://schemas.microsoft.com/office/drawing/2014/main" id="{93E1B6AE-5E65-D302-0D2D-4D913009265A}"/>
              </a:ext>
            </a:extLst>
          </p:cNvPr>
          <p:cNvSpPr/>
          <p:nvPr/>
        </p:nvSpPr>
        <p:spPr>
          <a:xfrm>
            <a:off x="4224909" y="3014853"/>
            <a:ext cx="2889504" cy="219456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4" name="Text 97">
            <a:extLst>
              <a:ext uri="{FF2B5EF4-FFF2-40B4-BE49-F238E27FC236}">
                <a16:creationId xmlns:a16="http://schemas.microsoft.com/office/drawing/2014/main" id="{A25F9C41-E79C-19C6-F60A-4C180B68380C}"/>
              </a:ext>
            </a:extLst>
          </p:cNvPr>
          <p:cNvSpPr/>
          <p:nvPr/>
        </p:nvSpPr>
        <p:spPr>
          <a:xfrm>
            <a:off x="4224909" y="3014853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dirty="0">
                <a:solidFill>
                  <a:srgbClr val="059669"/>
                </a:solidFill>
              </a:rPr>
              <a:t>Variable : 6-8%  </a:t>
            </a:r>
            <a:r>
              <a:rPr lang="fr-FR" sz="750" dirty="0">
                <a:solidFill>
                  <a:srgbClr val="CBD5E1"/>
                </a:solidFill>
              </a:rPr>
              <a:t> | </a:t>
            </a:r>
            <a:r>
              <a:rPr lang="fr-FR" sz="750" b="1" dirty="0">
                <a:solidFill>
                  <a:srgbClr val="2D4A7A"/>
                </a:solidFill>
              </a:rPr>
              <a:t>  BSPCE : 16-44%</a:t>
            </a:r>
            <a:endParaRPr lang="fr-FR" sz="750" dirty="0"/>
          </a:p>
        </p:txBody>
      </p:sp>
      <p:sp>
        <p:nvSpPr>
          <p:cNvPr id="95" name="Shape 98">
            <a:extLst>
              <a:ext uri="{FF2B5EF4-FFF2-40B4-BE49-F238E27FC236}">
                <a16:creationId xmlns:a16="http://schemas.microsoft.com/office/drawing/2014/main" id="{1CA536FB-BB2B-8EA9-F01A-F80B93068F40}"/>
              </a:ext>
            </a:extLst>
          </p:cNvPr>
          <p:cNvSpPr/>
          <p:nvPr/>
        </p:nvSpPr>
        <p:spPr>
          <a:xfrm>
            <a:off x="7242429" y="1673352"/>
            <a:ext cx="1901952" cy="20299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6" name="Shape 99">
            <a:extLst>
              <a:ext uri="{FF2B5EF4-FFF2-40B4-BE49-F238E27FC236}">
                <a16:creationId xmlns:a16="http://schemas.microsoft.com/office/drawing/2014/main" id="{20148CA4-28EA-3916-29FE-8116FF8936B1}"/>
              </a:ext>
            </a:extLst>
          </p:cNvPr>
          <p:cNvSpPr/>
          <p:nvPr/>
        </p:nvSpPr>
        <p:spPr>
          <a:xfrm>
            <a:off x="7242429" y="1673352"/>
            <a:ext cx="18288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8" name="Text 101">
            <a:extLst>
              <a:ext uri="{FF2B5EF4-FFF2-40B4-BE49-F238E27FC236}">
                <a16:creationId xmlns:a16="http://schemas.microsoft.com/office/drawing/2014/main" id="{E1D66226-6F31-9764-CBDE-147CE3070F82}"/>
              </a:ext>
            </a:extLst>
          </p:cNvPr>
          <p:cNvSpPr/>
          <p:nvPr/>
        </p:nvSpPr>
        <p:spPr>
          <a:xfrm>
            <a:off x="7333869" y="167335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kern="0" spc="150" dirty="0">
                <a:solidFill>
                  <a:srgbClr val="FFFFFF"/>
                </a:solidFill>
              </a:rPr>
              <a:t>STRUCTURES VISÉES</a:t>
            </a:r>
            <a:endParaRPr lang="fr-FR" sz="850" dirty="0"/>
          </a:p>
        </p:txBody>
      </p:sp>
      <p:sp>
        <p:nvSpPr>
          <p:cNvPr id="99" name="Shape 102">
            <a:extLst>
              <a:ext uri="{FF2B5EF4-FFF2-40B4-BE49-F238E27FC236}">
                <a16:creationId xmlns:a16="http://schemas.microsoft.com/office/drawing/2014/main" id="{1551FE98-F8AC-4BDA-60CA-BB66B1E5EC04}"/>
              </a:ext>
            </a:extLst>
          </p:cNvPr>
          <p:cNvSpPr/>
          <p:nvPr/>
        </p:nvSpPr>
        <p:spPr>
          <a:xfrm>
            <a:off x="7315581" y="2039112"/>
            <a:ext cx="1755648" cy="274320"/>
          </a:xfrm>
          <a:prstGeom prst="rect">
            <a:avLst/>
          </a:prstGeom>
          <a:solidFill>
            <a:srgbClr val="E0F2FE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0" name="Text 103">
            <a:extLst>
              <a:ext uri="{FF2B5EF4-FFF2-40B4-BE49-F238E27FC236}">
                <a16:creationId xmlns:a16="http://schemas.microsoft.com/office/drawing/2014/main" id="{F649CD9B-7FCC-36DF-5E6C-3F3C88F7A65A}"/>
              </a:ext>
            </a:extLst>
          </p:cNvPr>
          <p:cNvSpPr/>
          <p:nvPr/>
        </p:nvSpPr>
        <p:spPr>
          <a:xfrm>
            <a:off x="7352157" y="20391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b="1" dirty="0">
                <a:solidFill>
                  <a:srgbClr val="0891B2"/>
                </a:solidFill>
              </a:rPr>
              <a:t>★ INSERM / CNRS</a:t>
            </a:r>
            <a:endParaRPr lang="fr-FR" sz="800" dirty="0"/>
          </a:p>
          <a:p>
            <a:pPr marL="0" indent="0">
              <a:buNone/>
            </a:pPr>
            <a:r>
              <a:rPr lang="fr-FR" sz="680" dirty="0">
                <a:solidFill>
                  <a:srgbClr val="64748B"/>
                </a:solidFill>
              </a:rPr>
              <a:t>Horigene actif — réseau direct</a:t>
            </a:r>
            <a:endParaRPr lang="fr-FR" sz="800" dirty="0"/>
          </a:p>
        </p:txBody>
      </p:sp>
      <p:sp>
        <p:nvSpPr>
          <p:cNvPr id="101" name="Shape 104">
            <a:extLst>
              <a:ext uri="{FF2B5EF4-FFF2-40B4-BE49-F238E27FC236}">
                <a16:creationId xmlns:a16="http://schemas.microsoft.com/office/drawing/2014/main" id="{F875AF88-AAEA-2DA7-A72D-A3966727E7F8}"/>
              </a:ext>
            </a:extLst>
          </p:cNvPr>
          <p:cNvSpPr/>
          <p:nvPr/>
        </p:nvSpPr>
        <p:spPr>
          <a:xfrm>
            <a:off x="7315581" y="2368296"/>
            <a:ext cx="175564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2" name="Text 105">
            <a:extLst>
              <a:ext uri="{FF2B5EF4-FFF2-40B4-BE49-F238E27FC236}">
                <a16:creationId xmlns:a16="http://schemas.microsoft.com/office/drawing/2014/main" id="{A3EC7F0C-9B36-45CA-BB6A-AAB4144D6735}"/>
              </a:ext>
            </a:extLst>
          </p:cNvPr>
          <p:cNvSpPr/>
          <p:nvPr/>
        </p:nvSpPr>
        <p:spPr>
          <a:xfrm>
            <a:off x="7352157" y="236829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b="1" dirty="0">
                <a:solidFill>
                  <a:srgbClr val="1B2A4A"/>
                </a:solidFill>
              </a:rPr>
              <a:t>▸ Biotech / Pharma</a:t>
            </a:r>
            <a:endParaRPr lang="fr-FR" sz="800" dirty="0"/>
          </a:p>
          <a:p>
            <a:pPr marL="0" indent="0">
              <a:buNone/>
            </a:pPr>
            <a:r>
              <a:rPr lang="fr-FR" sz="680" dirty="0" err="1">
                <a:solidFill>
                  <a:srgbClr val="64748B"/>
                </a:solidFill>
              </a:rPr>
              <a:t>Biomérieux</a:t>
            </a:r>
            <a:r>
              <a:rPr lang="fr-FR" sz="680" dirty="0">
                <a:solidFill>
                  <a:srgbClr val="64748B"/>
                </a:solidFill>
              </a:rPr>
              <a:t> · Sanofi · Ipsen</a:t>
            </a:r>
            <a:endParaRPr lang="fr-FR" sz="800" dirty="0"/>
          </a:p>
        </p:txBody>
      </p:sp>
      <p:sp>
        <p:nvSpPr>
          <p:cNvPr id="103" name="Shape 106">
            <a:extLst>
              <a:ext uri="{FF2B5EF4-FFF2-40B4-BE49-F238E27FC236}">
                <a16:creationId xmlns:a16="http://schemas.microsoft.com/office/drawing/2014/main" id="{C2C6BB76-4E6E-675B-268B-915A45F74E96}"/>
              </a:ext>
            </a:extLst>
          </p:cNvPr>
          <p:cNvSpPr/>
          <p:nvPr/>
        </p:nvSpPr>
        <p:spPr>
          <a:xfrm>
            <a:off x="7315581" y="2697480"/>
            <a:ext cx="1755648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4" name="Text 107">
            <a:extLst>
              <a:ext uri="{FF2B5EF4-FFF2-40B4-BE49-F238E27FC236}">
                <a16:creationId xmlns:a16="http://schemas.microsoft.com/office/drawing/2014/main" id="{BC81A37A-F137-270B-AC57-726660230F1C}"/>
              </a:ext>
            </a:extLst>
          </p:cNvPr>
          <p:cNvSpPr/>
          <p:nvPr/>
        </p:nvSpPr>
        <p:spPr>
          <a:xfrm>
            <a:off x="7352157" y="269748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b="1" dirty="0">
                <a:solidFill>
                  <a:srgbClr val="1B2A4A"/>
                </a:solidFill>
              </a:rPr>
              <a:t>▸ Startups </a:t>
            </a:r>
            <a:r>
              <a:rPr lang="fr-FR" sz="800" b="1" dirty="0" err="1">
                <a:solidFill>
                  <a:srgbClr val="1B2A4A"/>
                </a:solidFill>
              </a:rPr>
              <a:t>Healthtech</a:t>
            </a:r>
            <a:endParaRPr lang="fr-FR" sz="800" dirty="0"/>
          </a:p>
          <a:p>
            <a:pPr marL="0" indent="0">
              <a:buNone/>
            </a:pPr>
            <a:r>
              <a:rPr lang="fr-FR" sz="680" dirty="0" err="1">
                <a:solidFill>
                  <a:srgbClr val="64748B"/>
                </a:solidFill>
              </a:rPr>
              <a:t>Owkin</a:t>
            </a:r>
            <a:r>
              <a:rPr lang="fr-FR" sz="680" dirty="0">
                <a:solidFill>
                  <a:srgbClr val="64748B"/>
                </a:solidFill>
              </a:rPr>
              <a:t> · </a:t>
            </a:r>
            <a:r>
              <a:rPr lang="fr-FR" sz="680" dirty="0" err="1">
                <a:solidFill>
                  <a:srgbClr val="64748B"/>
                </a:solidFill>
              </a:rPr>
              <a:t>Nexomis</a:t>
            </a:r>
            <a:r>
              <a:rPr lang="fr-FR" sz="680" dirty="0">
                <a:solidFill>
                  <a:srgbClr val="64748B"/>
                </a:solidFill>
              </a:rPr>
              <a:t> · </a:t>
            </a:r>
            <a:r>
              <a:rPr lang="fr-FR" sz="680" dirty="0" err="1">
                <a:solidFill>
                  <a:srgbClr val="64748B"/>
                </a:solidFill>
              </a:rPr>
              <a:t>BioSerenity</a:t>
            </a:r>
            <a:endParaRPr lang="fr-FR" sz="800" dirty="0"/>
          </a:p>
        </p:txBody>
      </p:sp>
      <p:sp>
        <p:nvSpPr>
          <p:cNvPr id="105" name="Shape 108">
            <a:extLst>
              <a:ext uri="{FF2B5EF4-FFF2-40B4-BE49-F238E27FC236}">
                <a16:creationId xmlns:a16="http://schemas.microsoft.com/office/drawing/2014/main" id="{A76522B1-6C1F-8782-5601-D5357B2E3A18}"/>
              </a:ext>
            </a:extLst>
          </p:cNvPr>
          <p:cNvSpPr/>
          <p:nvPr/>
        </p:nvSpPr>
        <p:spPr>
          <a:xfrm>
            <a:off x="7315581" y="3026664"/>
            <a:ext cx="175564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6" name="Text 109">
            <a:extLst>
              <a:ext uri="{FF2B5EF4-FFF2-40B4-BE49-F238E27FC236}">
                <a16:creationId xmlns:a16="http://schemas.microsoft.com/office/drawing/2014/main" id="{9CE4FACB-D1F9-3285-06A6-4C79216C3595}"/>
              </a:ext>
            </a:extLst>
          </p:cNvPr>
          <p:cNvSpPr/>
          <p:nvPr/>
        </p:nvSpPr>
        <p:spPr>
          <a:xfrm>
            <a:off x="7352157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b="1" dirty="0">
                <a:solidFill>
                  <a:srgbClr val="1B2A4A"/>
                </a:solidFill>
              </a:rPr>
              <a:t>▸ Plateformes bio-info</a:t>
            </a:r>
            <a:endParaRPr lang="fr-FR" sz="800" dirty="0"/>
          </a:p>
          <a:p>
            <a:pPr marL="0" indent="0">
              <a:buNone/>
            </a:pPr>
            <a:r>
              <a:rPr lang="fr-FR" sz="680" dirty="0">
                <a:solidFill>
                  <a:srgbClr val="64748B"/>
                </a:solidFill>
              </a:rPr>
              <a:t>IFB · GenoToul · PRABI</a:t>
            </a:r>
            <a:endParaRPr lang="fr-FR" sz="800" dirty="0"/>
          </a:p>
        </p:txBody>
      </p:sp>
      <p:sp>
        <p:nvSpPr>
          <p:cNvPr id="107" name="Shape 110">
            <a:extLst>
              <a:ext uri="{FF2B5EF4-FFF2-40B4-BE49-F238E27FC236}">
                <a16:creationId xmlns:a16="http://schemas.microsoft.com/office/drawing/2014/main" id="{5014FFC1-AD54-FE8D-9B10-877BF7E79690}"/>
              </a:ext>
            </a:extLst>
          </p:cNvPr>
          <p:cNvSpPr/>
          <p:nvPr/>
        </p:nvSpPr>
        <p:spPr>
          <a:xfrm>
            <a:off x="7315581" y="3355848"/>
            <a:ext cx="1755648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8" name="Text 111">
            <a:extLst>
              <a:ext uri="{FF2B5EF4-FFF2-40B4-BE49-F238E27FC236}">
                <a16:creationId xmlns:a16="http://schemas.microsoft.com/office/drawing/2014/main" id="{14230BF9-7E39-D8ED-ED9D-7C3BB5945C19}"/>
              </a:ext>
            </a:extLst>
          </p:cNvPr>
          <p:cNvSpPr/>
          <p:nvPr/>
        </p:nvSpPr>
        <p:spPr>
          <a:xfrm>
            <a:off x="7352157" y="335584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b="1" dirty="0">
                <a:solidFill>
                  <a:srgbClr val="1B2A4A"/>
                </a:solidFill>
              </a:rPr>
              <a:t>▸ CHU / Hôpitaux</a:t>
            </a:r>
            <a:endParaRPr lang="fr-FR" sz="800" dirty="0"/>
          </a:p>
          <a:p>
            <a:pPr marL="0" indent="0">
              <a:buNone/>
            </a:pPr>
            <a:r>
              <a:rPr lang="fr-FR" sz="680" dirty="0">
                <a:solidFill>
                  <a:srgbClr val="64748B"/>
                </a:solidFill>
              </a:rPr>
              <a:t>Bio-info clinique &amp; génomique</a:t>
            </a:r>
            <a:endParaRPr lang="fr-FR" sz="800" dirty="0"/>
          </a:p>
        </p:txBody>
      </p:sp>
      <p:sp>
        <p:nvSpPr>
          <p:cNvPr id="109" name="Shape 112">
            <a:extLst>
              <a:ext uri="{FF2B5EF4-FFF2-40B4-BE49-F238E27FC236}">
                <a16:creationId xmlns:a16="http://schemas.microsoft.com/office/drawing/2014/main" id="{5E35157D-7137-AEF3-84D0-1BEDD221F341}"/>
              </a:ext>
            </a:extLst>
          </p:cNvPr>
          <p:cNvSpPr/>
          <p:nvPr/>
        </p:nvSpPr>
        <p:spPr>
          <a:xfrm>
            <a:off x="109728" y="3785616"/>
            <a:ext cx="8924544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0" name="Shape 113">
            <a:extLst>
              <a:ext uri="{FF2B5EF4-FFF2-40B4-BE49-F238E27FC236}">
                <a16:creationId xmlns:a16="http://schemas.microsoft.com/office/drawing/2014/main" id="{33196749-C398-EB99-F9A7-4B50A289C67B}"/>
              </a:ext>
            </a:extLst>
          </p:cNvPr>
          <p:cNvSpPr/>
          <p:nvPr/>
        </p:nvSpPr>
        <p:spPr>
          <a:xfrm>
            <a:off x="109728" y="3785616"/>
            <a:ext cx="892454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111" name="Shape 114">
            <a:extLst>
              <a:ext uri="{FF2B5EF4-FFF2-40B4-BE49-F238E27FC236}">
                <a16:creationId xmlns:a16="http://schemas.microsoft.com/office/drawing/2014/main" id="{5A830B06-A3BB-70A3-D30C-1243CB0DEA5B}"/>
              </a:ext>
            </a:extLst>
          </p:cNvPr>
          <p:cNvSpPr/>
          <p:nvPr/>
        </p:nvSpPr>
        <p:spPr>
          <a:xfrm>
            <a:off x="109728" y="3950208"/>
            <a:ext cx="8924544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2" name="Text 115">
            <a:extLst>
              <a:ext uri="{FF2B5EF4-FFF2-40B4-BE49-F238E27FC236}">
                <a16:creationId xmlns:a16="http://schemas.microsoft.com/office/drawing/2014/main" id="{B087C84E-944B-FD57-1C5F-C550B7F89E40}"/>
              </a:ext>
            </a:extLst>
          </p:cNvPr>
          <p:cNvSpPr/>
          <p:nvPr/>
        </p:nvSpPr>
        <p:spPr>
          <a:xfrm>
            <a:off x="109728" y="3785616"/>
            <a:ext cx="8833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100" dirty="0">
                <a:solidFill>
                  <a:srgbClr val="FFFFFF"/>
                </a:solidFill>
              </a:rPr>
              <a:t>PROSPECTION RÉALISTE — Stratégie de recherche d'emploi</a:t>
            </a:r>
            <a:endParaRPr lang="fr-FR" sz="900" dirty="0"/>
          </a:p>
        </p:txBody>
      </p:sp>
      <p:sp>
        <p:nvSpPr>
          <p:cNvPr id="113" name="Shape 116">
            <a:extLst>
              <a:ext uri="{FF2B5EF4-FFF2-40B4-BE49-F238E27FC236}">
                <a16:creationId xmlns:a16="http://schemas.microsoft.com/office/drawing/2014/main" id="{3020150B-E6F1-6E03-7DD7-0548043C38C4}"/>
              </a:ext>
            </a:extLst>
          </p:cNvPr>
          <p:cNvSpPr/>
          <p:nvPr/>
        </p:nvSpPr>
        <p:spPr>
          <a:xfrm>
            <a:off x="182880" y="4133088"/>
            <a:ext cx="2176272" cy="813816"/>
          </a:xfrm>
          <a:prstGeom prst="rect">
            <a:avLst/>
          </a:prstGeom>
          <a:solidFill>
            <a:srgbClr val="E0F2FE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sz="1000" dirty="0"/>
          </a:p>
        </p:txBody>
      </p:sp>
      <p:sp>
        <p:nvSpPr>
          <p:cNvPr id="114" name="Shape 117">
            <a:extLst>
              <a:ext uri="{FF2B5EF4-FFF2-40B4-BE49-F238E27FC236}">
                <a16:creationId xmlns:a16="http://schemas.microsoft.com/office/drawing/2014/main" id="{572CCF38-CDA0-CEEA-C54F-3290BB65CC90}"/>
              </a:ext>
            </a:extLst>
          </p:cNvPr>
          <p:cNvSpPr/>
          <p:nvPr/>
        </p:nvSpPr>
        <p:spPr>
          <a:xfrm>
            <a:off x="182880" y="4133088"/>
            <a:ext cx="45720" cy="8138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 sz="1000" dirty="0"/>
          </a:p>
        </p:txBody>
      </p:sp>
      <p:sp>
        <p:nvSpPr>
          <p:cNvPr id="115" name="Text 118">
            <a:extLst>
              <a:ext uri="{FF2B5EF4-FFF2-40B4-BE49-F238E27FC236}">
                <a16:creationId xmlns:a16="http://schemas.microsoft.com/office/drawing/2014/main" id="{BDD7F8A9-21E6-F915-EEF2-7CC3BE930975}"/>
              </a:ext>
            </a:extLst>
          </p:cNvPr>
          <p:cNvSpPr/>
          <p:nvPr/>
        </p:nvSpPr>
        <p:spPr>
          <a:xfrm>
            <a:off x="274320" y="4133088"/>
            <a:ext cx="2048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0891B2"/>
                </a:solidFill>
              </a:rPr>
              <a:t>🔗 Réseau CIRI / INSERM</a:t>
            </a:r>
            <a:endParaRPr lang="fr-FR" sz="1000" dirty="0"/>
          </a:p>
          <a:p>
            <a:pPr marL="0" indent="0">
              <a:buNone/>
            </a:pPr>
            <a:r>
              <a:rPr lang="fr-FR" sz="1000" dirty="0">
                <a:solidFill>
                  <a:srgbClr val="1B2A4A"/>
                </a:solidFill>
              </a:rPr>
              <a:t>J</a:t>
            </a:r>
          </a:p>
          <a:p>
            <a:pPr marL="0" indent="0">
              <a:buNone/>
            </a:pPr>
            <a:r>
              <a:rPr lang="fr-FR" sz="1000" dirty="0" err="1">
                <a:solidFill>
                  <a:srgbClr val="1B2A4A"/>
                </a:solidFill>
              </a:rPr>
              <a:t>ulien</a:t>
            </a:r>
            <a:r>
              <a:rPr lang="fr-FR" sz="1000" dirty="0">
                <a:solidFill>
                  <a:srgbClr val="1B2A4A"/>
                </a:solidFill>
              </a:rPr>
              <a:t> </a:t>
            </a:r>
            <a:r>
              <a:rPr lang="fr-FR" sz="1000" dirty="0" err="1">
                <a:solidFill>
                  <a:srgbClr val="1B2A4A"/>
                </a:solidFill>
              </a:rPr>
              <a:t>Fouret</a:t>
            </a:r>
            <a:r>
              <a:rPr lang="fr-FR" sz="1000" dirty="0">
                <a:solidFill>
                  <a:srgbClr val="1B2A4A"/>
                </a:solidFill>
              </a:rPr>
              <a:t>, Xavier Charpentier</a:t>
            </a:r>
            <a:endParaRPr lang="fr-FR" sz="1000" dirty="0"/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</a:rPr>
              <a:t>Candidatures directes unités Lyon</a:t>
            </a:r>
            <a:endParaRPr lang="fr-FR" sz="1000" dirty="0"/>
          </a:p>
        </p:txBody>
      </p:sp>
      <p:sp>
        <p:nvSpPr>
          <p:cNvPr id="116" name="Shape 119">
            <a:extLst>
              <a:ext uri="{FF2B5EF4-FFF2-40B4-BE49-F238E27FC236}">
                <a16:creationId xmlns:a16="http://schemas.microsoft.com/office/drawing/2014/main" id="{55506D30-BC5B-5C13-E349-BA626E214BE6}"/>
              </a:ext>
            </a:extLst>
          </p:cNvPr>
          <p:cNvSpPr/>
          <p:nvPr/>
        </p:nvSpPr>
        <p:spPr>
          <a:xfrm>
            <a:off x="2414016" y="4133088"/>
            <a:ext cx="2176272" cy="813816"/>
          </a:xfrm>
          <a:prstGeom prst="rect">
            <a:avLst/>
          </a:prstGeom>
          <a:solidFill>
            <a:srgbClr val="F0F4FF"/>
          </a:solidFill>
          <a:ln w="10160">
            <a:solidFill>
              <a:srgbClr val="2D4A7A"/>
            </a:solidFill>
            <a:prstDash val="solid"/>
          </a:ln>
        </p:spPr>
        <p:txBody>
          <a:bodyPr/>
          <a:lstStyle/>
          <a:p>
            <a:endParaRPr lang="fr-FR" sz="1000" dirty="0"/>
          </a:p>
        </p:txBody>
      </p:sp>
      <p:sp>
        <p:nvSpPr>
          <p:cNvPr id="117" name="Shape 120">
            <a:extLst>
              <a:ext uri="{FF2B5EF4-FFF2-40B4-BE49-F238E27FC236}">
                <a16:creationId xmlns:a16="http://schemas.microsoft.com/office/drawing/2014/main" id="{25ACC8DF-9273-96EF-46D8-CFF1F7F6AC12}"/>
              </a:ext>
            </a:extLst>
          </p:cNvPr>
          <p:cNvSpPr/>
          <p:nvPr/>
        </p:nvSpPr>
        <p:spPr>
          <a:xfrm>
            <a:off x="2414016" y="4133088"/>
            <a:ext cx="45720" cy="813816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  <p:txBody>
          <a:bodyPr/>
          <a:lstStyle/>
          <a:p>
            <a:endParaRPr lang="fr-FR" sz="1000" dirty="0"/>
          </a:p>
        </p:txBody>
      </p:sp>
      <p:sp>
        <p:nvSpPr>
          <p:cNvPr id="118" name="Text 121">
            <a:extLst>
              <a:ext uri="{FF2B5EF4-FFF2-40B4-BE49-F238E27FC236}">
                <a16:creationId xmlns:a16="http://schemas.microsoft.com/office/drawing/2014/main" id="{76E19974-0374-D5C1-46F0-F02883E0146C}"/>
              </a:ext>
            </a:extLst>
          </p:cNvPr>
          <p:cNvSpPr/>
          <p:nvPr/>
        </p:nvSpPr>
        <p:spPr>
          <a:xfrm>
            <a:off x="2505456" y="4133088"/>
            <a:ext cx="2048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2D4A7A"/>
                </a:solidFill>
              </a:rPr>
              <a:t>💻 Portfolio technique</a:t>
            </a:r>
            <a:endParaRPr lang="fr-FR" sz="1000" dirty="0"/>
          </a:p>
          <a:p>
            <a:pPr marL="0" indent="0">
              <a:buNone/>
            </a:pPr>
            <a:endParaRPr lang="fr-FR" sz="10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fr-FR" sz="1000" dirty="0">
                <a:solidFill>
                  <a:srgbClr val="1B2A4A"/>
                </a:solidFill>
              </a:rPr>
              <a:t>GitHub public Strain(+)</a:t>
            </a:r>
            <a:r>
              <a:rPr lang="fr-FR" sz="1000" dirty="0" err="1">
                <a:solidFill>
                  <a:srgbClr val="1B2A4A"/>
                </a:solidFill>
              </a:rPr>
              <a:t>Lab</a:t>
            </a:r>
            <a:endParaRPr lang="fr-FR" sz="1000" dirty="0"/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</a:rPr>
              <a:t>CI/CD · docs · démo live</a:t>
            </a:r>
            <a:endParaRPr lang="fr-FR" sz="1000" dirty="0"/>
          </a:p>
        </p:txBody>
      </p:sp>
      <p:sp>
        <p:nvSpPr>
          <p:cNvPr id="119" name="Shape 122">
            <a:extLst>
              <a:ext uri="{FF2B5EF4-FFF2-40B4-BE49-F238E27FC236}">
                <a16:creationId xmlns:a16="http://schemas.microsoft.com/office/drawing/2014/main" id="{0EF0E456-5EC8-F266-C286-FBDF001F1BCD}"/>
              </a:ext>
            </a:extLst>
          </p:cNvPr>
          <p:cNvSpPr/>
          <p:nvPr/>
        </p:nvSpPr>
        <p:spPr>
          <a:xfrm>
            <a:off x="4645152" y="4133088"/>
            <a:ext cx="2176272" cy="813816"/>
          </a:xfrm>
          <a:prstGeom prst="rect">
            <a:avLst/>
          </a:prstGeom>
          <a:solidFill>
            <a:srgbClr val="FFF7ED"/>
          </a:solidFill>
          <a:ln w="1016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 sz="1000" dirty="0"/>
          </a:p>
        </p:txBody>
      </p:sp>
      <p:sp>
        <p:nvSpPr>
          <p:cNvPr id="120" name="Shape 123">
            <a:extLst>
              <a:ext uri="{FF2B5EF4-FFF2-40B4-BE49-F238E27FC236}">
                <a16:creationId xmlns:a16="http://schemas.microsoft.com/office/drawing/2014/main" id="{781FFE71-8188-CA8A-DAEC-EB36A85B8E5C}"/>
              </a:ext>
            </a:extLst>
          </p:cNvPr>
          <p:cNvSpPr/>
          <p:nvPr/>
        </p:nvSpPr>
        <p:spPr>
          <a:xfrm>
            <a:off x="4645152" y="4133088"/>
            <a:ext cx="45720" cy="8138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 sz="1000" dirty="0"/>
          </a:p>
        </p:txBody>
      </p:sp>
      <p:sp>
        <p:nvSpPr>
          <p:cNvPr id="121" name="Text 124">
            <a:extLst>
              <a:ext uri="{FF2B5EF4-FFF2-40B4-BE49-F238E27FC236}">
                <a16:creationId xmlns:a16="http://schemas.microsoft.com/office/drawing/2014/main" id="{C471FC28-D446-4344-7E0A-72653D033291}"/>
              </a:ext>
            </a:extLst>
          </p:cNvPr>
          <p:cNvSpPr/>
          <p:nvPr/>
        </p:nvSpPr>
        <p:spPr>
          <a:xfrm>
            <a:off x="4736592" y="4133088"/>
            <a:ext cx="2048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EA580C"/>
                </a:solidFill>
              </a:rPr>
              <a:t>📋 Plateformes ciblées</a:t>
            </a:r>
            <a:endParaRPr lang="fr-FR" sz="1000" dirty="0"/>
          </a:p>
          <a:p>
            <a:pPr marL="0" indent="0">
              <a:buNone/>
            </a:pPr>
            <a:endParaRPr lang="fr-FR" sz="10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fr-FR" sz="1000" dirty="0">
                <a:solidFill>
                  <a:srgbClr val="1B2A4A"/>
                </a:solidFill>
              </a:rPr>
              <a:t>offres.sfbi.fr · emploi.cnrs.fr</a:t>
            </a:r>
            <a:endParaRPr lang="fr-FR" sz="1000" dirty="0"/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</a:rPr>
              <a:t>LinkedIn · APEC · EURES</a:t>
            </a:r>
            <a:endParaRPr lang="fr-FR" sz="1000" dirty="0"/>
          </a:p>
        </p:txBody>
      </p:sp>
      <p:sp>
        <p:nvSpPr>
          <p:cNvPr id="122" name="Shape 125">
            <a:extLst>
              <a:ext uri="{FF2B5EF4-FFF2-40B4-BE49-F238E27FC236}">
                <a16:creationId xmlns:a16="http://schemas.microsoft.com/office/drawing/2014/main" id="{DFE07F0B-3C2E-7FB0-1DDB-3590F07183A9}"/>
              </a:ext>
            </a:extLst>
          </p:cNvPr>
          <p:cNvSpPr/>
          <p:nvPr/>
        </p:nvSpPr>
        <p:spPr>
          <a:xfrm>
            <a:off x="6876288" y="4133088"/>
            <a:ext cx="2176272" cy="813816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sz="1000" dirty="0"/>
          </a:p>
        </p:txBody>
      </p:sp>
      <p:sp>
        <p:nvSpPr>
          <p:cNvPr id="123" name="Shape 126">
            <a:extLst>
              <a:ext uri="{FF2B5EF4-FFF2-40B4-BE49-F238E27FC236}">
                <a16:creationId xmlns:a16="http://schemas.microsoft.com/office/drawing/2014/main" id="{8B57B748-ADF8-34BD-6314-0306DAFBFB28}"/>
              </a:ext>
            </a:extLst>
          </p:cNvPr>
          <p:cNvSpPr/>
          <p:nvPr/>
        </p:nvSpPr>
        <p:spPr>
          <a:xfrm>
            <a:off x="6876288" y="4133088"/>
            <a:ext cx="45720" cy="8138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sz="1000" dirty="0"/>
          </a:p>
        </p:txBody>
      </p:sp>
      <p:sp>
        <p:nvSpPr>
          <p:cNvPr id="124" name="Text 127">
            <a:extLst>
              <a:ext uri="{FF2B5EF4-FFF2-40B4-BE49-F238E27FC236}">
                <a16:creationId xmlns:a16="http://schemas.microsoft.com/office/drawing/2014/main" id="{B3078E3A-57E1-2CA9-7B19-7773A51C3EF4}"/>
              </a:ext>
            </a:extLst>
          </p:cNvPr>
          <p:cNvSpPr/>
          <p:nvPr/>
        </p:nvSpPr>
        <p:spPr>
          <a:xfrm>
            <a:off x="6967728" y="4133088"/>
            <a:ext cx="2048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059669"/>
                </a:solidFill>
              </a:rPr>
              <a:t>🚀 Candidatures spontanées</a:t>
            </a:r>
            <a:endParaRPr lang="fr-FR" sz="1000" dirty="0"/>
          </a:p>
          <a:p>
            <a:pPr marL="0" indent="0">
              <a:buNone/>
            </a:pPr>
            <a:endParaRPr lang="fr-FR" sz="1000" dirty="0">
              <a:solidFill>
                <a:srgbClr val="1B2A4A"/>
              </a:solidFill>
            </a:endParaRPr>
          </a:p>
          <a:p>
            <a:pPr marL="0" indent="0">
              <a:buNone/>
            </a:pPr>
            <a:r>
              <a:rPr lang="fr-FR" sz="1000" dirty="0" err="1">
                <a:solidFill>
                  <a:srgbClr val="1B2A4A"/>
                </a:solidFill>
              </a:rPr>
              <a:t>Biomérieux</a:t>
            </a:r>
            <a:r>
              <a:rPr lang="fr-FR" sz="1000" dirty="0">
                <a:solidFill>
                  <a:srgbClr val="1B2A4A"/>
                </a:solidFill>
              </a:rPr>
              <a:t> · Sanofi Pasteur</a:t>
            </a:r>
            <a:endParaRPr lang="fr-FR" sz="1000" dirty="0"/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</a:rPr>
              <a:t>Boiron · </a:t>
            </a:r>
            <a:r>
              <a:rPr lang="fr-FR" sz="1000" dirty="0" err="1">
                <a:solidFill>
                  <a:srgbClr val="64748B"/>
                </a:solidFill>
              </a:rPr>
              <a:t>Nexomis</a:t>
            </a:r>
            <a:r>
              <a:rPr lang="fr-FR" sz="1000" dirty="0">
                <a:solidFill>
                  <a:srgbClr val="64748B"/>
                </a:solidFill>
              </a:rPr>
              <a:t> · </a:t>
            </a:r>
            <a:r>
              <a:rPr lang="fr-FR" sz="1000" dirty="0" err="1">
                <a:solidFill>
                  <a:srgbClr val="64748B"/>
                </a:solidFill>
              </a:rPr>
              <a:t>Owkin</a:t>
            </a:r>
            <a:endParaRPr lang="fr-FR" sz="1000" dirty="0"/>
          </a:p>
        </p:txBody>
      </p:sp>
      <p:sp>
        <p:nvSpPr>
          <p:cNvPr id="130" name="Shape 0">
            <a:extLst>
              <a:ext uri="{FF2B5EF4-FFF2-40B4-BE49-F238E27FC236}">
                <a16:creationId xmlns:a16="http://schemas.microsoft.com/office/drawing/2014/main" id="{219BC6F8-4274-BBC2-CE8D-5A2CABB890C7}"/>
              </a:ext>
            </a:extLst>
          </p:cNvPr>
          <p:cNvSpPr/>
          <p:nvPr/>
        </p:nvSpPr>
        <p:spPr>
          <a:xfrm>
            <a:off x="0" y="8389"/>
            <a:ext cx="9144000" cy="60157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1" name="Text 0">
            <a:extLst>
              <a:ext uri="{FF2B5EF4-FFF2-40B4-BE49-F238E27FC236}">
                <a16:creationId xmlns:a16="http://schemas.microsoft.com/office/drawing/2014/main" id="{CB208261-D78B-F764-82D4-8F8FBB8D377E}"/>
              </a:ext>
            </a:extLst>
          </p:cNvPr>
          <p:cNvSpPr/>
          <p:nvPr/>
        </p:nvSpPr>
        <p:spPr>
          <a:xfrm>
            <a:off x="320040" y="9296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000" b="1" noProof="0" dirty="0">
                <a:solidFill>
                  <a:schemeClr val="bg1"/>
                </a:solidFill>
              </a:rPr>
              <a:t>08 </a:t>
            </a:r>
            <a:r>
              <a:rPr lang="fr-FR" sz="2000" dirty="0">
                <a:solidFill>
                  <a:schemeClr val="bg1"/>
                </a:solidFill>
              </a:rPr>
              <a:t>— </a:t>
            </a:r>
            <a:r>
              <a:rPr lang="fr-FR" sz="2000" b="1" dirty="0">
                <a:solidFill>
                  <a:schemeClr val="bg1"/>
                </a:solidFill>
              </a:rPr>
              <a:t>Analyse du marché : Data Engineer &amp; AI Engineer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DB41F3E1-A79B-FF98-1D07-C8992B45C448}"/>
              </a:ext>
            </a:extLst>
          </p:cNvPr>
          <p:cNvSpPr txBox="1"/>
          <p:nvPr/>
        </p:nvSpPr>
        <p:spPr>
          <a:xfrm>
            <a:off x="114491" y="4946904"/>
            <a:ext cx="4576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1" i="1" dirty="0"/>
              <a:t>(France-2026-source=TPC)</a:t>
            </a:r>
            <a:endParaRPr lang="fr-FR" sz="1000" i="1" dirty="0"/>
          </a:p>
        </p:txBody>
      </p:sp>
    </p:spTree>
    <p:extLst>
      <p:ext uri="{BB962C8B-B14F-4D97-AF65-F5344CB8AC3E}">
        <p14:creationId xmlns:p14="http://schemas.microsoft.com/office/powerpoint/2010/main" val="82887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505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 — Structures visées, conditions de travail &amp; salaires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83464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</a:rPr>
              <a:t>🏛️  Structures visées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▸ INSERM / CNRS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1er recruteur profils hybrides — plateforme Horigene déjà en place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▸ CHU / Hôpitaux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Bioinformatique clinique, données patients, génomique médicale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▸ Plateformes bio-info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IFB, GenoToul, PRABI, BIBS — plateformes mutualisées nationales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9443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▸ Biotech / Pharma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Sanofi, Biomérieux, Ipsen — R&amp;D data-driven, forte demande IA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493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▸ Startups Healthtech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Nexomis, Owkin, BioSerenity — profils hybrides très recherchés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40416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▸ Laboratoires micro.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Environnement terrain déjà connu (VECT-HORUS, CIRI, IBCP)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73552" y="804672"/>
            <a:ext cx="259689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73552" y="804672"/>
            <a:ext cx="2596896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410712" y="8961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</a:rPr>
              <a:t>💼  Conditions de travail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10712" y="12984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E"/>
                </a:solidFill>
              </a:rPr>
              <a:t>Environnement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10712" y="1490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Recherche publique, santé, biotech — milieu stimulant et exigeant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10712" y="1828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E"/>
                </a:solidFill>
              </a:rPr>
              <a:t>Équipe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0712" y="2020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Travail interdisciplinaire : biologistes, médecins, ingénieurs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10712" y="2359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E"/>
                </a:solidFill>
              </a:rPr>
              <a:t>Quotidien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10712" y="25511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Dev applicatif + échanges scientifiques + structuration de données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10712" y="28895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E"/>
                </a:solidFill>
              </a:rPr>
              <a:t>Localisation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10712" y="3081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Grandes métropoles : Lyon, Paris, Marseille, Bordeaux, Montpellier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10712" y="34198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E"/>
                </a:solidFill>
              </a:rPr>
              <a:t>Contrat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10712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CDI IR/IE en recherche publique · CDD postdoc · CDI en biotech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10712" y="39502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E"/>
                </a:solidFill>
              </a:rPr>
              <a:t>Rythme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10712" y="4142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A6A7A"/>
                </a:solidFill>
              </a:rPr>
              <a:t>Projets longs (12–36 mois) · autonomie forte · peu de pression commerciale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80760" y="804672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080760" y="804672"/>
            <a:ext cx="28346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217920" y="896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</a:rPr>
              <a:t>💰  Salaires débutants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1298448"/>
            <a:ext cx="2560320" cy="658368"/>
          </a:xfrm>
          <a:prstGeom prst="rect">
            <a:avLst/>
          </a:prstGeom>
          <a:solidFill>
            <a:srgbClr val="FDF3E3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263640" y="13350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E"/>
                </a:solidFill>
              </a:rPr>
              <a:t>IE / IR INSERM CNRS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15544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A020"/>
                </a:solidFill>
              </a:rPr>
              <a:t>26 000–33 000 €/an brut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A020"/>
                </a:solidFill>
              </a:rPr>
              <a:t>(hors primes, grille publique)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2048256"/>
            <a:ext cx="2560320" cy="658368"/>
          </a:xfrm>
          <a:prstGeom prst="rect">
            <a:avLst/>
          </a:prstGeom>
          <a:solidFill>
            <a:srgbClr val="FDF3E3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263640" y="20848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E"/>
                </a:solidFill>
              </a:rPr>
              <a:t>Ingénieur d'études biotech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23042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A020"/>
                </a:solidFill>
              </a:rPr>
              <a:t>32 000–42 000 €/an brut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2798064"/>
            <a:ext cx="2560320" cy="658368"/>
          </a:xfrm>
          <a:prstGeom prst="rect">
            <a:avLst/>
          </a:prstGeom>
          <a:solidFill>
            <a:srgbClr val="FDF3E3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263640" y="2834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E"/>
                </a:solidFill>
              </a:rPr>
              <a:t>Data Engineer bio privé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63640" y="30540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A020"/>
                </a:solidFill>
              </a:rPr>
              <a:t>38 000–50 000 €/an brut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3547872"/>
            <a:ext cx="2560320" cy="658368"/>
          </a:xfrm>
          <a:prstGeom prst="rect">
            <a:avLst/>
          </a:prstGeom>
          <a:solidFill>
            <a:srgbClr val="FDF3E3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263640" y="35844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E"/>
                </a:solidFill>
              </a:rPr>
              <a:t>Ingénieur IA / ML bio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3640" y="38039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A020"/>
                </a:solidFill>
              </a:rPr>
              <a:t>40 000–55 000 €/an brut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4297680"/>
            <a:ext cx="2560320" cy="658368"/>
          </a:xfrm>
          <a:prstGeom prst="rect">
            <a:avLst/>
          </a:prstGeom>
          <a:solidFill>
            <a:srgbClr val="FDF3E3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263640" y="43342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E"/>
                </a:solidFill>
              </a:rPr>
              <a:t>Startup Healthtech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3640" y="45537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A020"/>
                </a:solidFill>
              </a:rPr>
              <a:t>35 000–48 000 €/an + BSPCE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 — Stratégie de recherche d'emploi &amp; évolutions envisagées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51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5196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</a:rPr>
              <a:t>🎯  Comment je compte trouver un poste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🔗 Réseau CIRI / INSERM Gerland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5453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7A"/>
                </a:solidFill>
              </a:rPr>
              <a:t>Julien Fouret, Xavier Charpentier, Kelly Goldlust — contacts directs. Candidatures spontanées dans les unités INSERM de Lyon.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📋 Plateformes ciblées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7A"/>
                </a:solidFill>
              </a:rPr>
              <a:t>SFBI (offres.sfbi.fr) · APEC · emploi.cnrs.fr · LinkedIn · EURES pour international.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7066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💻 Portfolio technique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9352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7A"/>
                </a:solidFill>
              </a:rPr>
              <a:t>GitHub public avec Strain(+)Lab, documentation, CI/CD. Preuve concrète du niveau technique.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4015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🚀 Valorisation du projet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630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7A"/>
                </a:solidFill>
              </a:rPr>
              <a:t>Strain(+)Lab = référence directe + partenariat INSERM actif = argument fort en entretien.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0965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E"/>
                </a:solidFill>
              </a:rPr>
              <a:t>📩 Candidatures spontanées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325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7A"/>
                </a:solidFill>
              </a:rPr>
              <a:t>Biotech Lyon (Biomérieux, Sanofi Pasteur, Boiron) · Startups healthtech · Nexomis.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04672"/>
            <a:ext cx="4251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63440" y="804672"/>
            <a:ext cx="4251960" cy="54864"/>
          </a:xfrm>
          <a:prstGeom prst="rect">
            <a:avLst/>
          </a:prstGeom>
          <a:solidFill>
            <a:srgbClr val="7B5CE7"/>
          </a:solidFill>
          <a:ln w="12700">
            <a:solidFill>
              <a:srgbClr val="7B5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0060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CE7"/>
                </a:solidFill>
              </a:rPr>
              <a:t>📈  Évolutions envisagées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316736"/>
            <a:ext cx="3931920" cy="23774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46320" y="1335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Court terme (0–3 ans)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1591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E"/>
                </a:solidFill>
              </a:rPr>
              <a:t>▸ Data Engineer scientifique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865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E"/>
                </a:solidFill>
              </a:rPr>
              <a:t>▸ Développeur applicatif bio-info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E"/>
                </a:solidFill>
              </a:rPr>
              <a:t>▸ Ingénieur d'études plateforme de données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523744"/>
            <a:ext cx="3931920" cy="2377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2542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Moyen terme (3–7 ans)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2798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E"/>
                </a:solidFill>
              </a:rPr>
              <a:t>▸ Responsable plateforme de données INSERM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E"/>
                </a:solidFill>
              </a:rPr>
              <a:t>▸ Lead developer IA appliquée aux sciences du vivant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E"/>
                </a:solidFill>
              </a:rPr>
              <a:t>▸ Fondateur SaaS Strain(+)Lab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30752"/>
            <a:ext cx="3931920" cy="237744"/>
          </a:xfrm>
          <a:prstGeom prst="rect">
            <a:avLst/>
          </a:prstGeom>
          <a:solidFill>
            <a:srgbClr val="7B5CE7"/>
          </a:solidFill>
          <a:ln w="12700">
            <a:solidFill>
              <a:srgbClr val="7B5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46320" y="3749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Long terme (7+ ans)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E"/>
                </a:solidFill>
              </a:rPr>
              <a:t>▸ Directeur R&amp;D données biologiques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E"/>
                </a:solidFill>
              </a:rPr>
              <a:t>▸ Consultant expert bio-informatique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553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E"/>
                </a:solidFill>
              </a:rPr>
              <a:t>▸ Chef de projet IA scientifique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1743</TotalTime>
  <Words>1964</Words>
  <Application>Microsoft Office PowerPoint</Application>
  <PresentationFormat>Affichage à l'écran (16:9)</PresentationFormat>
  <Paragraphs>351</Paragraphs>
  <Slides>13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Aileron</vt:lpstr>
      <vt:lpstr>Aileron Bold</vt:lpstr>
      <vt:lpstr>Arial</vt:lpstr>
      <vt:lpstr>Arial Black</vt:lpstr>
      <vt:lpstr>Calibri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PPP S6 - Projet Professionnel et Personnel</dc:title>
  <dc:subject>PptxGenJS Presentation</dc:subject>
  <dc:creator>Nicolas Gaudin</dc:creator>
  <cp:lastModifiedBy>GAUDIN Nicolas</cp:lastModifiedBy>
  <cp:revision>97</cp:revision>
  <dcterms:created xsi:type="dcterms:W3CDTF">2026-05-11T09:15:39Z</dcterms:created>
  <dcterms:modified xsi:type="dcterms:W3CDTF">2026-05-12T16:32:24Z</dcterms:modified>
</cp:coreProperties>
</file>