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73" r:id="rId3"/>
    <p:sldId id="266" r:id="rId4"/>
    <p:sldId id="267" r:id="rId5"/>
    <p:sldId id="279" r:id="rId6"/>
    <p:sldId id="271" r:id="rId7"/>
    <p:sldId id="277" r:id="rId8"/>
    <p:sldId id="281" r:id="rId9"/>
    <p:sldId id="282" r:id="rId10"/>
    <p:sldId id="283" r:id="rId11"/>
    <p:sldId id="258" r:id="rId12"/>
    <p:sldId id="259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63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129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1A13A-2F5B-BF2D-4DAB-EFC6416CD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7A671-B7F2-C282-7B92-070110C66D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0853F-1873-FDFE-3AAE-8EC434F92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8EDC9-C138-C1B3-5DB9-E1182DCFC7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65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3C183-DF2A-9457-8D9A-142DBFA7E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501CB3-3D61-7E6E-BBAB-EC0FAC95AF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9467B-BD8A-A862-B174-0ADEEEB60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3F6A35-A0D0-5700-B23E-FF8A08660B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369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9B022-04B1-8CAE-8FF7-E27B80C5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DC1DE9-3CE0-EC53-E06B-A2D96C3966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5309F0-ABB6-D5EB-D9BD-38C7C45353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BC9E0D-F016-790F-AB0E-FA72161D9C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8234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84D11-2196-F3E4-1E26-7606694CA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552877-19DC-317D-8FA2-AE2C747904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DEC6D-FCA3-0424-3486-02749FD6BE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E4D58D-BD10-25AE-5DF0-3BCE8A475F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278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26E3D-79C9-8E6D-4D6F-F176FDE8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99DFEC-53B4-576F-40AA-BA089B09B7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ADD65D-1574-D686-D38F-EB1EEFD16A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25DC5-5A36-25EA-AE4D-FEBBF2D5C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619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77597-A296-B3F4-3346-9371F11A7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385F7B-9DF1-E6E7-25A3-84FB61151D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44802-2299-4AA4-A236-EC5036F095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E235AE-310D-C226-15FC-8A33E2E91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6053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e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C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56032" y="20116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A8CC"/>
                </a:solidFill>
              </a:rPr>
              <a:t>BUT 3 INFORMATIQUE — PARCOURS AGED  •  SOUTENANCE PPP S6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6032" y="530352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 GAUDIN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256032" y="153619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D4A8"/>
                </a:solidFill>
              </a:rPr>
              <a:t>De la biologie à l'informatique :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56032" y="19385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FFFFFF"/>
                </a:solidFill>
              </a:rPr>
              <a:t>une double compétence au service des données scientifiques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256032" y="2566472"/>
            <a:ext cx="8595360" cy="36576"/>
          </a:xfrm>
          <a:prstGeom prst="rect">
            <a:avLst/>
          </a:prstGeom>
          <a:solidFill>
            <a:srgbClr val="00A8CC"/>
          </a:solidFill>
          <a:ln/>
        </p:spPr>
        <p:txBody>
          <a:bodyPr/>
          <a:lstStyle/>
          <a:p>
            <a:endParaRPr lang="fr-FR" sz="1400"/>
          </a:p>
        </p:txBody>
      </p:sp>
      <p:sp>
        <p:nvSpPr>
          <p:cNvPr id="8" name="Shape 6"/>
          <p:cNvSpPr/>
          <p:nvPr/>
        </p:nvSpPr>
        <p:spPr>
          <a:xfrm>
            <a:off x="256032" y="2721920"/>
            <a:ext cx="4160520" cy="1261872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56032" y="2721920"/>
            <a:ext cx="91440" cy="1261872"/>
          </a:xfrm>
          <a:prstGeom prst="rect">
            <a:avLst/>
          </a:prstGeom>
          <a:solidFill>
            <a:srgbClr val="00D4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20624" y="2767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0D4A8"/>
                </a:solidFill>
              </a:rPr>
              <a:t>Mon profil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" y="3067729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100" b="1" dirty="0">
                <a:solidFill>
                  <a:schemeClr val="bg1"/>
                </a:solidFill>
              </a:rPr>
              <a:t>Biologiste/Biochimiste </a:t>
            </a:r>
            <a:r>
              <a:rPr lang="fr-FR" sz="1200" dirty="0">
                <a:solidFill>
                  <a:schemeClr val="bg1"/>
                </a:solidFill>
              </a:rPr>
              <a:t>de formation, en reconversion vers </a:t>
            </a:r>
            <a:r>
              <a:rPr lang="fr-FR" sz="1200" b="1" dirty="0">
                <a:solidFill>
                  <a:schemeClr val="bg1"/>
                </a:solidFill>
              </a:rPr>
              <a:t>les métiers de la donnée et du développement applicatif</a:t>
            </a:r>
            <a:endParaRPr lang="fr-FR" sz="1200" b="1" noProof="0" dirty="0">
              <a:solidFill>
                <a:schemeClr val="bg1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663440" y="2721920"/>
            <a:ext cx="4251960" cy="1261872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663440" y="2721920"/>
            <a:ext cx="91440" cy="1261872"/>
          </a:xfrm>
          <a:prstGeom prst="rect">
            <a:avLst/>
          </a:prstGeom>
          <a:solidFill>
            <a:srgbClr val="00A8C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28032" y="27676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0A8CC"/>
                </a:solidFill>
              </a:rPr>
              <a:t> Métier visé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28032" y="3051104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200" b="1" dirty="0">
                <a:solidFill>
                  <a:srgbClr val="00A8CC"/>
                </a:solidFill>
              </a:rPr>
              <a:t>Bio-informatique et </a:t>
            </a:r>
            <a:r>
              <a:rPr lang="fr-FR" sz="1200" b="1" dirty="0">
                <a:solidFill>
                  <a:schemeClr val="bg1"/>
                </a:solidFill>
              </a:rPr>
              <a:t>exploitation de données </a:t>
            </a:r>
            <a:r>
              <a:rPr lang="fr-FR" sz="1200" b="1" dirty="0">
                <a:solidFill>
                  <a:srgbClr val="00A8CC"/>
                </a:solidFill>
              </a:rPr>
              <a:t>: </a:t>
            </a:r>
            <a:r>
              <a:rPr lang="en-US" sz="1200" i="1" dirty="0">
                <a:solidFill>
                  <a:srgbClr val="00D4A8"/>
                </a:solidFill>
              </a:rPr>
              <a:t>appliqué aux sciences du vivant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" y="448056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8AA"/>
                </a:solidFill>
              </a:rPr>
              <a:t>Université Claude Bernard Lyon 1  •  Promotion 2026  •  Stage : CIRI – INSERM (Horigene)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2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7C0B52-2582-4B82-A44B-C778D3B9B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0">
            <a:extLst>
              <a:ext uri="{FF2B5EF4-FFF2-40B4-BE49-F238E27FC236}">
                <a16:creationId xmlns:a16="http://schemas.microsoft.com/office/drawing/2014/main" id="{182B65CD-7EF9-2BF8-F66A-B11CBB4BE02D}"/>
              </a:ext>
            </a:extLst>
          </p:cNvPr>
          <p:cNvSpPr/>
          <p:nvPr/>
        </p:nvSpPr>
        <p:spPr>
          <a:xfrm>
            <a:off x="0" y="-9367"/>
            <a:ext cx="9144000" cy="60157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A9B3EEF3-52BF-BAD4-A04A-927DFBBB369E}"/>
              </a:ext>
            </a:extLst>
          </p:cNvPr>
          <p:cNvSpPr/>
          <p:nvPr/>
        </p:nvSpPr>
        <p:spPr>
          <a:xfrm>
            <a:off x="365760" y="46355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</a:rPr>
              <a:t>Plan de la présentation</a:t>
            </a:r>
            <a:endParaRPr lang="fr-FR" sz="2200" noProof="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81AFF8E2-3F01-CDB6-ECEF-044288560D88}"/>
              </a:ext>
            </a:extLst>
          </p:cNvPr>
          <p:cNvSpPr/>
          <p:nvPr/>
        </p:nvSpPr>
        <p:spPr>
          <a:xfrm>
            <a:off x="306324" y="993482"/>
            <a:ext cx="2084832" cy="1684804"/>
          </a:xfrm>
          <a:prstGeom prst="rect">
            <a:avLst/>
          </a:prstGeom>
          <a:solidFill>
            <a:srgbClr val="0F1E30"/>
          </a:solidFill>
          <a:ln w="12700">
            <a:solidFill>
              <a:srgbClr val="182C42"/>
            </a:solidFill>
            <a:prstDash val="solid"/>
          </a:ln>
          <a:effectLst>
            <a:outerShdw blurRad="1270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5FE02C10-CE0B-4A73-FE98-1ADD66F22E84}"/>
              </a:ext>
            </a:extLst>
          </p:cNvPr>
          <p:cNvSpPr/>
          <p:nvPr/>
        </p:nvSpPr>
        <p:spPr>
          <a:xfrm>
            <a:off x="306324" y="993482"/>
            <a:ext cx="2084832" cy="64008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1ADD146D-907D-766C-D304-0E0DF05D336E}"/>
              </a:ext>
            </a:extLst>
          </p:cNvPr>
          <p:cNvSpPr/>
          <p:nvPr/>
        </p:nvSpPr>
        <p:spPr>
          <a:xfrm>
            <a:off x="306324" y="1130642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800" b="1" noProof="0" dirty="0">
                <a:solidFill>
                  <a:srgbClr val="00C2A8"/>
                </a:solidFill>
              </a:rPr>
              <a:t>01</a:t>
            </a:r>
            <a:endParaRPr lang="fr-FR" sz="4800" noProof="0" dirty="0"/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D8F4218A-7862-9ED9-0E23-ED75E8895ECB}"/>
              </a:ext>
            </a:extLst>
          </p:cNvPr>
          <p:cNvSpPr/>
          <p:nvPr/>
        </p:nvSpPr>
        <p:spPr>
          <a:xfrm>
            <a:off x="580644" y="1953602"/>
            <a:ext cx="1536192" cy="0"/>
          </a:xfrm>
          <a:prstGeom prst="line">
            <a:avLst/>
          </a:prstGeom>
          <a:noFill/>
          <a:ln w="1524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1E4E3136-E735-FA48-5BA9-D50A3109CC63}"/>
              </a:ext>
            </a:extLst>
          </p:cNvPr>
          <p:cNvSpPr/>
          <p:nvPr/>
        </p:nvSpPr>
        <p:spPr>
          <a:xfrm>
            <a:off x="416052" y="2045042"/>
            <a:ext cx="18653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</a:pPr>
            <a:r>
              <a:rPr lang="fr-FR" sz="1050" b="1" noProof="0" dirty="0">
                <a:solidFill>
                  <a:schemeClr val="bg1"/>
                </a:solidFill>
              </a:rPr>
              <a:t>Un parcours hybride entre biologie et informatique</a:t>
            </a:r>
            <a:endParaRPr lang="fr-FR" sz="1050" noProof="0" dirty="0"/>
          </a:p>
        </p:txBody>
      </p:sp>
      <p:sp>
        <p:nvSpPr>
          <p:cNvPr id="30" name="Shape 8">
            <a:extLst>
              <a:ext uri="{FF2B5EF4-FFF2-40B4-BE49-F238E27FC236}">
                <a16:creationId xmlns:a16="http://schemas.microsoft.com/office/drawing/2014/main" id="{837EB3DD-789D-8F80-3D2B-8687EB814E7A}"/>
              </a:ext>
            </a:extLst>
          </p:cNvPr>
          <p:cNvSpPr/>
          <p:nvPr/>
        </p:nvSpPr>
        <p:spPr>
          <a:xfrm>
            <a:off x="2473452" y="993482"/>
            <a:ext cx="2084832" cy="1684804"/>
          </a:xfrm>
          <a:prstGeom prst="rect">
            <a:avLst/>
          </a:prstGeom>
          <a:solidFill>
            <a:srgbClr val="0F1E30"/>
          </a:solidFill>
          <a:ln w="12700">
            <a:solidFill>
              <a:srgbClr val="182C42"/>
            </a:solidFill>
            <a:prstDash val="solid"/>
          </a:ln>
          <a:effectLst>
            <a:outerShdw blurRad="1270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Shape 9">
            <a:extLst>
              <a:ext uri="{FF2B5EF4-FFF2-40B4-BE49-F238E27FC236}">
                <a16:creationId xmlns:a16="http://schemas.microsoft.com/office/drawing/2014/main" id="{704BAD88-56D0-58EF-8273-1C893452B9A0}"/>
              </a:ext>
            </a:extLst>
          </p:cNvPr>
          <p:cNvSpPr/>
          <p:nvPr/>
        </p:nvSpPr>
        <p:spPr>
          <a:xfrm>
            <a:off x="2473452" y="993482"/>
            <a:ext cx="2084832" cy="6400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0A8FBFA2-FF48-CFC4-ABE4-9D960B09FD97}"/>
              </a:ext>
            </a:extLst>
          </p:cNvPr>
          <p:cNvSpPr/>
          <p:nvPr/>
        </p:nvSpPr>
        <p:spPr>
          <a:xfrm>
            <a:off x="2473452" y="1130642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800" b="1" noProof="0" dirty="0">
                <a:solidFill>
                  <a:srgbClr val="2E86C1"/>
                </a:solidFill>
              </a:rPr>
              <a:t>02</a:t>
            </a:r>
            <a:endParaRPr lang="fr-FR" sz="4800" noProof="0" dirty="0"/>
          </a:p>
        </p:txBody>
      </p:sp>
      <p:sp>
        <p:nvSpPr>
          <p:cNvPr id="33" name="Shape 11">
            <a:extLst>
              <a:ext uri="{FF2B5EF4-FFF2-40B4-BE49-F238E27FC236}">
                <a16:creationId xmlns:a16="http://schemas.microsoft.com/office/drawing/2014/main" id="{05BA1684-EE56-DC55-85B9-F47A8E564A31}"/>
              </a:ext>
            </a:extLst>
          </p:cNvPr>
          <p:cNvSpPr/>
          <p:nvPr/>
        </p:nvSpPr>
        <p:spPr>
          <a:xfrm>
            <a:off x="2747772" y="1953602"/>
            <a:ext cx="1536192" cy="0"/>
          </a:xfrm>
          <a:prstGeom prst="line">
            <a:avLst/>
          </a:prstGeom>
          <a:noFill/>
          <a:ln w="1524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C2CF2307-9C50-EEE0-6AE5-22733762675D}"/>
              </a:ext>
            </a:extLst>
          </p:cNvPr>
          <p:cNvSpPr/>
          <p:nvPr/>
        </p:nvSpPr>
        <p:spPr>
          <a:xfrm>
            <a:off x="2583180" y="2045042"/>
            <a:ext cx="18653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30000"/>
              </a:lnSpc>
              <a:buNone/>
            </a:pPr>
            <a:r>
              <a:rPr lang="fr-FR" sz="1050" b="1" noProof="0" dirty="0">
                <a:solidFill>
                  <a:srgbClr val="FFFFFF"/>
                </a:solidFill>
              </a:rPr>
              <a:t>Construction du parcours</a:t>
            </a:r>
            <a:endParaRPr lang="fr-FR" sz="1050" b="1" noProof="0" dirty="0"/>
          </a:p>
        </p:txBody>
      </p:sp>
      <p:sp>
        <p:nvSpPr>
          <p:cNvPr id="35" name="Shape 13">
            <a:extLst>
              <a:ext uri="{FF2B5EF4-FFF2-40B4-BE49-F238E27FC236}">
                <a16:creationId xmlns:a16="http://schemas.microsoft.com/office/drawing/2014/main" id="{6AFB06F3-89AD-3471-6712-A8CBE5A64C61}"/>
              </a:ext>
            </a:extLst>
          </p:cNvPr>
          <p:cNvSpPr/>
          <p:nvPr/>
        </p:nvSpPr>
        <p:spPr>
          <a:xfrm>
            <a:off x="4640580" y="993482"/>
            <a:ext cx="2084832" cy="1684804"/>
          </a:xfrm>
          <a:prstGeom prst="rect">
            <a:avLst/>
          </a:prstGeom>
          <a:solidFill>
            <a:srgbClr val="0F1E30"/>
          </a:solidFill>
          <a:ln w="12700">
            <a:solidFill>
              <a:srgbClr val="182C42"/>
            </a:solidFill>
            <a:prstDash val="solid"/>
          </a:ln>
          <a:effectLst>
            <a:outerShdw blurRad="1270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6" name="Shape 14">
            <a:extLst>
              <a:ext uri="{FF2B5EF4-FFF2-40B4-BE49-F238E27FC236}">
                <a16:creationId xmlns:a16="http://schemas.microsoft.com/office/drawing/2014/main" id="{0FD9D90E-406D-ED9A-3BED-4A212457C160}"/>
              </a:ext>
            </a:extLst>
          </p:cNvPr>
          <p:cNvSpPr/>
          <p:nvPr/>
        </p:nvSpPr>
        <p:spPr>
          <a:xfrm>
            <a:off x="4640580" y="993482"/>
            <a:ext cx="2084832" cy="64008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77EE2B34-62A9-6160-74C2-13495615DD32}"/>
              </a:ext>
            </a:extLst>
          </p:cNvPr>
          <p:cNvSpPr/>
          <p:nvPr/>
        </p:nvSpPr>
        <p:spPr>
          <a:xfrm>
            <a:off x="4640580" y="1130642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800" b="1" noProof="0" dirty="0">
                <a:solidFill>
                  <a:srgbClr val="00C2A8"/>
                </a:solidFill>
              </a:rPr>
              <a:t>03</a:t>
            </a:r>
            <a:endParaRPr lang="fr-FR" sz="4800" noProof="0" dirty="0"/>
          </a:p>
        </p:txBody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7324A1F1-A3F0-B9B8-CCF3-043CDE2849DF}"/>
              </a:ext>
            </a:extLst>
          </p:cNvPr>
          <p:cNvSpPr/>
          <p:nvPr/>
        </p:nvSpPr>
        <p:spPr>
          <a:xfrm>
            <a:off x="4914900" y="1953602"/>
            <a:ext cx="1536192" cy="0"/>
          </a:xfrm>
          <a:prstGeom prst="line">
            <a:avLst/>
          </a:prstGeom>
          <a:noFill/>
          <a:ln w="1524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9" name="Text 17">
            <a:extLst>
              <a:ext uri="{FF2B5EF4-FFF2-40B4-BE49-F238E27FC236}">
                <a16:creationId xmlns:a16="http://schemas.microsoft.com/office/drawing/2014/main" id="{75C8903A-2E06-5E03-6BD7-6F1BA61A89F3}"/>
              </a:ext>
            </a:extLst>
          </p:cNvPr>
          <p:cNvSpPr/>
          <p:nvPr/>
        </p:nvSpPr>
        <p:spPr>
          <a:xfrm>
            <a:off x="4750308" y="2045042"/>
            <a:ext cx="18653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30000"/>
              </a:lnSpc>
              <a:buNone/>
            </a:pPr>
            <a:r>
              <a:rPr lang="fr-FR" sz="1050" b="1" noProof="0" dirty="0">
                <a:solidFill>
                  <a:srgbClr val="FFFFFF"/>
                </a:solidFill>
              </a:rPr>
              <a:t>Les rencontres clés qui ont façonné mon parcours</a:t>
            </a:r>
            <a:endParaRPr lang="fr-FR" sz="1050" b="1" noProof="0" dirty="0"/>
          </a:p>
        </p:txBody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63650D37-5BDE-9B9A-1670-6EEC9582C2F1}"/>
              </a:ext>
            </a:extLst>
          </p:cNvPr>
          <p:cNvSpPr/>
          <p:nvPr/>
        </p:nvSpPr>
        <p:spPr>
          <a:xfrm>
            <a:off x="6807708" y="993482"/>
            <a:ext cx="2084832" cy="1684804"/>
          </a:xfrm>
          <a:prstGeom prst="rect">
            <a:avLst/>
          </a:prstGeom>
          <a:solidFill>
            <a:srgbClr val="0F1E30"/>
          </a:solidFill>
          <a:ln w="12700">
            <a:solidFill>
              <a:srgbClr val="182C42"/>
            </a:solidFill>
            <a:prstDash val="solid"/>
          </a:ln>
          <a:effectLst>
            <a:outerShdw blurRad="1270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Shape 19">
            <a:extLst>
              <a:ext uri="{FF2B5EF4-FFF2-40B4-BE49-F238E27FC236}">
                <a16:creationId xmlns:a16="http://schemas.microsoft.com/office/drawing/2014/main" id="{D6E9F979-24F3-BE99-767E-86347EC9A4EB}"/>
              </a:ext>
            </a:extLst>
          </p:cNvPr>
          <p:cNvSpPr/>
          <p:nvPr/>
        </p:nvSpPr>
        <p:spPr>
          <a:xfrm>
            <a:off x="6807708" y="993482"/>
            <a:ext cx="2084832" cy="6400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2" name="Text 20">
            <a:extLst>
              <a:ext uri="{FF2B5EF4-FFF2-40B4-BE49-F238E27FC236}">
                <a16:creationId xmlns:a16="http://schemas.microsoft.com/office/drawing/2014/main" id="{451304BA-9752-282F-0D21-DB231427D853}"/>
              </a:ext>
            </a:extLst>
          </p:cNvPr>
          <p:cNvSpPr/>
          <p:nvPr/>
        </p:nvSpPr>
        <p:spPr>
          <a:xfrm>
            <a:off x="6807708" y="1130642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800" b="1" noProof="0" dirty="0">
                <a:solidFill>
                  <a:srgbClr val="2E86C1"/>
                </a:solidFill>
              </a:rPr>
              <a:t>04</a:t>
            </a:r>
            <a:endParaRPr lang="fr-FR" sz="4800" noProof="0" dirty="0"/>
          </a:p>
        </p:txBody>
      </p:sp>
      <p:sp>
        <p:nvSpPr>
          <p:cNvPr id="43" name="Shape 21">
            <a:extLst>
              <a:ext uri="{FF2B5EF4-FFF2-40B4-BE49-F238E27FC236}">
                <a16:creationId xmlns:a16="http://schemas.microsoft.com/office/drawing/2014/main" id="{F005150D-D3E2-74A5-E012-EE329E887AC9}"/>
              </a:ext>
            </a:extLst>
          </p:cNvPr>
          <p:cNvSpPr/>
          <p:nvPr/>
        </p:nvSpPr>
        <p:spPr>
          <a:xfrm>
            <a:off x="7082028" y="1953602"/>
            <a:ext cx="1536192" cy="0"/>
          </a:xfrm>
          <a:prstGeom prst="line">
            <a:avLst/>
          </a:prstGeom>
          <a:noFill/>
          <a:ln w="1524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4" name="Text 22">
            <a:extLst>
              <a:ext uri="{FF2B5EF4-FFF2-40B4-BE49-F238E27FC236}">
                <a16:creationId xmlns:a16="http://schemas.microsoft.com/office/drawing/2014/main" id="{9677D0D3-4620-858B-A4A4-A59E03AA9493}"/>
              </a:ext>
            </a:extLst>
          </p:cNvPr>
          <p:cNvSpPr/>
          <p:nvPr/>
        </p:nvSpPr>
        <p:spPr>
          <a:xfrm>
            <a:off x="6917436" y="2045042"/>
            <a:ext cx="18653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30000"/>
              </a:lnSpc>
              <a:buNone/>
            </a:pPr>
            <a:r>
              <a:rPr lang="fr-FR" sz="1050" b="1" noProof="0" dirty="0">
                <a:solidFill>
                  <a:srgbClr val="FFFFFF"/>
                </a:solidFill>
              </a:rPr>
              <a:t>Le projet Horigene : plateforme scientifique assistée par IA</a:t>
            </a:r>
            <a:endParaRPr lang="fr-FR" sz="1050" b="1" noProof="0" dirty="0"/>
          </a:p>
        </p:txBody>
      </p:sp>
      <p:sp>
        <p:nvSpPr>
          <p:cNvPr id="45" name="Shape 23">
            <a:extLst>
              <a:ext uri="{FF2B5EF4-FFF2-40B4-BE49-F238E27FC236}">
                <a16:creationId xmlns:a16="http://schemas.microsoft.com/office/drawing/2014/main" id="{581A9036-ABA3-7756-FFF1-72CF963484C2}"/>
              </a:ext>
            </a:extLst>
          </p:cNvPr>
          <p:cNvSpPr/>
          <p:nvPr/>
        </p:nvSpPr>
        <p:spPr>
          <a:xfrm>
            <a:off x="306324" y="2925792"/>
            <a:ext cx="2084832" cy="1684804"/>
          </a:xfrm>
          <a:prstGeom prst="rect">
            <a:avLst/>
          </a:prstGeom>
          <a:solidFill>
            <a:srgbClr val="0F1E30"/>
          </a:solidFill>
          <a:ln w="12700">
            <a:solidFill>
              <a:srgbClr val="182C42"/>
            </a:solidFill>
            <a:prstDash val="solid"/>
          </a:ln>
          <a:effectLst>
            <a:outerShdw blurRad="1270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6" name="Shape 24">
            <a:extLst>
              <a:ext uri="{FF2B5EF4-FFF2-40B4-BE49-F238E27FC236}">
                <a16:creationId xmlns:a16="http://schemas.microsoft.com/office/drawing/2014/main" id="{1196EE17-0F5B-2387-6F59-F340F9B5B88B}"/>
              </a:ext>
            </a:extLst>
          </p:cNvPr>
          <p:cNvSpPr/>
          <p:nvPr/>
        </p:nvSpPr>
        <p:spPr>
          <a:xfrm>
            <a:off x="306324" y="2925792"/>
            <a:ext cx="2084832" cy="64008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8004DC2E-F823-1D34-A6B8-8265D0F40CEE}"/>
              </a:ext>
            </a:extLst>
          </p:cNvPr>
          <p:cNvSpPr/>
          <p:nvPr/>
        </p:nvSpPr>
        <p:spPr>
          <a:xfrm>
            <a:off x="306324" y="3062952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800" b="1" noProof="0" dirty="0">
                <a:solidFill>
                  <a:srgbClr val="00C2A8"/>
                </a:solidFill>
              </a:rPr>
              <a:t>05</a:t>
            </a:r>
            <a:endParaRPr lang="fr-FR" sz="4800" noProof="0" dirty="0"/>
          </a:p>
        </p:txBody>
      </p:sp>
      <p:sp>
        <p:nvSpPr>
          <p:cNvPr id="48" name="Shape 26">
            <a:extLst>
              <a:ext uri="{FF2B5EF4-FFF2-40B4-BE49-F238E27FC236}">
                <a16:creationId xmlns:a16="http://schemas.microsoft.com/office/drawing/2014/main" id="{6FB06012-0FFA-07E6-0B9B-95913F740FC1}"/>
              </a:ext>
            </a:extLst>
          </p:cNvPr>
          <p:cNvSpPr/>
          <p:nvPr/>
        </p:nvSpPr>
        <p:spPr>
          <a:xfrm>
            <a:off x="580644" y="3860511"/>
            <a:ext cx="1536192" cy="0"/>
          </a:xfrm>
          <a:prstGeom prst="line">
            <a:avLst/>
          </a:prstGeom>
          <a:noFill/>
          <a:ln w="1524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9" name="Text 27">
            <a:extLst>
              <a:ext uri="{FF2B5EF4-FFF2-40B4-BE49-F238E27FC236}">
                <a16:creationId xmlns:a16="http://schemas.microsoft.com/office/drawing/2014/main" id="{B0A9BB06-A71D-FA40-35D7-2F27AB647888}"/>
              </a:ext>
            </a:extLst>
          </p:cNvPr>
          <p:cNvSpPr/>
          <p:nvPr/>
        </p:nvSpPr>
        <p:spPr>
          <a:xfrm>
            <a:off x="416052" y="3951951"/>
            <a:ext cx="1865376" cy="580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</a:pPr>
            <a:r>
              <a:rPr lang="fr-FR" sz="1050" b="1" noProof="0" dirty="0">
                <a:solidFill>
                  <a:schemeClr val="bg1"/>
                </a:solidFill>
              </a:rPr>
              <a:t>Mes perspectives post-BUT 3</a:t>
            </a:r>
          </a:p>
        </p:txBody>
      </p:sp>
      <p:sp>
        <p:nvSpPr>
          <p:cNvPr id="50" name="Shape 28">
            <a:extLst>
              <a:ext uri="{FF2B5EF4-FFF2-40B4-BE49-F238E27FC236}">
                <a16:creationId xmlns:a16="http://schemas.microsoft.com/office/drawing/2014/main" id="{6EBACB3E-029D-2E5F-EC89-E966B3516B9B}"/>
              </a:ext>
            </a:extLst>
          </p:cNvPr>
          <p:cNvSpPr/>
          <p:nvPr/>
        </p:nvSpPr>
        <p:spPr>
          <a:xfrm>
            <a:off x="2473452" y="2925792"/>
            <a:ext cx="2084832" cy="1703780"/>
          </a:xfrm>
          <a:prstGeom prst="rect">
            <a:avLst/>
          </a:prstGeom>
          <a:solidFill>
            <a:srgbClr val="0F1E30"/>
          </a:solidFill>
          <a:ln w="12700">
            <a:solidFill>
              <a:srgbClr val="182C42"/>
            </a:solidFill>
            <a:prstDash val="solid"/>
          </a:ln>
          <a:effectLst>
            <a:outerShdw blurRad="1270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1" name="Shape 29">
            <a:extLst>
              <a:ext uri="{FF2B5EF4-FFF2-40B4-BE49-F238E27FC236}">
                <a16:creationId xmlns:a16="http://schemas.microsoft.com/office/drawing/2014/main" id="{56FD5609-D91A-AB39-9AFB-F380D0E42D47}"/>
              </a:ext>
            </a:extLst>
          </p:cNvPr>
          <p:cNvSpPr/>
          <p:nvPr/>
        </p:nvSpPr>
        <p:spPr>
          <a:xfrm>
            <a:off x="2473452" y="2925792"/>
            <a:ext cx="2084832" cy="6400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2" name="Text 30">
            <a:extLst>
              <a:ext uri="{FF2B5EF4-FFF2-40B4-BE49-F238E27FC236}">
                <a16:creationId xmlns:a16="http://schemas.microsoft.com/office/drawing/2014/main" id="{9D213039-AADD-2E6D-6805-F8BD3D9808A1}"/>
              </a:ext>
            </a:extLst>
          </p:cNvPr>
          <p:cNvSpPr/>
          <p:nvPr/>
        </p:nvSpPr>
        <p:spPr>
          <a:xfrm>
            <a:off x="2473452" y="3062952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800" b="1" noProof="0" dirty="0">
                <a:solidFill>
                  <a:srgbClr val="2E86C1"/>
                </a:solidFill>
              </a:rPr>
              <a:t>06</a:t>
            </a:r>
            <a:endParaRPr lang="fr-FR" sz="4800" noProof="0" dirty="0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DC4092DF-A091-FBB9-4FE6-FAAFF161AC0E}"/>
              </a:ext>
            </a:extLst>
          </p:cNvPr>
          <p:cNvSpPr/>
          <p:nvPr/>
        </p:nvSpPr>
        <p:spPr>
          <a:xfrm>
            <a:off x="2747772" y="3860511"/>
            <a:ext cx="1536192" cy="0"/>
          </a:xfrm>
          <a:prstGeom prst="line">
            <a:avLst/>
          </a:prstGeom>
          <a:noFill/>
          <a:ln w="1524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4" name="Text 32">
            <a:extLst>
              <a:ext uri="{FF2B5EF4-FFF2-40B4-BE49-F238E27FC236}">
                <a16:creationId xmlns:a16="http://schemas.microsoft.com/office/drawing/2014/main" id="{AEBFC91F-C1F2-D324-5F34-926ADA4804B5}"/>
              </a:ext>
            </a:extLst>
          </p:cNvPr>
          <p:cNvSpPr/>
          <p:nvPr/>
        </p:nvSpPr>
        <p:spPr>
          <a:xfrm>
            <a:off x="2583180" y="3951951"/>
            <a:ext cx="18653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</a:pPr>
            <a:r>
              <a:rPr lang="fr-FR" sz="1050" b="1" dirty="0">
                <a:solidFill>
                  <a:srgbClr val="FFFFFF"/>
                </a:solidFill>
              </a:rPr>
              <a:t>Métiers visés post BUT : référentiels APEC &amp; CIGREF</a:t>
            </a:r>
            <a:endParaRPr lang="fr-FR" sz="1050" b="1" noProof="0" dirty="0"/>
          </a:p>
        </p:txBody>
      </p:sp>
      <p:sp>
        <p:nvSpPr>
          <p:cNvPr id="55" name="Shape 33">
            <a:extLst>
              <a:ext uri="{FF2B5EF4-FFF2-40B4-BE49-F238E27FC236}">
                <a16:creationId xmlns:a16="http://schemas.microsoft.com/office/drawing/2014/main" id="{CA55CAE7-C4D2-A5E0-8971-3F9FA95878E1}"/>
              </a:ext>
            </a:extLst>
          </p:cNvPr>
          <p:cNvSpPr/>
          <p:nvPr/>
        </p:nvSpPr>
        <p:spPr>
          <a:xfrm>
            <a:off x="4640580" y="2925792"/>
            <a:ext cx="2084832" cy="1703780"/>
          </a:xfrm>
          <a:prstGeom prst="rect">
            <a:avLst/>
          </a:prstGeom>
          <a:solidFill>
            <a:srgbClr val="0F1E30"/>
          </a:solidFill>
          <a:ln w="12700">
            <a:solidFill>
              <a:srgbClr val="182C42"/>
            </a:solidFill>
            <a:prstDash val="solid"/>
          </a:ln>
          <a:effectLst>
            <a:outerShdw blurRad="1270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6" name="Shape 34">
            <a:extLst>
              <a:ext uri="{FF2B5EF4-FFF2-40B4-BE49-F238E27FC236}">
                <a16:creationId xmlns:a16="http://schemas.microsoft.com/office/drawing/2014/main" id="{204BB0F1-E7A6-1D9A-71D8-0DFA8E1A3016}"/>
              </a:ext>
            </a:extLst>
          </p:cNvPr>
          <p:cNvSpPr/>
          <p:nvPr/>
        </p:nvSpPr>
        <p:spPr>
          <a:xfrm>
            <a:off x="4640580" y="2925792"/>
            <a:ext cx="2084832" cy="64008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7" name="Text 35">
            <a:extLst>
              <a:ext uri="{FF2B5EF4-FFF2-40B4-BE49-F238E27FC236}">
                <a16:creationId xmlns:a16="http://schemas.microsoft.com/office/drawing/2014/main" id="{CEAC741F-6575-031E-11FF-E07856B62484}"/>
              </a:ext>
            </a:extLst>
          </p:cNvPr>
          <p:cNvSpPr/>
          <p:nvPr/>
        </p:nvSpPr>
        <p:spPr>
          <a:xfrm>
            <a:off x="4640580" y="3062952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800" b="1" noProof="0" dirty="0">
                <a:solidFill>
                  <a:srgbClr val="00C2A8"/>
                </a:solidFill>
              </a:rPr>
              <a:t>07</a:t>
            </a:r>
            <a:endParaRPr lang="fr-FR" sz="4800" noProof="0" dirty="0"/>
          </a:p>
        </p:txBody>
      </p:sp>
      <p:sp>
        <p:nvSpPr>
          <p:cNvPr id="58" name="Shape 36">
            <a:extLst>
              <a:ext uri="{FF2B5EF4-FFF2-40B4-BE49-F238E27FC236}">
                <a16:creationId xmlns:a16="http://schemas.microsoft.com/office/drawing/2014/main" id="{803160A9-C0E6-FBD1-29A4-DB2E02C2E309}"/>
              </a:ext>
            </a:extLst>
          </p:cNvPr>
          <p:cNvSpPr/>
          <p:nvPr/>
        </p:nvSpPr>
        <p:spPr>
          <a:xfrm>
            <a:off x="4914900" y="3860511"/>
            <a:ext cx="1536192" cy="0"/>
          </a:xfrm>
          <a:prstGeom prst="line">
            <a:avLst/>
          </a:prstGeom>
          <a:noFill/>
          <a:ln w="1524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9" name="Text 37">
            <a:extLst>
              <a:ext uri="{FF2B5EF4-FFF2-40B4-BE49-F238E27FC236}">
                <a16:creationId xmlns:a16="http://schemas.microsoft.com/office/drawing/2014/main" id="{77222374-4FC1-37CD-1BFB-1585E6B6A89D}"/>
              </a:ext>
            </a:extLst>
          </p:cNvPr>
          <p:cNvSpPr/>
          <p:nvPr/>
        </p:nvSpPr>
        <p:spPr>
          <a:xfrm>
            <a:off x="4750308" y="3951951"/>
            <a:ext cx="18653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050" b="1" noProof="0" dirty="0">
                <a:solidFill>
                  <a:srgbClr val="FFFFFF"/>
                </a:solidFill>
              </a:rPr>
              <a:t> </a:t>
            </a:r>
            <a:r>
              <a:rPr lang="fr-FR" sz="1050" b="1" dirty="0">
                <a:solidFill>
                  <a:schemeClr val="bg1"/>
                </a:solidFill>
              </a:rPr>
              <a:t>Les contraintes &amp; réalités du métier</a:t>
            </a:r>
          </a:p>
          <a:p>
            <a:pPr algn="ctr">
              <a:lnSpc>
                <a:spcPct val="130000"/>
              </a:lnSpc>
            </a:pPr>
            <a:endParaRPr lang="fr-FR" sz="1050" b="1" noProof="0" dirty="0"/>
          </a:p>
        </p:txBody>
      </p:sp>
      <p:sp>
        <p:nvSpPr>
          <p:cNvPr id="4" name="Shape 33">
            <a:extLst>
              <a:ext uri="{FF2B5EF4-FFF2-40B4-BE49-F238E27FC236}">
                <a16:creationId xmlns:a16="http://schemas.microsoft.com/office/drawing/2014/main" id="{EA14C92A-6821-6183-E53C-EF88E45CDD39}"/>
              </a:ext>
            </a:extLst>
          </p:cNvPr>
          <p:cNvSpPr/>
          <p:nvPr/>
        </p:nvSpPr>
        <p:spPr>
          <a:xfrm>
            <a:off x="6807708" y="2925792"/>
            <a:ext cx="2084832" cy="1703780"/>
          </a:xfrm>
          <a:prstGeom prst="rect">
            <a:avLst/>
          </a:prstGeom>
          <a:solidFill>
            <a:srgbClr val="0F1E30"/>
          </a:solidFill>
          <a:ln w="12700">
            <a:solidFill>
              <a:srgbClr val="182C42"/>
            </a:solidFill>
            <a:prstDash val="solid"/>
          </a:ln>
          <a:effectLst>
            <a:outerShdw blurRad="1270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4">
            <a:extLst>
              <a:ext uri="{FF2B5EF4-FFF2-40B4-BE49-F238E27FC236}">
                <a16:creationId xmlns:a16="http://schemas.microsoft.com/office/drawing/2014/main" id="{2F81E352-50E7-8C27-3003-CBDE58C61BFC}"/>
              </a:ext>
            </a:extLst>
          </p:cNvPr>
          <p:cNvSpPr/>
          <p:nvPr/>
        </p:nvSpPr>
        <p:spPr>
          <a:xfrm>
            <a:off x="6807708" y="2925792"/>
            <a:ext cx="2084832" cy="64008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35">
            <a:extLst>
              <a:ext uri="{FF2B5EF4-FFF2-40B4-BE49-F238E27FC236}">
                <a16:creationId xmlns:a16="http://schemas.microsoft.com/office/drawing/2014/main" id="{8394084A-693D-5845-40E6-85C3812F509B}"/>
              </a:ext>
            </a:extLst>
          </p:cNvPr>
          <p:cNvSpPr/>
          <p:nvPr/>
        </p:nvSpPr>
        <p:spPr>
          <a:xfrm>
            <a:off x="6807708" y="3062952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4800" b="1" noProof="0" dirty="0">
                <a:solidFill>
                  <a:srgbClr val="00C2A8"/>
                </a:solidFill>
              </a:rPr>
              <a:t>08</a:t>
            </a:r>
            <a:endParaRPr lang="fr-FR" sz="4800" noProof="0" dirty="0"/>
          </a:p>
        </p:txBody>
      </p:sp>
      <p:sp>
        <p:nvSpPr>
          <p:cNvPr id="7" name="Shape 36">
            <a:extLst>
              <a:ext uri="{FF2B5EF4-FFF2-40B4-BE49-F238E27FC236}">
                <a16:creationId xmlns:a16="http://schemas.microsoft.com/office/drawing/2014/main" id="{1213A8B6-16FB-2F0A-414E-AF97A02A9904}"/>
              </a:ext>
            </a:extLst>
          </p:cNvPr>
          <p:cNvSpPr/>
          <p:nvPr/>
        </p:nvSpPr>
        <p:spPr>
          <a:xfrm>
            <a:off x="7082028" y="3860511"/>
            <a:ext cx="1536192" cy="0"/>
          </a:xfrm>
          <a:prstGeom prst="line">
            <a:avLst/>
          </a:prstGeom>
          <a:noFill/>
          <a:ln w="1524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37">
            <a:extLst>
              <a:ext uri="{FF2B5EF4-FFF2-40B4-BE49-F238E27FC236}">
                <a16:creationId xmlns:a16="http://schemas.microsoft.com/office/drawing/2014/main" id="{21C72512-7CA6-74AE-2AE1-83BA53CFCE3C}"/>
              </a:ext>
            </a:extLst>
          </p:cNvPr>
          <p:cNvSpPr/>
          <p:nvPr/>
        </p:nvSpPr>
        <p:spPr>
          <a:xfrm>
            <a:off x="6917436" y="3951951"/>
            <a:ext cx="18653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30000"/>
              </a:lnSpc>
              <a:buNone/>
            </a:pPr>
            <a:r>
              <a:rPr lang="fr-FR" sz="1050" b="1" noProof="0" dirty="0">
                <a:solidFill>
                  <a:srgbClr val="FFFFFF"/>
                </a:solidFill>
              </a:rPr>
              <a:t>Conclusion</a:t>
            </a:r>
            <a:endParaRPr lang="fr-FR" sz="1050" b="1" noProof="0" dirty="0"/>
          </a:p>
        </p:txBody>
      </p:sp>
    </p:spTree>
    <p:extLst>
      <p:ext uri="{BB962C8B-B14F-4D97-AF65-F5344CB8AC3E}">
        <p14:creationId xmlns:p14="http://schemas.microsoft.com/office/powerpoint/2010/main" val="2609317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2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ECE8FE-D8C6-3109-EE02-432E9B88B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2">
            <a:extLst>
              <a:ext uri="{FF2B5EF4-FFF2-40B4-BE49-F238E27FC236}">
                <a16:creationId xmlns:a16="http://schemas.microsoft.com/office/drawing/2014/main" id="{999B2D7C-73B1-7DCD-4339-AF85B52EE46E}"/>
              </a:ext>
            </a:extLst>
          </p:cNvPr>
          <p:cNvGrpSpPr/>
          <p:nvPr/>
        </p:nvGrpSpPr>
        <p:grpSpPr>
          <a:xfrm>
            <a:off x="585513" y="2349183"/>
            <a:ext cx="743093" cy="775320"/>
            <a:chOff x="0" y="0"/>
            <a:chExt cx="701440" cy="725542"/>
          </a:xfrm>
        </p:grpSpPr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905B23C4-C6ED-5B05-1CFD-799D0C377C79}"/>
                </a:ext>
              </a:extLst>
            </p:cNvPr>
            <p:cNvSpPr/>
            <p:nvPr/>
          </p:nvSpPr>
          <p:spPr>
            <a:xfrm>
              <a:off x="0" y="0"/>
              <a:ext cx="701440" cy="725542"/>
            </a:xfrm>
            <a:custGeom>
              <a:avLst/>
              <a:gdLst/>
              <a:ahLst/>
              <a:cxnLst/>
              <a:rect l="l" t="t" r="r" b="b"/>
              <a:pathLst>
                <a:path w="701440" h="725542">
                  <a:moveTo>
                    <a:pt x="350720" y="0"/>
                  </a:moveTo>
                  <a:cubicBezTo>
                    <a:pt x="157023" y="0"/>
                    <a:pt x="0" y="162418"/>
                    <a:pt x="0" y="362771"/>
                  </a:cubicBezTo>
                  <a:cubicBezTo>
                    <a:pt x="0" y="563124"/>
                    <a:pt x="157023" y="725542"/>
                    <a:pt x="350720" y="725542"/>
                  </a:cubicBezTo>
                  <a:cubicBezTo>
                    <a:pt x="544417" y="725542"/>
                    <a:pt x="701440" y="563124"/>
                    <a:pt x="701440" y="362771"/>
                  </a:cubicBezTo>
                  <a:cubicBezTo>
                    <a:pt x="701440" y="162418"/>
                    <a:pt x="544417" y="0"/>
                    <a:pt x="350720" y="0"/>
                  </a:cubicBezTo>
                  <a:close/>
                </a:path>
              </a:pathLst>
            </a:custGeom>
            <a:solidFill>
              <a:srgbClr val="86EAE9"/>
            </a:solidFill>
          </p:spPr>
          <p:txBody>
            <a:bodyPr/>
            <a:lstStyle/>
            <a:p>
              <a:endParaRPr lang="fr-FR" sz="1500" noProof="0" dirty="0"/>
            </a:p>
          </p:txBody>
        </p:sp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F1483EC9-7C41-E84E-C147-32DC19D00113}"/>
                </a:ext>
              </a:extLst>
            </p:cNvPr>
            <p:cNvSpPr txBox="1"/>
            <p:nvPr/>
          </p:nvSpPr>
          <p:spPr>
            <a:xfrm>
              <a:off x="65760" y="10870"/>
              <a:ext cx="569920" cy="646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13"/>
                </a:lnSpc>
              </a:pPr>
              <a:r>
                <a:rPr lang="fr-FR" sz="1500" b="1" noProof="0" dirty="0">
                  <a:solidFill>
                    <a:srgbClr val="FFFFFF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2010</a:t>
              </a:r>
            </a:p>
          </p:txBody>
        </p:sp>
      </p:grpSp>
      <p:grpSp>
        <p:nvGrpSpPr>
          <p:cNvPr id="16" name="Group 5">
            <a:extLst>
              <a:ext uri="{FF2B5EF4-FFF2-40B4-BE49-F238E27FC236}">
                <a16:creationId xmlns:a16="http://schemas.microsoft.com/office/drawing/2014/main" id="{BA3B7FB5-ABFE-32F9-4DA4-F000BA6BD43F}"/>
              </a:ext>
            </a:extLst>
          </p:cNvPr>
          <p:cNvGrpSpPr/>
          <p:nvPr/>
        </p:nvGrpSpPr>
        <p:grpSpPr>
          <a:xfrm>
            <a:off x="191867" y="3701280"/>
            <a:ext cx="1531091" cy="787394"/>
            <a:chOff x="0" y="-28575"/>
            <a:chExt cx="3276771" cy="1670596"/>
          </a:xfrm>
        </p:grpSpPr>
        <p:sp>
          <p:nvSpPr>
            <p:cNvPr id="17" name="TextBox 6">
              <a:extLst>
                <a:ext uri="{FF2B5EF4-FFF2-40B4-BE49-F238E27FC236}">
                  <a16:creationId xmlns:a16="http://schemas.microsoft.com/office/drawing/2014/main" id="{1F1E06C1-9FA4-4DB8-81B5-A655409BEA81}"/>
                </a:ext>
              </a:extLst>
            </p:cNvPr>
            <p:cNvSpPr txBox="1"/>
            <p:nvPr/>
          </p:nvSpPr>
          <p:spPr>
            <a:xfrm>
              <a:off x="0" y="-28575"/>
              <a:ext cx="3276771" cy="536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80"/>
                </a:lnSpc>
              </a:pPr>
              <a:r>
                <a:rPr lang="fr-FR" sz="1400" b="1" noProof="0" dirty="0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LICENCE</a:t>
              </a:r>
            </a:p>
          </p:txBody>
        </p:sp>
        <p:sp>
          <p:nvSpPr>
            <p:cNvPr id="18" name="TextBox 7">
              <a:extLst>
                <a:ext uri="{FF2B5EF4-FFF2-40B4-BE49-F238E27FC236}">
                  <a16:creationId xmlns:a16="http://schemas.microsoft.com/office/drawing/2014/main" id="{2BB862F7-58E0-BE67-DE5F-B0731686F7CC}"/>
                </a:ext>
              </a:extLst>
            </p:cNvPr>
            <p:cNvSpPr txBox="1"/>
            <p:nvPr/>
          </p:nvSpPr>
          <p:spPr>
            <a:xfrm>
              <a:off x="0" y="698704"/>
              <a:ext cx="3276771" cy="9433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fr-FR" sz="1200" spc="17" noProof="0" dirty="0">
                  <a:latin typeface="Aileron"/>
                  <a:ea typeface="Aileron"/>
                  <a:cs typeface="Aileron"/>
                  <a:sym typeface="Aileron"/>
                </a:rPr>
                <a:t>Science et technologie parcours biochimie</a:t>
              </a:r>
            </a:p>
          </p:txBody>
        </p:sp>
      </p:grpSp>
      <p:grpSp>
        <p:nvGrpSpPr>
          <p:cNvPr id="19" name="Group 11">
            <a:extLst>
              <a:ext uri="{FF2B5EF4-FFF2-40B4-BE49-F238E27FC236}">
                <a16:creationId xmlns:a16="http://schemas.microsoft.com/office/drawing/2014/main" id="{06104A37-02E9-5AA3-4EDB-067641D75EB4}"/>
              </a:ext>
            </a:extLst>
          </p:cNvPr>
          <p:cNvGrpSpPr/>
          <p:nvPr/>
        </p:nvGrpSpPr>
        <p:grpSpPr>
          <a:xfrm>
            <a:off x="2213889" y="2342318"/>
            <a:ext cx="765894" cy="772563"/>
            <a:chOff x="0" y="0"/>
            <a:chExt cx="556826" cy="556826"/>
          </a:xfrm>
        </p:grpSpPr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0855900B-227C-E217-9594-8E706FD25D72}"/>
                </a:ext>
              </a:extLst>
            </p:cNvPr>
            <p:cNvSpPr/>
            <p:nvPr/>
          </p:nvSpPr>
          <p:spPr>
            <a:xfrm>
              <a:off x="0" y="0"/>
              <a:ext cx="556826" cy="556826"/>
            </a:xfrm>
            <a:custGeom>
              <a:avLst/>
              <a:gdLst/>
              <a:ahLst/>
              <a:cxnLst/>
              <a:rect l="l" t="t" r="r" b="b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3EDAD8"/>
            </a:solidFill>
          </p:spPr>
          <p:txBody>
            <a:bodyPr/>
            <a:lstStyle/>
            <a:p>
              <a:endParaRPr lang="fr-FR" sz="1500" noProof="0" dirty="0"/>
            </a:p>
          </p:txBody>
        </p:sp>
        <p:sp>
          <p:nvSpPr>
            <p:cNvPr id="21" name="TextBox 13">
              <a:extLst>
                <a:ext uri="{FF2B5EF4-FFF2-40B4-BE49-F238E27FC236}">
                  <a16:creationId xmlns:a16="http://schemas.microsoft.com/office/drawing/2014/main" id="{64B0BD1C-9B56-50ED-B03C-FAB45402E1A4}"/>
                </a:ext>
              </a:extLst>
            </p:cNvPr>
            <p:cNvSpPr txBox="1"/>
            <p:nvPr/>
          </p:nvSpPr>
          <p:spPr>
            <a:xfrm>
              <a:off x="52202" y="-4948"/>
              <a:ext cx="452421" cy="50957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13"/>
                </a:lnSpc>
              </a:pPr>
              <a:r>
                <a:rPr lang="fr-FR" sz="1500" b="1" noProof="0" dirty="0">
                  <a:solidFill>
                    <a:srgbClr val="FFFFFF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2012</a:t>
              </a:r>
            </a:p>
          </p:txBody>
        </p:sp>
      </p:grpSp>
      <p:grpSp>
        <p:nvGrpSpPr>
          <p:cNvPr id="22" name="Group 14">
            <a:extLst>
              <a:ext uri="{FF2B5EF4-FFF2-40B4-BE49-F238E27FC236}">
                <a16:creationId xmlns:a16="http://schemas.microsoft.com/office/drawing/2014/main" id="{FBAC411D-43C3-BD49-A3CD-F99B52587CDD}"/>
              </a:ext>
            </a:extLst>
          </p:cNvPr>
          <p:cNvGrpSpPr/>
          <p:nvPr/>
        </p:nvGrpSpPr>
        <p:grpSpPr>
          <a:xfrm>
            <a:off x="4077812" y="2342318"/>
            <a:ext cx="765894" cy="772563"/>
            <a:chOff x="0" y="0"/>
            <a:chExt cx="556826" cy="556826"/>
          </a:xfrm>
          <a:solidFill>
            <a:srgbClr val="FF0000"/>
          </a:solidFill>
        </p:grpSpPr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0D9AA56C-0067-C0CB-2D06-6F2E4D70F86C}"/>
                </a:ext>
              </a:extLst>
            </p:cNvPr>
            <p:cNvSpPr/>
            <p:nvPr/>
          </p:nvSpPr>
          <p:spPr>
            <a:xfrm>
              <a:off x="0" y="0"/>
              <a:ext cx="556826" cy="556826"/>
            </a:xfrm>
            <a:custGeom>
              <a:avLst/>
              <a:gdLst/>
              <a:ahLst/>
              <a:cxnLst/>
              <a:rect l="l" t="t" r="r" b="b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fr-FR" sz="1500" noProof="0" dirty="0"/>
            </a:p>
          </p:txBody>
        </p:sp>
        <p:sp>
          <p:nvSpPr>
            <p:cNvPr id="24" name="TextBox 16">
              <a:extLst>
                <a:ext uri="{FF2B5EF4-FFF2-40B4-BE49-F238E27FC236}">
                  <a16:creationId xmlns:a16="http://schemas.microsoft.com/office/drawing/2014/main" id="{B2C54A13-3F23-1637-BFF9-B45B591990B0}"/>
                </a:ext>
              </a:extLst>
            </p:cNvPr>
            <p:cNvSpPr txBox="1"/>
            <p:nvPr/>
          </p:nvSpPr>
          <p:spPr>
            <a:xfrm>
              <a:off x="52202" y="-4948"/>
              <a:ext cx="452421" cy="509571"/>
            </a:xfrm>
            <a:prstGeom prst="rect">
              <a:avLst/>
            </a:prstGeom>
            <a:grpFill/>
          </p:spPr>
          <p:txBody>
            <a:bodyPr lIns="0" tIns="0" rIns="0" bIns="0" rtlCol="0" anchor="ctr"/>
            <a:lstStyle/>
            <a:p>
              <a:pPr algn="ctr">
                <a:lnSpc>
                  <a:spcPts val="2613"/>
                </a:lnSpc>
              </a:pPr>
              <a:r>
                <a:rPr lang="fr-FR" sz="1500" b="1" noProof="0" dirty="0">
                  <a:solidFill>
                    <a:srgbClr val="FFFFFF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2012</a:t>
              </a:r>
            </a:p>
            <a:p>
              <a:pPr algn="ctr">
                <a:lnSpc>
                  <a:spcPts val="2613"/>
                </a:lnSpc>
              </a:pPr>
              <a:r>
                <a:rPr lang="fr-FR" sz="1500" b="1" dirty="0">
                  <a:solidFill>
                    <a:srgbClr val="FFFFFF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2017</a:t>
              </a:r>
              <a:endParaRPr lang="fr-FR" sz="1500" b="1" noProof="0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endParaRPr>
            </a:p>
          </p:txBody>
        </p:sp>
      </p:grpSp>
      <p:grpSp>
        <p:nvGrpSpPr>
          <p:cNvPr id="25" name="Group 17">
            <a:extLst>
              <a:ext uri="{FF2B5EF4-FFF2-40B4-BE49-F238E27FC236}">
                <a16:creationId xmlns:a16="http://schemas.microsoft.com/office/drawing/2014/main" id="{11BD4ADD-697B-9787-8BF1-DBAFFA279003}"/>
              </a:ext>
            </a:extLst>
          </p:cNvPr>
          <p:cNvGrpSpPr/>
          <p:nvPr/>
        </p:nvGrpSpPr>
        <p:grpSpPr>
          <a:xfrm>
            <a:off x="5947281" y="2321758"/>
            <a:ext cx="765894" cy="772563"/>
            <a:chOff x="0" y="0"/>
            <a:chExt cx="556826" cy="556826"/>
          </a:xfrm>
        </p:grpSpPr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74535DD2-6FCB-F9DE-3329-6ED820393EDA}"/>
                </a:ext>
              </a:extLst>
            </p:cNvPr>
            <p:cNvSpPr/>
            <p:nvPr/>
          </p:nvSpPr>
          <p:spPr>
            <a:xfrm>
              <a:off x="0" y="0"/>
              <a:ext cx="556826" cy="556826"/>
            </a:xfrm>
            <a:custGeom>
              <a:avLst/>
              <a:gdLst/>
              <a:ahLst/>
              <a:cxnLst/>
              <a:rect l="l" t="t" r="r" b="b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18AFD6"/>
            </a:solidFill>
          </p:spPr>
          <p:txBody>
            <a:bodyPr/>
            <a:lstStyle/>
            <a:p>
              <a:endParaRPr lang="fr-FR" sz="1500" noProof="0" dirty="0"/>
            </a:p>
          </p:txBody>
        </p:sp>
        <p:sp>
          <p:nvSpPr>
            <p:cNvPr id="27" name="TextBox 19">
              <a:extLst>
                <a:ext uri="{FF2B5EF4-FFF2-40B4-BE49-F238E27FC236}">
                  <a16:creationId xmlns:a16="http://schemas.microsoft.com/office/drawing/2014/main" id="{56D154D7-8739-8030-17FC-01E7BE98D210}"/>
                </a:ext>
              </a:extLst>
            </p:cNvPr>
            <p:cNvSpPr txBox="1"/>
            <p:nvPr/>
          </p:nvSpPr>
          <p:spPr>
            <a:xfrm>
              <a:off x="52202" y="-4948"/>
              <a:ext cx="452421" cy="50957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13"/>
                </a:lnSpc>
              </a:pPr>
              <a:r>
                <a:rPr lang="fr-FR" sz="1500" b="1" noProof="0" dirty="0">
                  <a:solidFill>
                    <a:srgbClr val="FFFFFF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2023</a:t>
              </a:r>
            </a:p>
          </p:txBody>
        </p:sp>
      </p:grpSp>
      <p:sp>
        <p:nvSpPr>
          <p:cNvPr id="28" name="AutoShape 23">
            <a:extLst>
              <a:ext uri="{FF2B5EF4-FFF2-40B4-BE49-F238E27FC236}">
                <a16:creationId xmlns:a16="http://schemas.microsoft.com/office/drawing/2014/main" id="{0CC13EBD-D86D-05BE-7851-44013C909E37}"/>
              </a:ext>
            </a:extLst>
          </p:cNvPr>
          <p:cNvSpPr/>
          <p:nvPr/>
        </p:nvSpPr>
        <p:spPr>
          <a:xfrm>
            <a:off x="957059" y="3124504"/>
            <a:ext cx="0" cy="408352"/>
          </a:xfrm>
          <a:prstGeom prst="line">
            <a:avLst/>
          </a:prstGeom>
          <a:ln w="47625" cap="flat">
            <a:solidFill>
              <a:srgbClr val="86EAE9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 lang="fr-FR" sz="1500" noProof="0" dirty="0"/>
          </a:p>
        </p:txBody>
      </p:sp>
      <p:sp>
        <p:nvSpPr>
          <p:cNvPr id="29" name="AutoShape 24">
            <a:extLst>
              <a:ext uri="{FF2B5EF4-FFF2-40B4-BE49-F238E27FC236}">
                <a16:creationId xmlns:a16="http://schemas.microsoft.com/office/drawing/2014/main" id="{51A09FA1-3DCC-7A76-5D7B-179CFD05CDF1}"/>
              </a:ext>
            </a:extLst>
          </p:cNvPr>
          <p:cNvSpPr/>
          <p:nvPr/>
        </p:nvSpPr>
        <p:spPr>
          <a:xfrm>
            <a:off x="2596836" y="3114881"/>
            <a:ext cx="0" cy="411110"/>
          </a:xfrm>
          <a:prstGeom prst="line">
            <a:avLst/>
          </a:prstGeom>
          <a:ln w="47625" cap="flat">
            <a:solidFill>
              <a:srgbClr val="86EAE9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 lang="fr-FR" sz="1500" noProof="0" dirty="0"/>
          </a:p>
        </p:txBody>
      </p:sp>
      <p:sp>
        <p:nvSpPr>
          <p:cNvPr id="30" name="AutoShape 25">
            <a:extLst>
              <a:ext uri="{FF2B5EF4-FFF2-40B4-BE49-F238E27FC236}">
                <a16:creationId xmlns:a16="http://schemas.microsoft.com/office/drawing/2014/main" id="{98651DCA-C341-3D6F-BBCB-2197926CE222}"/>
              </a:ext>
            </a:extLst>
          </p:cNvPr>
          <p:cNvSpPr/>
          <p:nvPr/>
        </p:nvSpPr>
        <p:spPr>
          <a:xfrm>
            <a:off x="4462889" y="3124504"/>
            <a:ext cx="2" cy="392126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 lang="fr-FR" sz="1500" noProof="0" dirty="0"/>
          </a:p>
        </p:txBody>
      </p:sp>
      <p:sp>
        <p:nvSpPr>
          <p:cNvPr id="31" name="AutoShape 26">
            <a:extLst>
              <a:ext uri="{FF2B5EF4-FFF2-40B4-BE49-F238E27FC236}">
                <a16:creationId xmlns:a16="http://schemas.microsoft.com/office/drawing/2014/main" id="{12777A0D-CC50-80E3-EBDE-0D328A19D3CD}"/>
              </a:ext>
            </a:extLst>
          </p:cNvPr>
          <p:cNvSpPr/>
          <p:nvPr/>
        </p:nvSpPr>
        <p:spPr>
          <a:xfrm>
            <a:off x="6330228" y="3094321"/>
            <a:ext cx="0" cy="403155"/>
          </a:xfrm>
          <a:prstGeom prst="line">
            <a:avLst/>
          </a:prstGeom>
          <a:ln w="47625" cap="flat">
            <a:solidFill>
              <a:srgbClr val="18AFD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 lang="fr-FR" sz="1500" noProof="0" dirty="0"/>
          </a:p>
        </p:txBody>
      </p:sp>
      <p:sp>
        <p:nvSpPr>
          <p:cNvPr id="32" name="AutoShape 29">
            <a:extLst>
              <a:ext uri="{FF2B5EF4-FFF2-40B4-BE49-F238E27FC236}">
                <a16:creationId xmlns:a16="http://schemas.microsoft.com/office/drawing/2014/main" id="{746E95CE-3974-6A62-279B-34B83294A145}"/>
              </a:ext>
            </a:extLst>
          </p:cNvPr>
          <p:cNvSpPr/>
          <p:nvPr/>
        </p:nvSpPr>
        <p:spPr>
          <a:xfrm flipV="1">
            <a:off x="1295735" y="2735466"/>
            <a:ext cx="918154" cy="7952"/>
          </a:xfrm>
          <a:prstGeom prst="line">
            <a:avLst/>
          </a:prstGeom>
          <a:ln w="57150" cap="flat">
            <a:solidFill>
              <a:schemeClr val="bg1">
                <a:lumMod val="75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 sz="1500" noProof="0" dirty="0"/>
          </a:p>
        </p:txBody>
      </p:sp>
      <p:sp>
        <p:nvSpPr>
          <p:cNvPr id="33" name="AutoShape 30">
            <a:extLst>
              <a:ext uri="{FF2B5EF4-FFF2-40B4-BE49-F238E27FC236}">
                <a16:creationId xmlns:a16="http://schemas.microsoft.com/office/drawing/2014/main" id="{48BFFB64-CA84-54F9-6C87-F87B2E906088}"/>
              </a:ext>
            </a:extLst>
          </p:cNvPr>
          <p:cNvSpPr/>
          <p:nvPr/>
        </p:nvSpPr>
        <p:spPr>
          <a:xfrm>
            <a:off x="2947229" y="2716259"/>
            <a:ext cx="1134901" cy="19142"/>
          </a:xfrm>
          <a:prstGeom prst="line">
            <a:avLst/>
          </a:prstGeom>
          <a:ln w="57150" cap="flat">
            <a:solidFill>
              <a:schemeClr val="bg1">
                <a:lumMod val="75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 sz="1500" noProof="0" dirty="0"/>
          </a:p>
        </p:txBody>
      </p:sp>
      <p:sp>
        <p:nvSpPr>
          <p:cNvPr id="34" name="AutoShape 31">
            <a:extLst>
              <a:ext uri="{FF2B5EF4-FFF2-40B4-BE49-F238E27FC236}">
                <a16:creationId xmlns:a16="http://schemas.microsoft.com/office/drawing/2014/main" id="{B8D03FFE-46B5-1DD5-C09D-9481532AB766}"/>
              </a:ext>
            </a:extLst>
          </p:cNvPr>
          <p:cNvSpPr/>
          <p:nvPr/>
        </p:nvSpPr>
        <p:spPr>
          <a:xfrm>
            <a:off x="4843703" y="2708774"/>
            <a:ext cx="1103577" cy="0"/>
          </a:xfrm>
          <a:prstGeom prst="line">
            <a:avLst/>
          </a:prstGeom>
          <a:ln w="57150" cap="flat">
            <a:solidFill>
              <a:schemeClr val="bg1">
                <a:lumMod val="75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 sz="1500" noProof="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A79AD71-CFD6-723F-5902-807A8223333C}"/>
              </a:ext>
            </a:extLst>
          </p:cNvPr>
          <p:cNvGrpSpPr/>
          <p:nvPr/>
        </p:nvGrpSpPr>
        <p:grpSpPr>
          <a:xfrm>
            <a:off x="1831290" y="3681709"/>
            <a:ext cx="1536688" cy="787393"/>
            <a:chOff x="144450" y="-28575"/>
            <a:chExt cx="3288749" cy="1670596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DDF15F5-9B47-6F1C-1F48-633E0F1A18B9}"/>
                </a:ext>
              </a:extLst>
            </p:cNvPr>
            <p:cNvSpPr txBox="1"/>
            <p:nvPr/>
          </p:nvSpPr>
          <p:spPr>
            <a:xfrm>
              <a:off x="156428" y="-28575"/>
              <a:ext cx="3276771" cy="536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80"/>
                </a:lnSpc>
              </a:pPr>
              <a:r>
                <a:rPr lang="fr-FR" sz="1400" b="1" noProof="0" dirty="0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MASTER PRO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9536448-7B76-7727-0BC9-B7555A3EADB6}"/>
                </a:ext>
              </a:extLst>
            </p:cNvPr>
            <p:cNvSpPr txBox="1"/>
            <p:nvPr/>
          </p:nvSpPr>
          <p:spPr>
            <a:xfrm>
              <a:off x="144450" y="698703"/>
              <a:ext cx="3276771" cy="9433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fr-FR" sz="1200" spc="17" dirty="0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Ingénierie de la</a:t>
              </a:r>
            </a:p>
            <a:p>
              <a:pPr algn="ctr">
                <a:lnSpc>
                  <a:spcPts val="1800"/>
                </a:lnSpc>
              </a:pPr>
              <a:r>
                <a:rPr lang="fr-FR" sz="1200" spc="17" dirty="0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Santé et le Médicament 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E6EF8FB-3D02-95A1-C0E7-EE1D7CF88BF9}"/>
              </a:ext>
            </a:extLst>
          </p:cNvPr>
          <p:cNvGrpSpPr/>
          <p:nvPr/>
        </p:nvGrpSpPr>
        <p:grpSpPr>
          <a:xfrm>
            <a:off x="3591821" y="3703661"/>
            <a:ext cx="1686748" cy="1015851"/>
            <a:chOff x="197006" y="-1615"/>
            <a:chExt cx="3995961" cy="215531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8F2D8F8-45B0-7A25-A7CA-641E4EAE2CDA}"/>
                </a:ext>
              </a:extLst>
            </p:cNvPr>
            <p:cNvSpPr txBox="1"/>
            <p:nvPr/>
          </p:nvSpPr>
          <p:spPr>
            <a:xfrm>
              <a:off x="197006" y="-1615"/>
              <a:ext cx="3995961" cy="52907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080"/>
                </a:lnSpc>
              </a:pPr>
              <a:r>
                <a:rPr lang="fr-FR" sz="1400" b="1" dirty="0">
                  <a:latin typeface="Aileron"/>
                </a:rPr>
                <a:t>INGÉNIEUR D’ÉTUDE</a:t>
              </a:r>
              <a:endParaRPr lang="fr-FR" sz="1400" b="1" noProof="0" dirty="0">
                <a:solidFill>
                  <a:srgbClr val="191919"/>
                </a:solidFill>
                <a:latin typeface="+mj-lt"/>
                <a:ea typeface="Aileron Bold"/>
                <a:cs typeface="Aileron Bold"/>
                <a:sym typeface="Aileron Bold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F924BF0-D7C5-29A2-0A86-38CA5955B760}"/>
                </a:ext>
              </a:extLst>
            </p:cNvPr>
            <p:cNvSpPr txBox="1"/>
            <p:nvPr/>
          </p:nvSpPr>
          <p:spPr>
            <a:xfrm>
              <a:off x="207759" y="706341"/>
              <a:ext cx="3828788" cy="144735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fr-FR" sz="1200" dirty="0">
                  <a:latin typeface="Aileron"/>
                </a:rPr>
                <a:t>R&amp;D sur la transcytose hémato-encéphalique</a:t>
              </a:r>
            </a:p>
            <a:p>
              <a:pPr algn="ctr">
                <a:lnSpc>
                  <a:spcPts val="1800"/>
                </a:lnSpc>
              </a:pPr>
              <a:endParaRPr lang="fr-FR" sz="1400" spc="17" noProof="0" dirty="0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endParaRPr>
            </a:p>
          </p:txBody>
        </p:sp>
      </p:grpSp>
      <p:pic>
        <p:nvPicPr>
          <p:cNvPr id="41" name="Picture 2">
            <a:extLst>
              <a:ext uri="{FF2B5EF4-FFF2-40B4-BE49-F238E27FC236}">
                <a16:creationId xmlns:a16="http://schemas.microsoft.com/office/drawing/2014/main" id="{D08246B2-07DF-3DE6-0C87-8FC0D6072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" y="950810"/>
            <a:ext cx="1182597" cy="41911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E2ECB699-1F65-61A7-7D81-DEE600D61B60}"/>
              </a:ext>
            </a:extLst>
          </p:cNvPr>
          <p:cNvCxnSpPr/>
          <p:nvPr/>
        </p:nvCxnSpPr>
        <p:spPr>
          <a:xfrm>
            <a:off x="1753718" y="1965524"/>
            <a:ext cx="0" cy="1781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3" name="Picture 2" descr="Que faire à Marseille : itinéraire de 2 jours">
            <a:extLst>
              <a:ext uri="{FF2B5EF4-FFF2-40B4-BE49-F238E27FC236}">
                <a16:creationId xmlns:a16="http://schemas.microsoft.com/office/drawing/2014/main" id="{B045B205-0A35-F8ED-66DF-48F68198A6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" y="1578836"/>
            <a:ext cx="1182597" cy="688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6FBCDDB2-D39B-64C7-C2D1-2F4C0BEAC3A8}"/>
              </a:ext>
            </a:extLst>
          </p:cNvPr>
          <p:cNvCxnSpPr/>
          <p:nvPr/>
        </p:nvCxnSpPr>
        <p:spPr>
          <a:xfrm>
            <a:off x="3513248" y="1958658"/>
            <a:ext cx="0" cy="1781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48" name="Group 8">
            <a:extLst>
              <a:ext uri="{FF2B5EF4-FFF2-40B4-BE49-F238E27FC236}">
                <a16:creationId xmlns:a16="http://schemas.microsoft.com/office/drawing/2014/main" id="{37AA3F6D-EF7F-EAA4-270F-3A49BE5C588F}"/>
              </a:ext>
            </a:extLst>
          </p:cNvPr>
          <p:cNvGrpSpPr/>
          <p:nvPr/>
        </p:nvGrpSpPr>
        <p:grpSpPr>
          <a:xfrm>
            <a:off x="7705453" y="2323214"/>
            <a:ext cx="765894" cy="772563"/>
            <a:chOff x="0" y="0"/>
            <a:chExt cx="556826" cy="556826"/>
          </a:xfrm>
        </p:grpSpPr>
        <p:sp>
          <p:nvSpPr>
            <p:cNvPr id="49" name="Freeform 9">
              <a:extLst>
                <a:ext uri="{FF2B5EF4-FFF2-40B4-BE49-F238E27FC236}">
                  <a16:creationId xmlns:a16="http://schemas.microsoft.com/office/drawing/2014/main" id="{55A7E949-452C-FF77-15C9-FED331C4C3E4}"/>
                </a:ext>
              </a:extLst>
            </p:cNvPr>
            <p:cNvSpPr/>
            <p:nvPr/>
          </p:nvSpPr>
          <p:spPr>
            <a:xfrm>
              <a:off x="0" y="0"/>
              <a:ext cx="556826" cy="556826"/>
            </a:xfrm>
            <a:custGeom>
              <a:avLst/>
              <a:gdLst/>
              <a:ahLst/>
              <a:cxnLst/>
              <a:rect l="l" t="t" r="r" b="b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13538A"/>
            </a:solidFill>
          </p:spPr>
          <p:txBody>
            <a:bodyPr/>
            <a:lstStyle/>
            <a:p>
              <a:endParaRPr lang="fr-FR" sz="1500"/>
            </a:p>
          </p:txBody>
        </p:sp>
        <p:sp>
          <p:nvSpPr>
            <p:cNvPr id="50" name="TextBox 10">
              <a:extLst>
                <a:ext uri="{FF2B5EF4-FFF2-40B4-BE49-F238E27FC236}">
                  <a16:creationId xmlns:a16="http://schemas.microsoft.com/office/drawing/2014/main" id="{737EA022-1C84-643F-CCDB-16E1058B5ED4}"/>
                </a:ext>
              </a:extLst>
            </p:cNvPr>
            <p:cNvSpPr txBox="1"/>
            <p:nvPr/>
          </p:nvSpPr>
          <p:spPr>
            <a:xfrm>
              <a:off x="52202" y="-4948"/>
              <a:ext cx="452421" cy="50957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13"/>
                </a:lnSpc>
              </a:pPr>
              <a:r>
                <a:rPr lang="en-US" sz="1500" b="1">
                  <a:solidFill>
                    <a:srgbClr val="FFFFFF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2026</a:t>
              </a:r>
            </a:p>
          </p:txBody>
        </p:sp>
      </p:grpSp>
      <p:sp>
        <p:nvSpPr>
          <p:cNvPr id="59" name="AutoShape 28">
            <a:extLst>
              <a:ext uri="{FF2B5EF4-FFF2-40B4-BE49-F238E27FC236}">
                <a16:creationId xmlns:a16="http://schemas.microsoft.com/office/drawing/2014/main" id="{21F6262F-B835-53FC-9D2F-410A6D9D286B}"/>
              </a:ext>
            </a:extLst>
          </p:cNvPr>
          <p:cNvSpPr/>
          <p:nvPr/>
        </p:nvSpPr>
        <p:spPr>
          <a:xfrm>
            <a:off x="8088400" y="3095777"/>
            <a:ext cx="0" cy="411110"/>
          </a:xfrm>
          <a:prstGeom prst="line">
            <a:avLst/>
          </a:prstGeom>
          <a:ln w="47625" cap="flat">
            <a:solidFill>
              <a:srgbClr val="13538A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 lang="fr-FR" sz="1500"/>
          </a:p>
        </p:txBody>
      </p:sp>
      <p:pic>
        <p:nvPicPr>
          <p:cNvPr id="1028" name="Picture 4" descr="Visiter Grenoble : les 10 choses incontournables à faire">
            <a:extLst>
              <a:ext uri="{FF2B5EF4-FFF2-40B4-BE49-F238E27FC236}">
                <a16:creationId xmlns:a16="http://schemas.microsoft.com/office/drawing/2014/main" id="{19D272C3-B21D-C764-B610-0A862BC6E5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5254" y="1594411"/>
            <a:ext cx="1198447" cy="671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0B30FE7-9E5E-E6A8-DF40-6B856A1CAD93}"/>
              </a:ext>
            </a:extLst>
          </p:cNvPr>
          <p:cNvCxnSpPr/>
          <p:nvPr/>
        </p:nvCxnSpPr>
        <p:spPr>
          <a:xfrm>
            <a:off x="5407430" y="1921802"/>
            <a:ext cx="0" cy="1781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7" name="Picture 2" descr="Que faire à Marseille : itinéraire de 2 jours">
            <a:extLst>
              <a:ext uri="{FF2B5EF4-FFF2-40B4-BE49-F238E27FC236}">
                <a16:creationId xmlns:a16="http://schemas.microsoft.com/office/drawing/2014/main" id="{58747E66-54E3-6EC0-5AD1-A047AB4783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7617" y="1588980"/>
            <a:ext cx="1182597" cy="658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Vect-Horus">
            <a:extLst>
              <a:ext uri="{FF2B5EF4-FFF2-40B4-BE49-F238E27FC236}">
                <a16:creationId xmlns:a16="http://schemas.microsoft.com/office/drawing/2014/main" id="{69C026EE-26DE-CE05-3AC0-1C70E3235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9750" y="962454"/>
            <a:ext cx="1180464" cy="4116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8" name="Group 34">
            <a:extLst>
              <a:ext uri="{FF2B5EF4-FFF2-40B4-BE49-F238E27FC236}">
                <a16:creationId xmlns:a16="http://schemas.microsoft.com/office/drawing/2014/main" id="{A45FF7F0-E1BB-970A-9E8D-AEB4B8D8B5BB}"/>
              </a:ext>
            </a:extLst>
          </p:cNvPr>
          <p:cNvGrpSpPr/>
          <p:nvPr/>
        </p:nvGrpSpPr>
        <p:grpSpPr>
          <a:xfrm>
            <a:off x="5395505" y="3691870"/>
            <a:ext cx="1765818" cy="761371"/>
            <a:chOff x="-57310" y="-28575"/>
            <a:chExt cx="3397457" cy="1615385"/>
          </a:xfrm>
        </p:grpSpPr>
        <p:sp>
          <p:nvSpPr>
            <p:cNvPr id="69" name="TextBox 35">
              <a:extLst>
                <a:ext uri="{FF2B5EF4-FFF2-40B4-BE49-F238E27FC236}">
                  <a16:creationId xmlns:a16="http://schemas.microsoft.com/office/drawing/2014/main" id="{835714F1-0EE0-6297-61F2-A8CB5BD4B5D1}"/>
                </a:ext>
              </a:extLst>
            </p:cNvPr>
            <p:cNvSpPr txBox="1"/>
            <p:nvPr/>
          </p:nvSpPr>
          <p:spPr>
            <a:xfrm>
              <a:off x="63376" y="-28575"/>
              <a:ext cx="3276771" cy="536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80"/>
                </a:lnSpc>
              </a:pPr>
              <a:r>
                <a:rPr lang="fr-FR" sz="1400" b="1" noProof="0" dirty="0">
                  <a:solidFill>
                    <a:srgbClr val="191919"/>
                  </a:solidFill>
                  <a:latin typeface="Aileron"/>
                  <a:ea typeface="Aileron Bold"/>
                  <a:cs typeface="Aileron Bold"/>
                  <a:sym typeface="Aileron Bold"/>
                </a:rPr>
                <a:t>MASTER RECHERCHE</a:t>
              </a:r>
            </a:p>
          </p:txBody>
        </p:sp>
        <p:sp>
          <p:nvSpPr>
            <p:cNvPr id="70" name="TextBox 36">
              <a:extLst>
                <a:ext uri="{FF2B5EF4-FFF2-40B4-BE49-F238E27FC236}">
                  <a16:creationId xmlns:a16="http://schemas.microsoft.com/office/drawing/2014/main" id="{62B8630D-F1F8-DAE1-A206-96FFD1CEFAAF}"/>
                </a:ext>
              </a:extLst>
            </p:cNvPr>
            <p:cNvSpPr txBox="1"/>
            <p:nvPr/>
          </p:nvSpPr>
          <p:spPr>
            <a:xfrm>
              <a:off x="-57310" y="803206"/>
              <a:ext cx="3276773" cy="783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/>
              <a:r>
                <a:rPr lang="fr-FR" sz="1200" dirty="0">
                  <a:latin typeface="Aileron"/>
                </a:rPr>
                <a:t>Biochimie Structurale et</a:t>
              </a:r>
            </a:p>
            <a:p>
              <a:pPr algn="ctr"/>
              <a:r>
                <a:rPr lang="fr-FR" sz="1200" dirty="0">
                  <a:latin typeface="Aileron"/>
                </a:rPr>
                <a:t>Fonctionnelle </a:t>
              </a:r>
              <a:endParaRPr lang="fr-FR" sz="1200" spc="17" dirty="0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endParaRPr>
            </a:p>
          </p:txBody>
        </p:sp>
      </p:grpSp>
      <p:pic>
        <p:nvPicPr>
          <p:cNvPr id="74" name="Image 73" descr="Une image contenant plein air, nuage, ciel, arbre&#10;&#10;Description générée automatiquement">
            <a:extLst>
              <a:ext uri="{FF2B5EF4-FFF2-40B4-BE49-F238E27FC236}">
                <a16:creationId xmlns:a16="http://schemas.microsoft.com/office/drawing/2014/main" id="{70981945-06EC-1E3E-4B05-781DCD765B6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7239"/>
          <a:stretch/>
        </p:blipFill>
        <p:spPr>
          <a:xfrm>
            <a:off x="5713405" y="1590229"/>
            <a:ext cx="1180464" cy="688230"/>
          </a:xfrm>
          <a:prstGeom prst="rect">
            <a:avLst/>
          </a:prstGeom>
        </p:spPr>
      </p:pic>
      <p:sp>
        <p:nvSpPr>
          <p:cNvPr id="75" name="AutoShape 31">
            <a:extLst>
              <a:ext uri="{FF2B5EF4-FFF2-40B4-BE49-F238E27FC236}">
                <a16:creationId xmlns:a16="http://schemas.microsoft.com/office/drawing/2014/main" id="{9CB7CEFF-319B-809B-2F9C-7708BC93ACC4}"/>
              </a:ext>
            </a:extLst>
          </p:cNvPr>
          <p:cNvSpPr/>
          <p:nvPr/>
        </p:nvSpPr>
        <p:spPr>
          <a:xfrm>
            <a:off x="6713175" y="2708773"/>
            <a:ext cx="992278" cy="1"/>
          </a:xfrm>
          <a:prstGeom prst="line">
            <a:avLst/>
          </a:prstGeom>
          <a:ln w="57150" cap="flat">
            <a:solidFill>
              <a:schemeClr val="bg1">
                <a:lumMod val="75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 sz="1500" noProof="0" dirty="0"/>
          </a:p>
        </p:txBody>
      </p:sp>
      <p:cxnSp>
        <p:nvCxnSpPr>
          <p:cNvPr id="77" name="Connecteur droit 76">
            <a:extLst>
              <a:ext uri="{FF2B5EF4-FFF2-40B4-BE49-F238E27FC236}">
                <a16:creationId xmlns:a16="http://schemas.microsoft.com/office/drawing/2014/main" id="{44B25F58-6082-CBB9-388A-E00E05D7D940}"/>
              </a:ext>
            </a:extLst>
          </p:cNvPr>
          <p:cNvCxnSpPr/>
          <p:nvPr/>
        </p:nvCxnSpPr>
        <p:spPr>
          <a:xfrm>
            <a:off x="7275467" y="1861107"/>
            <a:ext cx="0" cy="1781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34" name="Picture 10" descr="Lyon 1 Université — Wikipédia">
            <a:extLst>
              <a:ext uri="{FF2B5EF4-FFF2-40B4-BE49-F238E27FC236}">
                <a16:creationId xmlns:a16="http://schemas.microsoft.com/office/drawing/2014/main" id="{45F9B28A-DA42-91D8-B3B7-87E075314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6261" y="962453"/>
            <a:ext cx="1180464" cy="41368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Université Grenoble-I - Définition et Explications">
            <a:extLst>
              <a:ext uri="{FF2B5EF4-FFF2-40B4-BE49-F238E27FC236}">
                <a16:creationId xmlns:a16="http://schemas.microsoft.com/office/drawing/2014/main" id="{7617F8E1-8EDF-BB92-5D0B-129B57FAE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9813" y="959836"/>
            <a:ext cx="1243888" cy="41008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0" name="Picture 10" descr="Lyon 1 Université — Wikipédia">
            <a:extLst>
              <a:ext uri="{FF2B5EF4-FFF2-40B4-BE49-F238E27FC236}">
                <a16:creationId xmlns:a16="http://schemas.microsoft.com/office/drawing/2014/main" id="{176534A2-05E3-9825-95AB-88E6C48B2E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2344" y="947768"/>
            <a:ext cx="1180464" cy="43154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Image 80" descr="Une image contenant plein air, nuage, ciel, arbre&#10;&#10;Description générée automatiquement">
            <a:extLst>
              <a:ext uri="{FF2B5EF4-FFF2-40B4-BE49-F238E27FC236}">
                <a16:creationId xmlns:a16="http://schemas.microsoft.com/office/drawing/2014/main" id="{A8C772D5-999E-AC59-FD20-F6021295795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7239"/>
          <a:stretch/>
        </p:blipFill>
        <p:spPr>
          <a:xfrm>
            <a:off x="7462344" y="1594410"/>
            <a:ext cx="1180464" cy="688230"/>
          </a:xfrm>
          <a:prstGeom prst="rect">
            <a:avLst/>
          </a:prstGeom>
        </p:spPr>
      </p:pic>
      <p:grpSp>
        <p:nvGrpSpPr>
          <p:cNvPr id="82" name="Group 34">
            <a:extLst>
              <a:ext uri="{FF2B5EF4-FFF2-40B4-BE49-F238E27FC236}">
                <a16:creationId xmlns:a16="http://schemas.microsoft.com/office/drawing/2014/main" id="{B2591D75-227B-C7CC-B823-E06007EAD262}"/>
              </a:ext>
            </a:extLst>
          </p:cNvPr>
          <p:cNvGrpSpPr/>
          <p:nvPr/>
        </p:nvGrpSpPr>
        <p:grpSpPr>
          <a:xfrm>
            <a:off x="7177306" y="3707463"/>
            <a:ext cx="1703092" cy="1042119"/>
            <a:chOff x="250229" y="-28575"/>
            <a:chExt cx="3276771" cy="2211042"/>
          </a:xfrm>
        </p:grpSpPr>
        <p:sp>
          <p:nvSpPr>
            <p:cNvPr id="83" name="TextBox 35">
              <a:extLst>
                <a:ext uri="{FF2B5EF4-FFF2-40B4-BE49-F238E27FC236}">
                  <a16:creationId xmlns:a16="http://schemas.microsoft.com/office/drawing/2014/main" id="{4B4321BA-0968-5265-5AA3-F7F597FF3DAF}"/>
                </a:ext>
              </a:extLst>
            </p:cNvPr>
            <p:cNvSpPr txBox="1"/>
            <p:nvPr/>
          </p:nvSpPr>
          <p:spPr>
            <a:xfrm>
              <a:off x="250229" y="-28575"/>
              <a:ext cx="3276771" cy="5290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80"/>
                </a:lnSpc>
              </a:pPr>
              <a:r>
                <a:rPr lang="fr-FR" sz="1400" b="1" noProof="0" dirty="0">
                  <a:solidFill>
                    <a:srgbClr val="191919"/>
                  </a:solidFill>
                  <a:latin typeface="Aileron"/>
                  <a:ea typeface="Aileron Bold"/>
                  <a:cs typeface="Aileron Bold"/>
                  <a:sym typeface="Aileron Bold"/>
                </a:rPr>
                <a:t>BUT3 AGED</a:t>
              </a:r>
            </a:p>
          </p:txBody>
        </p:sp>
        <p:sp>
          <p:nvSpPr>
            <p:cNvPr id="84" name="TextBox 36">
              <a:extLst>
                <a:ext uri="{FF2B5EF4-FFF2-40B4-BE49-F238E27FC236}">
                  <a16:creationId xmlns:a16="http://schemas.microsoft.com/office/drawing/2014/main" id="{DC772E2C-9110-79D4-DF2A-E11A296A7DE4}"/>
                </a:ext>
              </a:extLst>
            </p:cNvPr>
            <p:cNvSpPr txBox="1"/>
            <p:nvPr/>
          </p:nvSpPr>
          <p:spPr>
            <a:xfrm>
              <a:off x="441155" y="745861"/>
              <a:ext cx="2894918" cy="14366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/>
              <a:r>
                <a:rPr lang="fr-FR" sz="1100" dirty="0"/>
                <a:t>Administration, gestion et exploitation des données &amp; développement d’applications</a:t>
              </a:r>
              <a:endParaRPr lang="fr-FR" sz="1100" dirty="0">
                <a:latin typeface="Aileron"/>
              </a:endParaRPr>
            </a:p>
          </p:txBody>
        </p:sp>
      </p:grpSp>
      <p:sp>
        <p:nvSpPr>
          <p:cNvPr id="4" name="Shape 0">
            <a:extLst>
              <a:ext uri="{FF2B5EF4-FFF2-40B4-BE49-F238E27FC236}">
                <a16:creationId xmlns:a16="http://schemas.microsoft.com/office/drawing/2014/main" id="{018165DF-232E-09F9-E759-B158B7626A5B}"/>
              </a:ext>
            </a:extLst>
          </p:cNvPr>
          <p:cNvSpPr/>
          <p:nvPr/>
        </p:nvSpPr>
        <p:spPr>
          <a:xfrm>
            <a:off x="0" y="-9367"/>
            <a:ext cx="9144000" cy="60157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135B1F9-CD13-6895-82F1-62016FB690D6}"/>
              </a:ext>
            </a:extLst>
          </p:cNvPr>
          <p:cNvSpPr/>
          <p:nvPr/>
        </p:nvSpPr>
        <p:spPr>
          <a:xfrm>
            <a:off x="365760" y="578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2200" b="1" noProof="0" dirty="0">
                <a:solidFill>
                  <a:schemeClr val="bg1"/>
                </a:solidFill>
              </a:rPr>
              <a:t>01 — </a:t>
            </a:r>
            <a:r>
              <a:rPr lang="fr-FR" sz="2200" b="1" dirty="0">
                <a:solidFill>
                  <a:schemeClr val="bg1"/>
                </a:solidFill>
              </a:rPr>
              <a:t>Un parcours hybride entre biologie et informatique</a:t>
            </a:r>
            <a:endParaRPr lang="fr-FR" sz="2200" b="1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05845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3883D59-7F19-CBF1-D534-C049C3076966}"/>
              </a:ext>
            </a:extLst>
          </p:cNvPr>
          <p:cNvSpPr/>
          <p:nvPr/>
        </p:nvSpPr>
        <p:spPr>
          <a:xfrm>
            <a:off x="0" y="0"/>
            <a:ext cx="2084832" cy="5143500"/>
          </a:xfrm>
          <a:prstGeom prst="rect">
            <a:avLst/>
          </a:prstGeom>
          <a:solidFill>
            <a:srgbClr val="06061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5C923CC-984F-A1F7-EEE4-6151784C5EBF}"/>
              </a:ext>
            </a:extLst>
          </p:cNvPr>
          <p:cNvSpPr/>
          <p:nvPr/>
        </p:nvSpPr>
        <p:spPr>
          <a:xfrm>
            <a:off x="76694" y="228600"/>
            <a:ext cx="1924463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b="1" noProof="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02 -</a:t>
            </a:r>
            <a:r>
              <a:rPr lang="fr-FR" b="1" dirty="0">
                <a:solidFill>
                  <a:schemeClr val="bg1"/>
                </a:solidFill>
              </a:rPr>
              <a:t>CONSTRUCTION DU PARCOURS</a:t>
            </a:r>
            <a:endParaRPr lang="fr-FR" b="1" noProof="0" dirty="0">
              <a:solidFill>
                <a:schemeClr val="bg1"/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F96C37A-5B19-37A8-DC27-DAC3C5088CA5}"/>
              </a:ext>
            </a:extLst>
          </p:cNvPr>
          <p:cNvSpPr/>
          <p:nvPr/>
        </p:nvSpPr>
        <p:spPr>
          <a:xfrm>
            <a:off x="137160" y="1417320"/>
            <a:ext cx="1371600" cy="36576"/>
          </a:xfrm>
          <a:prstGeom prst="rect">
            <a:avLst/>
          </a:prstGeom>
          <a:solidFill>
            <a:srgbClr val="6B4FE0"/>
          </a:solidFill>
          <a:ln/>
        </p:spPr>
        <p:txBody>
          <a:bodyPr/>
          <a:lstStyle/>
          <a:p>
            <a:endParaRPr lang="fr-FR" sz="1400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E74B43-CB37-9C4C-80EF-CEE9E40F6F25}"/>
              </a:ext>
            </a:extLst>
          </p:cNvPr>
          <p:cNvSpPr/>
          <p:nvPr/>
        </p:nvSpPr>
        <p:spPr>
          <a:xfrm>
            <a:off x="137160" y="15087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fr-FR" sz="1100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C9A4E89-BD4D-C561-3408-21B8188CE22A}"/>
              </a:ext>
            </a:extLst>
          </p:cNvPr>
          <p:cNvSpPr/>
          <p:nvPr/>
        </p:nvSpPr>
        <p:spPr>
          <a:xfrm>
            <a:off x="109728" y="2011680"/>
            <a:ext cx="1846210" cy="822960"/>
          </a:xfrm>
          <a:prstGeom prst="rect">
            <a:avLst/>
          </a:prstGeom>
          <a:solidFill>
            <a:srgbClr val="14142A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DD335EB-4B49-5C4B-8146-E27F872216D9}"/>
              </a:ext>
            </a:extLst>
          </p:cNvPr>
          <p:cNvSpPr/>
          <p:nvPr/>
        </p:nvSpPr>
        <p:spPr>
          <a:xfrm>
            <a:off x="109728" y="2011680"/>
            <a:ext cx="54864" cy="822960"/>
          </a:xfrm>
          <a:prstGeom prst="rect">
            <a:avLst/>
          </a:prstGeom>
          <a:solidFill>
            <a:srgbClr val="6B4FE0"/>
          </a:solidFill>
          <a:ln/>
        </p:spPr>
        <p:txBody>
          <a:bodyPr/>
          <a:lstStyle/>
          <a:p>
            <a:endParaRPr lang="fr-FR" sz="1400" noProof="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E240FBB-0BDF-2D38-69CA-BFAB32443FDA}"/>
              </a:ext>
            </a:extLst>
          </p:cNvPr>
          <p:cNvSpPr/>
          <p:nvPr/>
        </p:nvSpPr>
        <p:spPr>
          <a:xfrm>
            <a:off x="228600" y="210312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fr-FR" sz="1400" noProof="0" dirty="0">
                <a:solidFill>
                  <a:srgbClr val="C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Biologie</a:t>
            </a:r>
            <a:endParaRPr lang="fr-FR" sz="1400" noProof="0" dirty="0"/>
          </a:p>
          <a:p>
            <a:pPr marL="0" indent="0" algn="l">
              <a:buNone/>
            </a:pPr>
            <a:r>
              <a:rPr lang="fr-FR" sz="1400" noProof="0" dirty="0">
                <a:solidFill>
                  <a:srgbClr val="C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moléculaire</a:t>
            </a:r>
            <a:endParaRPr lang="fr-FR" sz="1400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08B97FF-68AC-E6F5-45EB-79B99DF876CA}"/>
              </a:ext>
            </a:extLst>
          </p:cNvPr>
          <p:cNvSpPr/>
          <p:nvPr/>
        </p:nvSpPr>
        <p:spPr>
          <a:xfrm>
            <a:off x="109728" y="2971800"/>
            <a:ext cx="1828800" cy="822960"/>
          </a:xfrm>
          <a:prstGeom prst="rect">
            <a:avLst/>
          </a:prstGeom>
          <a:solidFill>
            <a:srgbClr val="14142A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2D32791-C682-2564-C355-87DDC28DB607}"/>
              </a:ext>
            </a:extLst>
          </p:cNvPr>
          <p:cNvSpPr/>
          <p:nvPr/>
        </p:nvSpPr>
        <p:spPr>
          <a:xfrm>
            <a:off x="109728" y="2971800"/>
            <a:ext cx="54864" cy="822960"/>
          </a:xfrm>
          <a:prstGeom prst="rect">
            <a:avLst/>
          </a:prstGeom>
          <a:solidFill>
            <a:srgbClr val="00C9B1"/>
          </a:solidFill>
          <a:ln/>
        </p:spPr>
        <p:txBody>
          <a:bodyPr/>
          <a:lstStyle/>
          <a:p>
            <a:endParaRPr lang="fr-FR" sz="1400" noProof="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B08AA2F-6C40-3498-703A-6DDB7DC547F5}"/>
              </a:ext>
            </a:extLst>
          </p:cNvPr>
          <p:cNvSpPr/>
          <p:nvPr/>
        </p:nvSpPr>
        <p:spPr>
          <a:xfrm>
            <a:off x="228600" y="30632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fr-FR" sz="1400" noProof="0" dirty="0">
                <a:solidFill>
                  <a:srgbClr val="C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 Biochimie</a:t>
            </a:r>
            <a:endParaRPr lang="fr-FR" sz="1400" noProof="0" dirty="0"/>
          </a:p>
          <a:p>
            <a:pPr marL="0" indent="0" algn="l">
              <a:buNone/>
            </a:pPr>
            <a:r>
              <a:rPr lang="fr-FR" sz="1400" noProof="0" dirty="0">
                <a:solidFill>
                  <a:srgbClr val="C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Protéines</a:t>
            </a:r>
            <a:endParaRPr lang="fr-FR" sz="1400" noProof="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2187363-66F6-06EE-7E0D-20459F17DE46}"/>
              </a:ext>
            </a:extLst>
          </p:cNvPr>
          <p:cNvSpPr/>
          <p:nvPr/>
        </p:nvSpPr>
        <p:spPr>
          <a:xfrm>
            <a:off x="109728" y="3931920"/>
            <a:ext cx="1828800" cy="822960"/>
          </a:xfrm>
          <a:prstGeom prst="rect">
            <a:avLst/>
          </a:prstGeom>
          <a:solidFill>
            <a:srgbClr val="14142A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02D5C33-8687-B9FE-9622-ECA8AAEC85D8}"/>
              </a:ext>
            </a:extLst>
          </p:cNvPr>
          <p:cNvSpPr/>
          <p:nvPr/>
        </p:nvSpPr>
        <p:spPr>
          <a:xfrm>
            <a:off x="109728" y="3931920"/>
            <a:ext cx="54864" cy="822960"/>
          </a:xfrm>
          <a:prstGeom prst="rect">
            <a:avLst/>
          </a:prstGeom>
          <a:solidFill>
            <a:srgbClr val="E07040"/>
          </a:solidFill>
          <a:ln/>
        </p:spPr>
        <p:txBody>
          <a:bodyPr/>
          <a:lstStyle/>
          <a:p>
            <a:endParaRPr lang="fr-FR" sz="1400" noProof="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B4725F8-C742-1603-A178-BA5CF868B955}"/>
              </a:ext>
            </a:extLst>
          </p:cNvPr>
          <p:cNvSpPr/>
          <p:nvPr/>
        </p:nvSpPr>
        <p:spPr>
          <a:xfrm>
            <a:off x="228600" y="4023360"/>
            <a:ext cx="1764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fr-FR" sz="1400" noProof="0" dirty="0">
                <a:solidFill>
                  <a:srgbClr val="C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Informatique</a:t>
            </a:r>
            <a:endParaRPr lang="fr-FR" sz="1400" noProof="0" dirty="0"/>
          </a:p>
          <a:p>
            <a:pPr marL="0" indent="0" algn="l">
              <a:buNone/>
            </a:pPr>
            <a:r>
              <a:rPr lang="fr-FR" sz="1400" noProof="0" dirty="0">
                <a:solidFill>
                  <a:srgbClr val="C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Données</a:t>
            </a:r>
            <a:endParaRPr lang="fr-FR" sz="1400" noProof="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5EF45C1-0AEE-99CE-68C7-CAFC5DC65817}"/>
              </a:ext>
            </a:extLst>
          </p:cNvPr>
          <p:cNvSpPr/>
          <p:nvPr/>
        </p:nvSpPr>
        <p:spPr>
          <a:xfrm>
            <a:off x="2144480" y="2587752"/>
            <a:ext cx="6862357" cy="18288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04838EA-A96C-2ADC-067E-2CE2A8AB0C33}"/>
              </a:ext>
            </a:extLst>
          </p:cNvPr>
          <p:cNvSpPr/>
          <p:nvPr/>
        </p:nvSpPr>
        <p:spPr>
          <a:xfrm>
            <a:off x="2784561" y="1005840"/>
            <a:ext cx="0" cy="1554480"/>
          </a:xfrm>
          <a:prstGeom prst="line">
            <a:avLst/>
          </a:prstGeom>
          <a:noFill/>
          <a:ln w="12700">
            <a:solidFill>
              <a:srgbClr val="6B4FE0"/>
            </a:solidFill>
            <a:prstDash val="sysDash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6D1619A-F60C-0860-6F40-1DBDD8C2F9ED}"/>
              </a:ext>
            </a:extLst>
          </p:cNvPr>
          <p:cNvSpPr/>
          <p:nvPr/>
        </p:nvSpPr>
        <p:spPr>
          <a:xfrm>
            <a:off x="2665689" y="2514600"/>
            <a:ext cx="237744" cy="237744"/>
          </a:xfrm>
          <a:prstGeom prst="ellipse">
            <a:avLst/>
          </a:prstGeom>
          <a:solidFill>
            <a:srgbClr val="6B4FE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6EDCA24-E9A2-98F1-0315-1014D0DCD7B2}"/>
              </a:ext>
            </a:extLst>
          </p:cNvPr>
          <p:cNvSpPr/>
          <p:nvPr/>
        </p:nvSpPr>
        <p:spPr>
          <a:xfrm>
            <a:off x="2354793" y="361188"/>
            <a:ext cx="914400" cy="256032"/>
          </a:xfrm>
          <a:prstGeom prst="rect">
            <a:avLst/>
          </a:prstGeom>
          <a:solidFill>
            <a:srgbClr val="6B4FE0"/>
          </a:solidFill>
          <a:ln/>
        </p:spPr>
        <p:txBody>
          <a:bodyPr/>
          <a:lstStyle/>
          <a:p>
            <a:endParaRPr lang="fr-FR" sz="1000" noProof="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B344C7E-6595-E120-D1E3-FC4D09F5B2E2}"/>
              </a:ext>
            </a:extLst>
          </p:cNvPr>
          <p:cNvSpPr/>
          <p:nvPr/>
        </p:nvSpPr>
        <p:spPr>
          <a:xfrm>
            <a:off x="2354793" y="3611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2007-2010</a:t>
            </a:r>
            <a:endParaRPr lang="fr-FR" sz="1000" noProof="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1B9CFF7-A66D-7EE6-5557-EB6A092FDC0B}"/>
              </a:ext>
            </a:extLst>
          </p:cNvPr>
          <p:cNvSpPr/>
          <p:nvPr/>
        </p:nvSpPr>
        <p:spPr>
          <a:xfrm>
            <a:off x="2144481" y="585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9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Biologie</a:t>
            </a:r>
            <a:endParaRPr lang="fr-FR" sz="1000" noProof="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66C62B2-ED8D-6E5E-52AD-65CA901E05BE}"/>
              </a:ext>
            </a:extLst>
          </p:cNvPr>
          <p:cNvSpPr/>
          <p:nvPr/>
        </p:nvSpPr>
        <p:spPr>
          <a:xfrm>
            <a:off x="2281641" y="1708367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i="1" noProof="0" dirty="0">
                <a:solidFill>
                  <a:srgbClr val="7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Marseille</a:t>
            </a:r>
            <a:endParaRPr lang="fr-FR" sz="1200" b="1" noProof="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B48CA47E-3984-1B4F-C284-426EAAAD4722}"/>
              </a:ext>
            </a:extLst>
          </p:cNvPr>
          <p:cNvSpPr/>
          <p:nvPr/>
        </p:nvSpPr>
        <p:spPr>
          <a:xfrm>
            <a:off x="2144481" y="2874264"/>
            <a:ext cx="1336323" cy="1816608"/>
          </a:xfrm>
          <a:prstGeom prst="rect">
            <a:avLst/>
          </a:prstGeom>
          <a:solidFill>
            <a:srgbClr val="10102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pPr algn="ctr"/>
            <a:endParaRPr lang="fr-FR" noProof="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56DDC8D-D745-F88D-3702-8E7C1B7E27B0}"/>
              </a:ext>
            </a:extLst>
          </p:cNvPr>
          <p:cNvSpPr/>
          <p:nvPr/>
        </p:nvSpPr>
        <p:spPr>
          <a:xfrm>
            <a:off x="2140908" y="2880360"/>
            <a:ext cx="1375173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000" b="1" noProof="0" dirty="0">
                <a:solidFill>
                  <a:srgbClr val="C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les mécanismes moléculaires des maladies</a:t>
            </a:r>
          </a:p>
          <a:p>
            <a:pPr algn="ctr"/>
            <a:endParaRPr lang="fr-FR" sz="1000" b="1" dirty="0">
              <a:solidFill>
                <a:srgbClr val="C8C8E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fr-FR" sz="1000" b="1" dirty="0">
                <a:solidFill>
                  <a:srgbClr val="C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Chercher</a:t>
            </a:r>
            <a:r>
              <a:rPr lang="fr-FR" sz="1000" b="1" noProof="0" dirty="0">
                <a:solidFill>
                  <a:srgbClr val="C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nouvelles pistes </a:t>
            </a:r>
            <a:r>
              <a:rPr lang="fr-FR" sz="1000" b="1" dirty="0">
                <a:solidFill>
                  <a:srgbClr val="C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thérapeutiques</a:t>
            </a: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3B8B8EA7-A679-286B-2926-5F34D9EF21A4}"/>
              </a:ext>
            </a:extLst>
          </p:cNvPr>
          <p:cNvSpPr/>
          <p:nvPr/>
        </p:nvSpPr>
        <p:spPr>
          <a:xfrm>
            <a:off x="3668469" y="1708367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i="1" noProof="0" dirty="0">
                <a:solidFill>
                  <a:srgbClr val="7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Grenoble</a:t>
            </a:r>
            <a:endParaRPr lang="fr-FR" sz="1200" b="1" noProof="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C1CF11B7-FA59-AC76-5057-5E50CFD36D49}"/>
              </a:ext>
            </a:extLst>
          </p:cNvPr>
          <p:cNvSpPr/>
          <p:nvPr/>
        </p:nvSpPr>
        <p:spPr>
          <a:xfrm>
            <a:off x="3531309" y="2874264"/>
            <a:ext cx="1319149" cy="1816608"/>
          </a:xfrm>
          <a:prstGeom prst="rect">
            <a:avLst/>
          </a:prstGeom>
          <a:solidFill>
            <a:srgbClr val="10102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38C06F29-F156-FB75-C9C2-1211109EEBFB}"/>
              </a:ext>
            </a:extLst>
          </p:cNvPr>
          <p:cNvSpPr/>
          <p:nvPr/>
        </p:nvSpPr>
        <p:spPr>
          <a:xfrm>
            <a:off x="4888540" y="2797194"/>
            <a:ext cx="1411660" cy="97535"/>
          </a:xfrm>
          <a:prstGeom prst="rect">
            <a:avLst/>
          </a:prstGeom>
          <a:solidFill>
            <a:srgbClr val="00C9B1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54EF6A2A-1F04-433E-D737-2E7EAB88C22B}"/>
              </a:ext>
            </a:extLst>
          </p:cNvPr>
          <p:cNvSpPr/>
          <p:nvPr/>
        </p:nvSpPr>
        <p:spPr>
          <a:xfrm>
            <a:off x="3482548" y="2880360"/>
            <a:ext cx="1359118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indent="0" algn="ctr">
              <a:buNone/>
            </a:pPr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algn="ctr"/>
            <a:r>
              <a:rPr lang="fr-FR" sz="1000" b="1" dirty="0">
                <a:solidFill>
                  <a:srgbClr val="C8C8E8"/>
                </a:solidFill>
                <a:latin typeface="Calibri" pitchFamily="34" charset="0"/>
                <a:cs typeface="Calibri" pitchFamily="34" charset="-120"/>
              </a:rPr>
              <a:t>Formation aux techniques  expérimentales en laboratoire </a:t>
            </a:r>
          </a:p>
          <a:p>
            <a:pPr algn="ctr"/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algn="ctr"/>
            <a:r>
              <a:rPr lang="fr-FR" sz="1000" b="1" dirty="0">
                <a:solidFill>
                  <a:srgbClr val="C8C8E8"/>
                </a:solidFill>
                <a:latin typeface="Calibri" pitchFamily="34" charset="0"/>
                <a:cs typeface="Calibri" pitchFamily="34" charset="-120"/>
              </a:rPr>
              <a:t>Spécialisation dans les techniques d’études de protéine </a:t>
            </a:r>
          </a:p>
          <a:p>
            <a:pPr indent="0" algn="ctr">
              <a:buNone/>
            </a:pPr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indent="0" algn="ctr">
              <a:buNone/>
            </a:pPr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9230FB9-14F2-05EF-5B4F-1380996CF3A9}"/>
              </a:ext>
            </a:extLst>
          </p:cNvPr>
          <p:cNvSpPr/>
          <p:nvPr/>
        </p:nvSpPr>
        <p:spPr>
          <a:xfrm>
            <a:off x="4987395" y="1708367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i="1" noProof="0" dirty="0">
                <a:solidFill>
                  <a:srgbClr val="7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Marseille</a:t>
            </a:r>
            <a:endParaRPr lang="fr-FR" sz="1200" b="1" noProof="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4FCE3A5B-39D0-451C-B850-EFDB74435319}"/>
              </a:ext>
            </a:extLst>
          </p:cNvPr>
          <p:cNvSpPr/>
          <p:nvPr/>
        </p:nvSpPr>
        <p:spPr>
          <a:xfrm>
            <a:off x="4928600" y="2880360"/>
            <a:ext cx="1325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fr-FR" sz="900" noProof="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36C9856A-4FF4-D054-2B77-DD46661459C1}"/>
              </a:ext>
            </a:extLst>
          </p:cNvPr>
          <p:cNvSpPr/>
          <p:nvPr/>
        </p:nvSpPr>
        <p:spPr>
          <a:xfrm>
            <a:off x="7840142" y="168118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i="1" noProof="0" dirty="0">
                <a:solidFill>
                  <a:srgbClr val="7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 </a:t>
            </a:r>
            <a:endParaRPr lang="fr-FR" sz="1200" b="1" noProof="0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F2D90208-345F-E455-40A9-7DDBD57BBFB1}"/>
              </a:ext>
            </a:extLst>
          </p:cNvPr>
          <p:cNvSpPr/>
          <p:nvPr/>
        </p:nvSpPr>
        <p:spPr>
          <a:xfrm>
            <a:off x="2140908" y="4770555"/>
            <a:ext cx="6907276" cy="320040"/>
          </a:xfrm>
          <a:prstGeom prst="rect">
            <a:avLst/>
          </a:prstGeom>
          <a:solidFill>
            <a:srgbClr val="18183A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BA767FB8-A9F6-6739-7C53-26A12451820D}"/>
              </a:ext>
            </a:extLst>
          </p:cNvPr>
          <p:cNvSpPr/>
          <p:nvPr/>
        </p:nvSpPr>
        <p:spPr>
          <a:xfrm>
            <a:off x="2140908" y="4770555"/>
            <a:ext cx="81916" cy="320040"/>
          </a:xfrm>
          <a:prstGeom prst="rect">
            <a:avLst/>
          </a:prstGeom>
          <a:solidFill>
            <a:srgbClr val="6B4FE0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92E08AC2-C237-7B91-9211-711153C0F326}"/>
              </a:ext>
            </a:extLst>
          </p:cNvPr>
          <p:cNvSpPr/>
          <p:nvPr/>
        </p:nvSpPr>
        <p:spPr>
          <a:xfrm>
            <a:off x="2363585" y="4770555"/>
            <a:ext cx="665204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000" i="1" dirty="0">
                <a:solidFill>
                  <a:srgbClr val="9B7FFF"/>
                </a:solidFill>
                <a:latin typeface="Calibri" pitchFamily="34" charset="0"/>
                <a:cs typeface="Calibri" pitchFamily="34" charset="-120"/>
              </a:rPr>
              <a:t> De la compréhension des mécanismes moléculaires à l’exploitation des données biologiques</a:t>
            </a:r>
            <a:endParaRPr lang="fr-FR" sz="1000" noProof="0" dirty="0"/>
          </a:p>
        </p:txBody>
      </p:sp>
      <p:sp>
        <p:nvSpPr>
          <p:cNvPr id="56" name="Shape 30">
            <a:extLst>
              <a:ext uri="{FF2B5EF4-FFF2-40B4-BE49-F238E27FC236}">
                <a16:creationId xmlns:a16="http://schemas.microsoft.com/office/drawing/2014/main" id="{D17C157F-8E24-0848-E657-46CFC32959FA}"/>
              </a:ext>
            </a:extLst>
          </p:cNvPr>
          <p:cNvSpPr/>
          <p:nvPr/>
        </p:nvSpPr>
        <p:spPr>
          <a:xfrm>
            <a:off x="4882880" y="2880360"/>
            <a:ext cx="1417320" cy="1810512"/>
          </a:xfrm>
          <a:prstGeom prst="rect">
            <a:avLst/>
          </a:prstGeom>
          <a:solidFill>
            <a:srgbClr val="10102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pPr algn="ctr"/>
            <a:endParaRPr lang="fr-FR" noProof="0" dirty="0"/>
          </a:p>
        </p:txBody>
      </p:sp>
      <p:sp>
        <p:nvSpPr>
          <p:cNvPr id="57" name="Shape 30">
            <a:extLst>
              <a:ext uri="{FF2B5EF4-FFF2-40B4-BE49-F238E27FC236}">
                <a16:creationId xmlns:a16="http://schemas.microsoft.com/office/drawing/2014/main" id="{8FBF9613-34A6-9EED-CCF2-CD7B2B9D23E3}"/>
              </a:ext>
            </a:extLst>
          </p:cNvPr>
          <p:cNvSpPr/>
          <p:nvPr/>
        </p:nvSpPr>
        <p:spPr>
          <a:xfrm>
            <a:off x="6356248" y="2882646"/>
            <a:ext cx="1313930" cy="1805940"/>
          </a:xfrm>
          <a:prstGeom prst="rect">
            <a:avLst/>
          </a:prstGeom>
          <a:solidFill>
            <a:srgbClr val="10102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8" name="Shape 17">
            <a:extLst>
              <a:ext uri="{FF2B5EF4-FFF2-40B4-BE49-F238E27FC236}">
                <a16:creationId xmlns:a16="http://schemas.microsoft.com/office/drawing/2014/main" id="{72B9D581-84F6-E983-8996-8B6B58BB3EA1}"/>
              </a:ext>
            </a:extLst>
          </p:cNvPr>
          <p:cNvSpPr/>
          <p:nvPr/>
        </p:nvSpPr>
        <p:spPr>
          <a:xfrm>
            <a:off x="3708101" y="366849"/>
            <a:ext cx="914400" cy="256032"/>
          </a:xfrm>
          <a:prstGeom prst="rect">
            <a:avLst/>
          </a:prstGeom>
          <a:solidFill>
            <a:srgbClr val="6B4FE0"/>
          </a:solidFill>
          <a:ln/>
        </p:spPr>
        <p:txBody>
          <a:bodyPr/>
          <a:lstStyle/>
          <a:p>
            <a:endParaRPr lang="fr-FR" sz="1000" noProof="0" dirty="0"/>
          </a:p>
        </p:txBody>
      </p:sp>
      <p:sp>
        <p:nvSpPr>
          <p:cNvPr id="59" name="Text 18">
            <a:extLst>
              <a:ext uri="{FF2B5EF4-FFF2-40B4-BE49-F238E27FC236}">
                <a16:creationId xmlns:a16="http://schemas.microsoft.com/office/drawing/2014/main" id="{91D42FDC-BC90-BC12-ABF3-13FE1445B995}"/>
              </a:ext>
            </a:extLst>
          </p:cNvPr>
          <p:cNvSpPr/>
          <p:nvPr/>
        </p:nvSpPr>
        <p:spPr>
          <a:xfrm>
            <a:off x="3708101" y="36684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2010-2012</a:t>
            </a:r>
            <a:endParaRPr lang="fr-FR" sz="1000" noProof="0" dirty="0"/>
          </a:p>
        </p:txBody>
      </p:sp>
      <p:sp>
        <p:nvSpPr>
          <p:cNvPr id="60" name="Text 19">
            <a:extLst>
              <a:ext uri="{FF2B5EF4-FFF2-40B4-BE49-F238E27FC236}">
                <a16:creationId xmlns:a16="http://schemas.microsoft.com/office/drawing/2014/main" id="{6632158D-2A25-140A-2835-D8F403B93A7E}"/>
              </a:ext>
            </a:extLst>
          </p:cNvPr>
          <p:cNvSpPr/>
          <p:nvPr/>
        </p:nvSpPr>
        <p:spPr>
          <a:xfrm>
            <a:off x="3410264" y="598279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b="1" dirty="0">
                <a:solidFill>
                  <a:srgbClr val="9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r>
              <a:rPr lang="fr-FR" sz="1000" b="1" noProof="0" dirty="0">
                <a:solidFill>
                  <a:srgbClr val="9B7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aster Pro</a:t>
            </a:r>
            <a:endParaRPr lang="fr-FR" sz="1000" noProof="0" dirty="0"/>
          </a:p>
        </p:txBody>
      </p:sp>
      <p:sp>
        <p:nvSpPr>
          <p:cNvPr id="61" name="Shape 15">
            <a:extLst>
              <a:ext uri="{FF2B5EF4-FFF2-40B4-BE49-F238E27FC236}">
                <a16:creationId xmlns:a16="http://schemas.microsoft.com/office/drawing/2014/main" id="{223A9839-F88E-BF21-0E96-61D2B737BFC1}"/>
              </a:ext>
            </a:extLst>
          </p:cNvPr>
          <p:cNvSpPr/>
          <p:nvPr/>
        </p:nvSpPr>
        <p:spPr>
          <a:xfrm>
            <a:off x="4189464" y="960120"/>
            <a:ext cx="0" cy="1554480"/>
          </a:xfrm>
          <a:prstGeom prst="line">
            <a:avLst/>
          </a:prstGeom>
          <a:noFill/>
          <a:ln w="12700">
            <a:solidFill>
              <a:srgbClr val="6B4FE0"/>
            </a:solidFill>
            <a:prstDash val="sysDash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2" name="Shape 16">
            <a:extLst>
              <a:ext uri="{FF2B5EF4-FFF2-40B4-BE49-F238E27FC236}">
                <a16:creationId xmlns:a16="http://schemas.microsoft.com/office/drawing/2014/main" id="{47C32CE8-F204-35D8-0A16-5A13EC37D805}"/>
              </a:ext>
            </a:extLst>
          </p:cNvPr>
          <p:cNvSpPr/>
          <p:nvPr/>
        </p:nvSpPr>
        <p:spPr>
          <a:xfrm>
            <a:off x="4061663" y="2487168"/>
            <a:ext cx="237744" cy="237744"/>
          </a:xfrm>
          <a:prstGeom prst="ellipse">
            <a:avLst/>
          </a:prstGeom>
          <a:solidFill>
            <a:srgbClr val="6B4FE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3" name="Shape 22">
            <a:extLst>
              <a:ext uri="{FF2B5EF4-FFF2-40B4-BE49-F238E27FC236}">
                <a16:creationId xmlns:a16="http://schemas.microsoft.com/office/drawing/2014/main" id="{4D077A33-DCB2-C3E5-FBA2-C076E8B82C83}"/>
              </a:ext>
            </a:extLst>
          </p:cNvPr>
          <p:cNvSpPr/>
          <p:nvPr/>
        </p:nvSpPr>
        <p:spPr>
          <a:xfrm>
            <a:off x="3524578" y="2801984"/>
            <a:ext cx="1325880" cy="92745"/>
          </a:xfrm>
          <a:prstGeom prst="rect">
            <a:avLst/>
          </a:prstGeom>
          <a:solidFill>
            <a:srgbClr val="6B4FE0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64" name="Shape 24">
            <a:extLst>
              <a:ext uri="{FF2B5EF4-FFF2-40B4-BE49-F238E27FC236}">
                <a16:creationId xmlns:a16="http://schemas.microsoft.com/office/drawing/2014/main" id="{34F6B0C2-79BE-DFBA-9383-CB9FED38F84E}"/>
              </a:ext>
            </a:extLst>
          </p:cNvPr>
          <p:cNvSpPr/>
          <p:nvPr/>
        </p:nvSpPr>
        <p:spPr>
          <a:xfrm>
            <a:off x="5516203" y="984069"/>
            <a:ext cx="0" cy="1554480"/>
          </a:xfrm>
          <a:prstGeom prst="line">
            <a:avLst/>
          </a:prstGeom>
          <a:noFill/>
          <a:ln w="12700">
            <a:solidFill>
              <a:srgbClr val="00C9B1"/>
            </a:solidFill>
            <a:prstDash val="sysDash"/>
          </a:ln>
        </p:spPr>
        <p:txBody>
          <a:bodyPr/>
          <a:lstStyle/>
          <a:p>
            <a:endParaRPr lang="fr-FR" dirty="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E4D8669C-F34B-485E-8913-75C344FE3C49}"/>
              </a:ext>
            </a:extLst>
          </p:cNvPr>
          <p:cNvSpPr/>
          <p:nvPr/>
        </p:nvSpPr>
        <p:spPr>
          <a:xfrm>
            <a:off x="5423563" y="2468880"/>
            <a:ext cx="237744" cy="237744"/>
          </a:xfrm>
          <a:prstGeom prst="ellipse">
            <a:avLst/>
          </a:prstGeom>
          <a:solidFill>
            <a:srgbClr val="00C9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66" name="Shape 26">
            <a:extLst>
              <a:ext uri="{FF2B5EF4-FFF2-40B4-BE49-F238E27FC236}">
                <a16:creationId xmlns:a16="http://schemas.microsoft.com/office/drawing/2014/main" id="{EB60AFAE-30CE-C43E-E3C1-54FDC0D82039}"/>
              </a:ext>
            </a:extLst>
          </p:cNvPr>
          <p:cNvSpPr/>
          <p:nvPr/>
        </p:nvSpPr>
        <p:spPr>
          <a:xfrm>
            <a:off x="5049444" y="352044"/>
            <a:ext cx="914400" cy="256032"/>
          </a:xfrm>
          <a:prstGeom prst="rect">
            <a:avLst/>
          </a:prstGeom>
          <a:solidFill>
            <a:srgbClr val="00C9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7" name="Text 27">
            <a:extLst>
              <a:ext uri="{FF2B5EF4-FFF2-40B4-BE49-F238E27FC236}">
                <a16:creationId xmlns:a16="http://schemas.microsoft.com/office/drawing/2014/main" id="{A41C07A4-0EDE-DC7E-CCF4-B2B432C967DE}"/>
              </a:ext>
            </a:extLst>
          </p:cNvPr>
          <p:cNvSpPr/>
          <p:nvPr/>
        </p:nvSpPr>
        <p:spPr>
          <a:xfrm>
            <a:off x="5030505" y="3611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2012-2017</a:t>
            </a:r>
            <a:endParaRPr lang="fr-FR" sz="1000" dirty="0"/>
          </a:p>
        </p:txBody>
      </p:sp>
      <p:sp>
        <p:nvSpPr>
          <p:cNvPr id="68" name="Text 28">
            <a:extLst>
              <a:ext uri="{FF2B5EF4-FFF2-40B4-BE49-F238E27FC236}">
                <a16:creationId xmlns:a16="http://schemas.microsoft.com/office/drawing/2014/main" id="{FDFDAE59-E141-E6EB-3B48-A7EA31F6C2D9}"/>
              </a:ext>
            </a:extLst>
          </p:cNvPr>
          <p:cNvSpPr/>
          <p:nvPr/>
        </p:nvSpPr>
        <p:spPr>
          <a:xfrm>
            <a:off x="4815166" y="89854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00C9B1"/>
                </a:solidFill>
                <a:latin typeface="Arial" pitchFamily="34" charset="0"/>
                <a:cs typeface="Arial" pitchFamily="34" charset="-120"/>
              </a:rPr>
              <a:t>Expérience professionnelle : </a:t>
            </a:r>
          </a:p>
          <a:p>
            <a:pPr marL="0" indent="0" algn="ctr">
              <a:buNone/>
            </a:pPr>
            <a:endParaRPr lang="fr-FR" sz="1000" b="1" dirty="0">
              <a:solidFill>
                <a:srgbClr val="00C9B1"/>
              </a:solidFill>
              <a:latin typeface="Arial" pitchFamily="34" charset="0"/>
              <a:cs typeface="Arial" pitchFamily="34" charset="-120"/>
            </a:endParaRPr>
          </a:p>
          <a:p>
            <a:pPr marL="0" indent="0" algn="ctr">
              <a:buNone/>
            </a:pPr>
            <a:endParaRPr lang="fr-FR" sz="1000" b="1" dirty="0">
              <a:solidFill>
                <a:srgbClr val="00C9B1"/>
              </a:solidFill>
              <a:latin typeface="Arial" pitchFamily="34" charset="0"/>
              <a:cs typeface="Arial" pitchFamily="34" charset="-120"/>
            </a:endParaRPr>
          </a:p>
          <a:p>
            <a:pPr marL="0" indent="0" algn="ctr">
              <a:buNone/>
            </a:pPr>
            <a:r>
              <a:rPr lang="fr-FR" sz="1000" b="1" dirty="0">
                <a:solidFill>
                  <a:srgbClr val="00C9B1"/>
                </a:solidFill>
                <a:latin typeface="Arial" pitchFamily="34" charset="0"/>
                <a:cs typeface="Arial" pitchFamily="34" charset="-120"/>
              </a:rPr>
              <a:t>C</a:t>
            </a:r>
            <a:r>
              <a:rPr lang="fr-FR" sz="1000" b="1" noProof="0" dirty="0" err="1">
                <a:solidFill>
                  <a:srgbClr val="00C9B1"/>
                </a:solidFill>
                <a:latin typeface="Arial" pitchFamily="34" charset="0"/>
                <a:cs typeface="Arial" pitchFamily="34" charset="-120"/>
              </a:rPr>
              <a:t>oncrétisation</a:t>
            </a:r>
            <a:r>
              <a:rPr lang="fr-FR" sz="1000" b="1" noProof="0" dirty="0">
                <a:solidFill>
                  <a:srgbClr val="00C9B1"/>
                </a:solidFill>
                <a:latin typeface="Arial" pitchFamily="34" charset="0"/>
                <a:cs typeface="Arial" pitchFamily="34" charset="-120"/>
              </a:rPr>
              <a:t> du parcours</a:t>
            </a:r>
            <a:endParaRPr lang="fr-FR" sz="1000" noProof="0" dirty="0"/>
          </a:p>
        </p:txBody>
      </p:sp>
      <p:sp>
        <p:nvSpPr>
          <p:cNvPr id="70" name="Shape 40">
            <a:extLst>
              <a:ext uri="{FF2B5EF4-FFF2-40B4-BE49-F238E27FC236}">
                <a16:creationId xmlns:a16="http://schemas.microsoft.com/office/drawing/2014/main" id="{FF8346DB-CE2B-4B09-16E2-4A9BD8813910}"/>
              </a:ext>
            </a:extLst>
          </p:cNvPr>
          <p:cNvSpPr/>
          <p:nvPr/>
        </p:nvSpPr>
        <p:spPr>
          <a:xfrm>
            <a:off x="7735344" y="2778199"/>
            <a:ext cx="1312840" cy="97534"/>
          </a:xfrm>
          <a:prstGeom prst="rect">
            <a:avLst/>
          </a:prstGeom>
          <a:solidFill>
            <a:srgbClr val="E0904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1" name="Shape 22">
            <a:extLst>
              <a:ext uri="{FF2B5EF4-FFF2-40B4-BE49-F238E27FC236}">
                <a16:creationId xmlns:a16="http://schemas.microsoft.com/office/drawing/2014/main" id="{9FDF15B8-E94C-87B3-54B4-32695D923446}"/>
              </a:ext>
            </a:extLst>
          </p:cNvPr>
          <p:cNvSpPr/>
          <p:nvPr/>
        </p:nvSpPr>
        <p:spPr>
          <a:xfrm>
            <a:off x="2145383" y="2797194"/>
            <a:ext cx="1325880" cy="92745"/>
          </a:xfrm>
          <a:prstGeom prst="rect">
            <a:avLst/>
          </a:prstGeom>
          <a:solidFill>
            <a:srgbClr val="6B4FE0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73" name="Text 32">
            <a:extLst>
              <a:ext uri="{FF2B5EF4-FFF2-40B4-BE49-F238E27FC236}">
                <a16:creationId xmlns:a16="http://schemas.microsoft.com/office/drawing/2014/main" id="{F4BA8BE2-A766-9B24-5C72-EC1687353AA5}"/>
              </a:ext>
            </a:extLst>
          </p:cNvPr>
          <p:cNvSpPr/>
          <p:nvPr/>
        </p:nvSpPr>
        <p:spPr>
          <a:xfrm>
            <a:off x="4845239" y="2887545"/>
            <a:ext cx="1494597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algn="ctr"/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algn="ctr"/>
            <a:r>
              <a:rPr lang="fr-FR" sz="1000" b="1" dirty="0">
                <a:solidFill>
                  <a:srgbClr val="C8C8E8"/>
                </a:solidFill>
                <a:latin typeface="Calibri" pitchFamily="34" charset="0"/>
                <a:cs typeface="Calibri" pitchFamily="34" charset="-120"/>
              </a:rPr>
              <a:t>Recherche appliquée sur les maladies neurodégénératives</a:t>
            </a:r>
          </a:p>
          <a:p>
            <a:pPr algn="ctr"/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algn="ctr"/>
            <a:r>
              <a:rPr lang="fr-FR" sz="1000" b="1" dirty="0">
                <a:solidFill>
                  <a:srgbClr val="C8C8E8"/>
                </a:solidFill>
                <a:latin typeface="Calibri" pitchFamily="34" charset="0"/>
                <a:cs typeface="Calibri" pitchFamily="34" charset="-120"/>
              </a:rPr>
              <a:t>Mise en pratique des approches expérimentales en laboratoire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indent="0" algn="ctr">
              <a:buNone/>
            </a:pPr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78" name="Text 37">
            <a:extLst>
              <a:ext uri="{FF2B5EF4-FFF2-40B4-BE49-F238E27FC236}">
                <a16:creationId xmlns:a16="http://schemas.microsoft.com/office/drawing/2014/main" id="{58FF9108-1932-49A6-FEF0-77205D26A2DF}"/>
              </a:ext>
            </a:extLst>
          </p:cNvPr>
          <p:cNvSpPr/>
          <p:nvPr/>
        </p:nvSpPr>
        <p:spPr>
          <a:xfrm>
            <a:off x="7649986" y="576072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b="1" dirty="0">
                <a:solidFill>
                  <a:srgbClr val="E09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Informatique</a:t>
            </a:r>
            <a:endParaRPr lang="fr-FR" sz="1000" dirty="0"/>
          </a:p>
        </p:txBody>
      </p:sp>
      <p:sp>
        <p:nvSpPr>
          <p:cNvPr id="81" name="Shape 31">
            <a:extLst>
              <a:ext uri="{FF2B5EF4-FFF2-40B4-BE49-F238E27FC236}">
                <a16:creationId xmlns:a16="http://schemas.microsoft.com/office/drawing/2014/main" id="{6E8EAF7E-DCE5-5FBC-AACD-0A0C1B0905D9}"/>
              </a:ext>
            </a:extLst>
          </p:cNvPr>
          <p:cNvSpPr/>
          <p:nvPr/>
        </p:nvSpPr>
        <p:spPr>
          <a:xfrm>
            <a:off x="6354694" y="2784132"/>
            <a:ext cx="1325880" cy="98514"/>
          </a:xfrm>
          <a:prstGeom prst="rect">
            <a:avLst/>
          </a:prstGeom>
          <a:solidFill>
            <a:srgbClr val="00C9B1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83" name="Shape 24">
            <a:extLst>
              <a:ext uri="{FF2B5EF4-FFF2-40B4-BE49-F238E27FC236}">
                <a16:creationId xmlns:a16="http://schemas.microsoft.com/office/drawing/2014/main" id="{FDC07B57-1989-E322-F9B8-57E553FA8047}"/>
              </a:ext>
            </a:extLst>
          </p:cNvPr>
          <p:cNvSpPr/>
          <p:nvPr/>
        </p:nvSpPr>
        <p:spPr>
          <a:xfrm>
            <a:off x="6974737" y="971007"/>
            <a:ext cx="0" cy="1554480"/>
          </a:xfrm>
          <a:prstGeom prst="line">
            <a:avLst/>
          </a:prstGeom>
          <a:noFill/>
          <a:ln w="12700">
            <a:solidFill>
              <a:srgbClr val="00C9B1"/>
            </a:solidFill>
            <a:prstDash val="sysDash"/>
          </a:ln>
        </p:spPr>
        <p:txBody>
          <a:bodyPr/>
          <a:lstStyle/>
          <a:p>
            <a:endParaRPr lang="fr-FR" dirty="0"/>
          </a:p>
        </p:txBody>
      </p:sp>
      <p:sp>
        <p:nvSpPr>
          <p:cNvPr id="84" name="Shape 25">
            <a:extLst>
              <a:ext uri="{FF2B5EF4-FFF2-40B4-BE49-F238E27FC236}">
                <a16:creationId xmlns:a16="http://schemas.microsoft.com/office/drawing/2014/main" id="{2111A843-049A-1282-9462-2EBC5EB1EE7B}"/>
              </a:ext>
            </a:extLst>
          </p:cNvPr>
          <p:cNvSpPr/>
          <p:nvPr/>
        </p:nvSpPr>
        <p:spPr>
          <a:xfrm>
            <a:off x="6882097" y="2455818"/>
            <a:ext cx="237744" cy="237744"/>
          </a:xfrm>
          <a:prstGeom prst="ellipse">
            <a:avLst/>
          </a:prstGeom>
          <a:solidFill>
            <a:srgbClr val="00C9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85" name="Shape 26">
            <a:extLst>
              <a:ext uri="{FF2B5EF4-FFF2-40B4-BE49-F238E27FC236}">
                <a16:creationId xmlns:a16="http://schemas.microsoft.com/office/drawing/2014/main" id="{6AD1A3AF-FDC8-1AD2-D948-6FC0E84E8C03}"/>
              </a:ext>
            </a:extLst>
          </p:cNvPr>
          <p:cNvSpPr/>
          <p:nvPr/>
        </p:nvSpPr>
        <p:spPr>
          <a:xfrm>
            <a:off x="6507978" y="338982"/>
            <a:ext cx="914400" cy="256032"/>
          </a:xfrm>
          <a:prstGeom prst="rect">
            <a:avLst/>
          </a:prstGeom>
          <a:solidFill>
            <a:srgbClr val="00C9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86" name="Text 27">
            <a:extLst>
              <a:ext uri="{FF2B5EF4-FFF2-40B4-BE49-F238E27FC236}">
                <a16:creationId xmlns:a16="http://schemas.microsoft.com/office/drawing/2014/main" id="{E36764A8-1A71-E080-E45D-0E3D7D297291}"/>
              </a:ext>
            </a:extLst>
          </p:cNvPr>
          <p:cNvSpPr/>
          <p:nvPr/>
        </p:nvSpPr>
        <p:spPr>
          <a:xfrm>
            <a:off x="6489039" y="34812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2021-2023</a:t>
            </a:r>
            <a:endParaRPr lang="fr-FR" sz="1000" dirty="0"/>
          </a:p>
        </p:txBody>
      </p:sp>
      <p:sp>
        <p:nvSpPr>
          <p:cNvPr id="87" name="Text 28">
            <a:extLst>
              <a:ext uri="{FF2B5EF4-FFF2-40B4-BE49-F238E27FC236}">
                <a16:creationId xmlns:a16="http://schemas.microsoft.com/office/drawing/2014/main" id="{B9BE92C3-46F4-52DC-E4B4-76CAD879CCA3}"/>
              </a:ext>
            </a:extLst>
          </p:cNvPr>
          <p:cNvSpPr/>
          <p:nvPr/>
        </p:nvSpPr>
        <p:spPr>
          <a:xfrm>
            <a:off x="6304015" y="59262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b="1" dirty="0">
                <a:solidFill>
                  <a:srgbClr val="00C9B1"/>
                </a:solidFill>
                <a:latin typeface="Arial" pitchFamily="34" charset="0"/>
                <a:cs typeface="Arial" pitchFamily="34" charset="-120"/>
              </a:rPr>
              <a:t>Master Recherche</a:t>
            </a:r>
            <a:endParaRPr lang="fr-FR" sz="1000" b="1" noProof="0" dirty="0">
              <a:solidFill>
                <a:srgbClr val="00C9B1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88" name="Shape 30">
            <a:extLst>
              <a:ext uri="{FF2B5EF4-FFF2-40B4-BE49-F238E27FC236}">
                <a16:creationId xmlns:a16="http://schemas.microsoft.com/office/drawing/2014/main" id="{03F3AA68-0897-A2EA-50CD-4EB6D9DD1123}"/>
              </a:ext>
            </a:extLst>
          </p:cNvPr>
          <p:cNvSpPr/>
          <p:nvPr/>
        </p:nvSpPr>
        <p:spPr>
          <a:xfrm>
            <a:off x="7734254" y="2874264"/>
            <a:ext cx="1313930" cy="1805940"/>
          </a:xfrm>
          <a:prstGeom prst="rect">
            <a:avLst/>
          </a:prstGeom>
          <a:solidFill>
            <a:srgbClr val="10102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89" name="Signe de multiplication 88">
            <a:extLst>
              <a:ext uri="{FF2B5EF4-FFF2-40B4-BE49-F238E27FC236}">
                <a16:creationId xmlns:a16="http://schemas.microsoft.com/office/drawing/2014/main" id="{BC5E35B1-C679-48D8-BB79-0DF3C303E3E6}"/>
              </a:ext>
            </a:extLst>
          </p:cNvPr>
          <p:cNvSpPr/>
          <p:nvPr/>
        </p:nvSpPr>
        <p:spPr>
          <a:xfrm>
            <a:off x="6131268" y="2420819"/>
            <a:ext cx="347589" cy="322381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0" name="Shape 33">
            <a:extLst>
              <a:ext uri="{FF2B5EF4-FFF2-40B4-BE49-F238E27FC236}">
                <a16:creationId xmlns:a16="http://schemas.microsoft.com/office/drawing/2014/main" id="{B7D52606-7DBC-DC84-B3BD-09DD4E7F1953}"/>
              </a:ext>
            </a:extLst>
          </p:cNvPr>
          <p:cNvSpPr/>
          <p:nvPr/>
        </p:nvSpPr>
        <p:spPr>
          <a:xfrm>
            <a:off x="8388782" y="959768"/>
            <a:ext cx="0" cy="1554480"/>
          </a:xfrm>
          <a:prstGeom prst="line">
            <a:avLst/>
          </a:prstGeom>
          <a:noFill/>
          <a:ln w="12700">
            <a:solidFill>
              <a:srgbClr val="E09040"/>
            </a:solidFill>
            <a:prstDash val="sysDash"/>
          </a:ln>
        </p:spPr>
        <p:txBody>
          <a:bodyPr/>
          <a:lstStyle/>
          <a:p>
            <a:endParaRPr lang="fr-FR" dirty="0"/>
          </a:p>
        </p:txBody>
      </p:sp>
      <p:sp>
        <p:nvSpPr>
          <p:cNvPr id="91" name="Shape 34">
            <a:extLst>
              <a:ext uri="{FF2B5EF4-FFF2-40B4-BE49-F238E27FC236}">
                <a16:creationId xmlns:a16="http://schemas.microsoft.com/office/drawing/2014/main" id="{B8CD46AA-518E-384F-C722-BFE9A47FD40B}"/>
              </a:ext>
            </a:extLst>
          </p:cNvPr>
          <p:cNvSpPr/>
          <p:nvPr/>
        </p:nvSpPr>
        <p:spPr>
          <a:xfrm>
            <a:off x="8273911" y="2462784"/>
            <a:ext cx="237744" cy="237744"/>
          </a:xfrm>
          <a:prstGeom prst="ellipse">
            <a:avLst/>
          </a:prstGeom>
          <a:solidFill>
            <a:srgbClr val="E0904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2" name="Shape 35">
            <a:extLst>
              <a:ext uri="{FF2B5EF4-FFF2-40B4-BE49-F238E27FC236}">
                <a16:creationId xmlns:a16="http://schemas.microsoft.com/office/drawing/2014/main" id="{03F48978-25DA-130F-986B-097F8D5E197A}"/>
              </a:ext>
            </a:extLst>
          </p:cNvPr>
          <p:cNvSpPr/>
          <p:nvPr/>
        </p:nvSpPr>
        <p:spPr>
          <a:xfrm>
            <a:off x="7920373" y="332613"/>
            <a:ext cx="914400" cy="256032"/>
          </a:xfrm>
          <a:prstGeom prst="rect">
            <a:avLst/>
          </a:prstGeom>
          <a:solidFill>
            <a:srgbClr val="E09040"/>
          </a:solidFill>
          <a:ln/>
        </p:spPr>
        <p:txBody>
          <a:bodyPr/>
          <a:lstStyle/>
          <a:p>
            <a:endParaRPr lang="fr-FR" sz="1000" dirty="0"/>
          </a:p>
        </p:txBody>
      </p:sp>
      <p:sp>
        <p:nvSpPr>
          <p:cNvPr id="93" name="Text 36">
            <a:extLst>
              <a:ext uri="{FF2B5EF4-FFF2-40B4-BE49-F238E27FC236}">
                <a16:creationId xmlns:a16="http://schemas.microsoft.com/office/drawing/2014/main" id="{D28EEC70-3E94-8B63-1600-DD7B18B7FEEC}"/>
              </a:ext>
            </a:extLst>
          </p:cNvPr>
          <p:cNvSpPr/>
          <p:nvPr/>
        </p:nvSpPr>
        <p:spPr>
          <a:xfrm>
            <a:off x="7920373" y="33261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2023-2026</a:t>
            </a:r>
            <a:endParaRPr lang="fr-FR" sz="1000" dirty="0"/>
          </a:p>
        </p:txBody>
      </p:sp>
      <p:sp>
        <p:nvSpPr>
          <p:cNvPr id="96" name="Text 47">
            <a:extLst>
              <a:ext uri="{FF2B5EF4-FFF2-40B4-BE49-F238E27FC236}">
                <a16:creationId xmlns:a16="http://schemas.microsoft.com/office/drawing/2014/main" id="{112DA318-0E9A-85DB-83CB-FF7BA8019D16}"/>
              </a:ext>
            </a:extLst>
          </p:cNvPr>
          <p:cNvSpPr/>
          <p:nvPr/>
        </p:nvSpPr>
        <p:spPr>
          <a:xfrm>
            <a:off x="6461374" y="1692257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i="1" noProof="0" dirty="0">
                <a:solidFill>
                  <a:srgbClr val="7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 </a:t>
            </a:r>
            <a:endParaRPr lang="fr-FR" sz="1200" b="1" noProof="0" dirty="0"/>
          </a:p>
        </p:txBody>
      </p:sp>
      <p:sp>
        <p:nvSpPr>
          <p:cNvPr id="99" name="Text 32">
            <a:extLst>
              <a:ext uri="{FF2B5EF4-FFF2-40B4-BE49-F238E27FC236}">
                <a16:creationId xmlns:a16="http://schemas.microsoft.com/office/drawing/2014/main" id="{24D4C74E-CBF4-250A-F1D6-1694F8258B37}"/>
              </a:ext>
            </a:extLst>
          </p:cNvPr>
          <p:cNvSpPr/>
          <p:nvPr/>
        </p:nvSpPr>
        <p:spPr>
          <a:xfrm>
            <a:off x="6310528" y="2891028"/>
            <a:ext cx="1351904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algn="ctr"/>
            <a:r>
              <a:rPr lang="fr-FR" sz="1000" b="1" dirty="0">
                <a:solidFill>
                  <a:srgbClr val="C8C8E8"/>
                </a:solidFill>
                <a:latin typeface="Calibri" pitchFamily="34" charset="0"/>
                <a:cs typeface="Calibri" pitchFamily="34" charset="-120"/>
              </a:rPr>
              <a:t>Intérêt pour les protéines et les relations structure/fonction</a:t>
            </a:r>
          </a:p>
          <a:p>
            <a:pPr algn="ctr"/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algn="ctr"/>
            <a:r>
              <a:rPr lang="fr-FR" sz="1000" b="1" dirty="0">
                <a:solidFill>
                  <a:srgbClr val="C8C8E8"/>
                </a:solidFill>
                <a:latin typeface="Calibri" pitchFamily="34" charset="0"/>
                <a:cs typeface="Calibri" pitchFamily="34" charset="-120"/>
              </a:rPr>
              <a:t>Comprendre comment la structure influence les mécanismes biologiques</a:t>
            </a:r>
          </a:p>
          <a:p>
            <a:pPr indent="0" algn="ctr">
              <a:buNone/>
            </a:pPr>
            <a:endParaRPr lang="fr-FR" sz="10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65DB58F3-DF11-9DC0-D667-B01E89386F23}"/>
              </a:ext>
            </a:extLst>
          </p:cNvPr>
          <p:cNvSpPr txBox="1"/>
          <p:nvPr/>
        </p:nvSpPr>
        <p:spPr>
          <a:xfrm rot="16200000">
            <a:off x="6847988" y="1485667"/>
            <a:ext cx="1805939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700" b="1" dirty="0">
                <a:solidFill>
                  <a:srgbClr val="FF0000"/>
                </a:solidFill>
              </a:rPr>
              <a:t>Limites en programmation, scripts et environnements computationnels</a:t>
            </a:r>
            <a:endParaRPr lang="fr-FR" sz="700" dirty="0">
              <a:solidFill>
                <a:srgbClr val="FF0000"/>
              </a:solidFill>
            </a:endParaRPr>
          </a:p>
          <a:p>
            <a:endParaRPr lang="fr-FR" sz="700" dirty="0">
              <a:solidFill>
                <a:srgbClr val="FF0000"/>
              </a:solidFill>
            </a:endParaRPr>
          </a:p>
        </p:txBody>
      </p:sp>
      <p:sp>
        <p:nvSpPr>
          <p:cNvPr id="106" name="Text 32">
            <a:extLst>
              <a:ext uri="{FF2B5EF4-FFF2-40B4-BE49-F238E27FC236}">
                <a16:creationId xmlns:a16="http://schemas.microsoft.com/office/drawing/2014/main" id="{4D2D8923-6A7A-7E2C-ED3D-F214481EFED0}"/>
              </a:ext>
            </a:extLst>
          </p:cNvPr>
          <p:cNvSpPr/>
          <p:nvPr/>
        </p:nvSpPr>
        <p:spPr>
          <a:xfrm>
            <a:off x="7700532" y="2907792"/>
            <a:ext cx="13337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endParaRPr lang="fr-FR" sz="9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indent="0" algn="ctr">
              <a:buNone/>
            </a:pPr>
            <a:endParaRPr lang="fr-FR" sz="9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algn="ctr"/>
            <a:r>
              <a:rPr lang="fr-FR" sz="900" b="1" dirty="0">
                <a:solidFill>
                  <a:srgbClr val="C8C8E8"/>
                </a:solidFill>
                <a:latin typeface="Calibri" pitchFamily="34" charset="0"/>
                <a:cs typeface="Calibri" pitchFamily="34" charset="-120"/>
              </a:rPr>
              <a:t>Développement applicatif, interfaces visuelles, bases de données et environnements système</a:t>
            </a:r>
          </a:p>
          <a:p>
            <a:pPr algn="ctr"/>
            <a:endParaRPr lang="fr-FR" sz="900" b="1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algn="ctr"/>
            <a:r>
              <a:rPr lang="fr-FR" sz="900" b="1" dirty="0">
                <a:solidFill>
                  <a:srgbClr val="C8C8E8"/>
                </a:solidFill>
                <a:latin typeface="Calibri" pitchFamily="34" charset="0"/>
                <a:cs typeface="Calibri" pitchFamily="34" charset="-120"/>
              </a:rPr>
              <a:t>Franchir </a:t>
            </a:r>
            <a:r>
              <a:rPr lang="fr-FR" sz="900" b="1" dirty="0">
                <a:solidFill>
                  <a:srgbClr val="C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limites pour aller vers les données et l'IA.</a:t>
            </a:r>
            <a:endParaRPr lang="fr-FR" sz="9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900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  <a:p>
            <a:pPr indent="0" algn="ctr">
              <a:buNone/>
            </a:pPr>
            <a:endParaRPr lang="fr-FR" sz="900" dirty="0">
              <a:solidFill>
                <a:srgbClr val="C8C8E8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5131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>
            <a:extLst>
              <a:ext uri="{FF2B5EF4-FFF2-40B4-BE49-F238E27FC236}">
                <a16:creationId xmlns:a16="http://schemas.microsoft.com/office/drawing/2014/main" id="{5030D40F-B8EB-114B-8D7A-56D20FE29F1C}"/>
              </a:ext>
            </a:extLst>
          </p:cNvPr>
          <p:cNvSpPr/>
          <p:nvPr/>
        </p:nvSpPr>
        <p:spPr>
          <a:xfrm>
            <a:off x="253092" y="726948"/>
            <a:ext cx="4251960" cy="19202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6F462248-20BF-3A40-09AF-18AE97664902}"/>
              </a:ext>
            </a:extLst>
          </p:cNvPr>
          <p:cNvSpPr/>
          <p:nvPr/>
        </p:nvSpPr>
        <p:spPr>
          <a:xfrm>
            <a:off x="253092" y="726948"/>
            <a:ext cx="4251960" cy="54864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44358627-A298-E735-2F09-E1FFAB580B23}"/>
              </a:ext>
            </a:extLst>
          </p:cNvPr>
          <p:cNvSpPr/>
          <p:nvPr/>
        </p:nvSpPr>
        <p:spPr>
          <a:xfrm>
            <a:off x="3544932" y="818388"/>
            <a:ext cx="868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A6A7A"/>
                </a:solidFill>
              </a:rPr>
              <a:t>photo</a:t>
            </a:r>
            <a:endParaRPr lang="en-US" sz="800" dirty="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1E763355-983D-F4D8-9FA2-B71D32F4E302}"/>
              </a:ext>
            </a:extLst>
          </p:cNvPr>
          <p:cNvSpPr/>
          <p:nvPr/>
        </p:nvSpPr>
        <p:spPr>
          <a:xfrm>
            <a:off x="417684" y="81838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A6"/>
                </a:solidFill>
              </a:rPr>
              <a:t>Michel KHRESTCHATISKY</a:t>
            </a:r>
            <a:endParaRPr lang="en-US" sz="12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95E7380F-BAE8-D3DD-5C81-1C66C767CF68}"/>
              </a:ext>
            </a:extLst>
          </p:cNvPr>
          <p:cNvSpPr/>
          <p:nvPr/>
        </p:nvSpPr>
        <p:spPr>
          <a:xfrm>
            <a:off x="417684" y="109270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5A6A7A"/>
                </a:solidFill>
              </a:rPr>
              <a:t>Directeur — VECT-HORUS, Hôpital Nord Marseille</a:t>
            </a:r>
            <a:endParaRPr lang="en-US" sz="850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E014257-85D2-A923-0F03-3A7F23346746}"/>
              </a:ext>
            </a:extLst>
          </p:cNvPr>
          <p:cNvSpPr/>
          <p:nvPr/>
        </p:nvSpPr>
        <p:spPr>
          <a:xfrm>
            <a:off x="417684" y="153162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7A"/>
                </a:solidFill>
              </a:rPr>
              <a:t>📍 Poste : 2012–2017</a:t>
            </a:r>
            <a:endParaRPr lang="en-US" sz="90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165E842A-6FEB-D9C7-311A-2B8D86FFF7BA}"/>
              </a:ext>
            </a:extLst>
          </p:cNvPr>
          <p:cNvSpPr/>
          <p:nvPr/>
        </p:nvSpPr>
        <p:spPr>
          <a:xfrm>
            <a:off x="417684" y="1769364"/>
            <a:ext cx="3977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B2A3E"/>
                </a:solidFill>
              </a:rPr>
              <a:t>Apprentissage de la rigueur scientifique, analyse de données expérimentales et participation à 7 publications en recherche biomédicale.</a:t>
            </a:r>
            <a:endParaRPr lang="en-US" sz="1000" dirty="0"/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E1FD9FF9-3E10-B45D-E69A-863664A9295B}"/>
              </a:ext>
            </a:extLst>
          </p:cNvPr>
          <p:cNvSpPr/>
          <p:nvPr/>
        </p:nvSpPr>
        <p:spPr>
          <a:xfrm>
            <a:off x="4638948" y="726948"/>
            <a:ext cx="4251960" cy="19202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6528F6A2-3C37-5BC0-421D-7FF3CF3DEA13}"/>
              </a:ext>
            </a:extLst>
          </p:cNvPr>
          <p:cNvSpPr/>
          <p:nvPr/>
        </p:nvSpPr>
        <p:spPr>
          <a:xfrm>
            <a:off x="4638948" y="726948"/>
            <a:ext cx="4251960" cy="54864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61CD2EF5-0325-23BF-5F1E-70A58AD31D84}"/>
              </a:ext>
            </a:extLst>
          </p:cNvPr>
          <p:cNvSpPr/>
          <p:nvPr/>
        </p:nvSpPr>
        <p:spPr>
          <a:xfrm>
            <a:off x="7930788" y="818388"/>
            <a:ext cx="868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A6A7A"/>
                </a:solidFill>
              </a:rPr>
              <a:t>photo</a:t>
            </a:r>
            <a:endParaRPr lang="en-US" sz="800" dirty="0"/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42BE479D-7E10-E3CC-40A4-F208A4BB550D}"/>
              </a:ext>
            </a:extLst>
          </p:cNvPr>
          <p:cNvSpPr/>
          <p:nvPr/>
        </p:nvSpPr>
        <p:spPr>
          <a:xfrm>
            <a:off x="4803540" y="81838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A6"/>
                </a:solidFill>
              </a:rPr>
              <a:t>Xavier CHARPENTIER &amp; Kelly GOLDLUST</a:t>
            </a:r>
            <a:endParaRPr lang="en-US" sz="1200" dirty="0"/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992FAFBE-5FA9-EA78-51FF-9C92020A22D4}"/>
              </a:ext>
            </a:extLst>
          </p:cNvPr>
          <p:cNvSpPr/>
          <p:nvPr/>
        </p:nvSpPr>
        <p:spPr>
          <a:xfrm>
            <a:off x="4803540" y="109270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5A6A7A"/>
                </a:solidFill>
              </a:rPr>
              <a:t>Microbiologistes — Directeurs de laboratoire &amp; Enseignants-chercheurs, CIRI / INSERM Gerland / Horigene</a:t>
            </a:r>
            <a:endParaRPr lang="en-US" sz="850" dirty="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7ABC4AEF-7C06-A294-6F30-3155953022B7}"/>
              </a:ext>
            </a:extLst>
          </p:cNvPr>
          <p:cNvSpPr/>
          <p:nvPr/>
        </p:nvSpPr>
        <p:spPr>
          <a:xfrm>
            <a:off x="4803540" y="153162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7A"/>
                </a:solidFill>
              </a:rPr>
              <a:t>📍 Projet laboratoire Horigene — 2023 à aujourd'hui</a:t>
            </a:r>
            <a:endParaRPr lang="en-US" sz="900" dirty="0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4126541E-D631-8886-BAC8-2EB3A8350352}"/>
              </a:ext>
            </a:extLst>
          </p:cNvPr>
          <p:cNvSpPr/>
          <p:nvPr/>
        </p:nvSpPr>
        <p:spPr>
          <a:xfrm>
            <a:off x="4803540" y="1769364"/>
            <a:ext cx="3977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B2A3E"/>
                </a:solidFill>
              </a:rPr>
              <a:t>Besoins métier réels : gestion des souches bactériennes, données hétérogènes, import Excel. Ancrage du projet dans la réalité scientifique.</a:t>
            </a:r>
            <a:endParaRPr lang="en-US" sz="1000" dirty="0"/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61DEE0D2-8732-ADD1-C4CE-29E81BA9BA3B}"/>
              </a:ext>
            </a:extLst>
          </p:cNvPr>
          <p:cNvSpPr/>
          <p:nvPr/>
        </p:nvSpPr>
        <p:spPr>
          <a:xfrm>
            <a:off x="253092" y="2763012"/>
            <a:ext cx="4251960" cy="19202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2AEDC69D-4FCC-D032-B804-EF81C8428DE8}"/>
              </a:ext>
            </a:extLst>
          </p:cNvPr>
          <p:cNvSpPr/>
          <p:nvPr/>
        </p:nvSpPr>
        <p:spPr>
          <a:xfrm>
            <a:off x="253092" y="2763012"/>
            <a:ext cx="4251960" cy="54864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2">
            <a:extLst>
              <a:ext uri="{FF2B5EF4-FFF2-40B4-BE49-F238E27FC236}">
                <a16:creationId xmlns:a16="http://schemas.microsoft.com/office/drawing/2014/main" id="{BA55FD11-E8BA-1618-D848-E153EF75EBD0}"/>
              </a:ext>
            </a:extLst>
          </p:cNvPr>
          <p:cNvSpPr/>
          <p:nvPr/>
        </p:nvSpPr>
        <p:spPr>
          <a:xfrm>
            <a:off x="417684" y="285445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A6"/>
                </a:solidFill>
              </a:rPr>
              <a:t>Emmanuel BETTLER &amp; Chantal ABERGEL</a:t>
            </a:r>
            <a:endParaRPr lang="en-US" sz="1200" dirty="0"/>
          </a:p>
        </p:txBody>
      </p:sp>
      <p:sp>
        <p:nvSpPr>
          <p:cNvPr id="23" name="Text 23">
            <a:extLst>
              <a:ext uri="{FF2B5EF4-FFF2-40B4-BE49-F238E27FC236}">
                <a16:creationId xmlns:a16="http://schemas.microsoft.com/office/drawing/2014/main" id="{08F25E73-0704-CCF3-1123-926C3E30ACD7}"/>
              </a:ext>
            </a:extLst>
          </p:cNvPr>
          <p:cNvSpPr/>
          <p:nvPr/>
        </p:nvSpPr>
        <p:spPr>
          <a:xfrm>
            <a:off x="417684" y="31287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5A6A7A"/>
                </a:solidFill>
              </a:rPr>
              <a:t>Maître de conférences — IBCP / LBTI, Université Lyon 1 &amp; Directrice de recherche CNRS / IGS, Marseille</a:t>
            </a:r>
            <a:endParaRPr lang="en-US" sz="850" dirty="0"/>
          </a:p>
        </p:txBody>
      </p:sp>
      <p:sp>
        <p:nvSpPr>
          <p:cNvPr id="24" name="Text 24">
            <a:extLst>
              <a:ext uri="{FF2B5EF4-FFF2-40B4-BE49-F238E27FC236}">
                <a16:creationId xmlns:a16="http://schemas.microsoft.com/office/drawing/2014/main" id="{2C28A169-6002-B0E8-F25E-E39C2883184E}"/>
              </a:ext>
            </a:extLst>
          </p:cNvPr>
          <p:cNvSpPr/>
          <p:nvPr/>
        </p:nvSpPr>
        <p:spPr>
          <a:xfrm>
            <a:off x="417684" y="35676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7A"/>
                </a:solidFill>
              </a:rPr>
              <a:t>📍 Stage 2021–2022  ·  Stage 2022–2023</a:t>
            </a:r>
            <a:endParaRPr lang="en-US" sz="900" dirty="0"/>
          </a:p>
        </p:txBody>
      </p:sp>
      <p:sp>
        <p:nvSpPr>
          <p:cNvPr id="25" name="Text 25">
            <a:extLst>
              <a:ext uri="{FF2B5EF4-FFF2-40B4-BE49-F238E27FC236}">
                <a16:creationId xmlns:a16="http://schemas.microsoft.com/office/drawing/2014/main" id="{B37917B5-A10E-8186-8048-4065D80563DD}"/>
              </a:ext>
            </a:extLst>
          </p:cNvPr>
          <p:cNvSpPr/>
          <p:nvPr/>
        </p:nvSpPr>
        <p:spPr>
          <a:xfrm>
            <a:off x="417684" y="3805428"/>
            <a:ext cx="3977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B2A3E"/>
                </a:solidFill>
              </a:rPr>
              <a:t>Introduction à la bio-informatique structurale et prédictive (AlphaFold), dynamique moléculaire. Confirmation de la voie informatique.</a:t>
            </a:r>
            <a:endParaRPr lang="en-US" sz="1000" dirty="0"/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DEC5D978-22EB-9DA9-BE41-5F2863CD291C}"/>
              </a:ext>
            </a:extLst>
          </p:cNvPr>
          <p:cNvSpPr/>
          <p:nvPr/>
        </p:nvSpPr>
        <p:spPr>
          <a:xfrm>
            <a:off x="4638948" y="2763012"/>
            <a:ext cx="4251960" cy="19202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7">
            <a:extLst>
              <a:ext uri="{FF2B5EF4-FFF2-40B4-BE49-F238E27FC236}">
                <a16:creationId xmlns:a16="http://schemas.microsoft.com/office/drawing/2014/main" id="{C53FEE82-FD10-B580-E25A-F0D3C4E068F9}"/>
              </a:ext>
            </a:extLst>
          </p:cNvPr>
          <p:cNvSpPr/>
          <p:nvPr/>
        </p:nvSpPr>
        <p:spPr>
          <a:xfrm>
            <a:off x="4638948" y="2763012"/>
            <a:ext cx="4251960" cy="54864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9">
            <a:extLst>
              <a:ext uri="{FF2B5EF4-FFF2-40B4-BE49-F238E27FC236}">
                <a16:creationId xmlns:a16="http://schemas.microsoft.com/office/drawing/2014/main" id="{28BF75BD-66EC-C6B1-5A3E-36197E2174E6}"/>
              </a:ext>
            </a:extLst>
          </p:cNvPr>
          <p:cNvSpPr/>
          <p:nvPr/>
        </p:nvSpPr>
        <p:spPr>
          <a:xfrm>
            <a:off x="7930788" y="2854452"/>
            <a:ext cx="868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A6A7A"/>
                </a:solidFill>
              </a:rPr>
              <a:t>photo</a:t>
            </a:r>
            <a:endParaRPr lang="en-US" sz="800" dirty="0"/>
          </a:p>
        </p:txBody>
      </p:sp>
      <p:sp>
        <p:nvSpPr>
          <p:cNvPr id="30" name="Text 30">
            <a:extLst>
              <a:ext uri="{FF2B5EF4-FFF2-40B4-BE49-F238E27FC236}">
                <a16:creationId xmlns:a16="http://schemas.microsoft.com/office/drawing/2014/main" id="{C2F21AA9-0E97-4DB2-7376-1C0322188AB6}"/>
              </a:ext>
            </a:extLst>
          </p:cNvPr>
          <p:cNvSpPr/>
          <p:nvPr/>
        </p:nvSpPr>
        <p:spPr>
          <a:xfrm>
            <a:off x="4803540" y="285445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A6"/>
                </a:solidFill>
              </a:rPr>
              <a:t>Julien FOURET</a:t>
            </a:r>
            <a:endParaRPr lang="en-US" sz="1200" dirty="0"/>
          </a:p>
        </p:txBody>
      </p:sp>
      <p:sp>
        <p:nvSpPr>
          <p:cNvPr id="31" name="Text 31">
            <a:extLst>
              <a:ext uri="{FF2B5EF4-FFF2-40B4-BE49-F238E27FC236}">
                <a16:creationId xmlns:a16="http://schemas.microsoft.com/office/drawing/2014/main" id="{39A5C5C6-25A5-B349-41E7-3366AE31E658}"/>
              </a:ext>
            </a:extLst>
          </p:cNvPr>
          <p:cNvSpPr/>
          <p:nvPr/>
        </p:nvSpPr>
        <p:spPr>
          <a:xfrm>
            <a:off x="4803540" y="31287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50" i="1" dirty="0">
                <a:solidFill>
                  <a:srgbClr val="5A6A7A"/>
                </a:solidFill>
              </a:rPr>
              <a:t>Chercheur en Bio-</a:t>
            </a:r>
            <a:r>
              <a:rPr lang="en-US" sz="850" i="1" dirty="0" err="1">
                <a:solidFill>
                  <a:srgbClr val="5A6A7A"/>
                </a:solidFill>
              </a:rPr>
              <a:t>informatique</a:t>
            </a:r>
            <a:r>
              <a:rPr lang="en-US" sz="850" i="1" dirty="0">
                <a:solidFill>
                  <a:srgbClr val="5A6A7A"/>
                </a:solidFill>
              </a:rPr>
              <a:t> — CIRI / INSERM Gerland / BIBS</a:t>
            </a:r>
            <a:endParaRPr lang="en-US" sz="850" dirty="0"/>
          </a:p>
        </p:txBody>
      </p:sp>
      <p:sp>
        <p:nvSpPr>
          <p:cNvPr id="32" name="Text 32">
            <a:extLst>
              <a:ext uri="{FF2B5EF4-FFF2-40B4-BE49-F238E27FC236}">
                <a16:creationId xmlns:a16="http://schemas.microsoft.com/office/drawing/2014/main" id="{7CAC7C5F-DF8A-B0FE-EB5E-C5F6431F32A5}"/>
              </a:ext>
            </a:extLst>
          </p:cNvPr>
          <p:cNvSpPr/>
          <p:nvPr/>
        </p:nvSpPr>
        <p:spPr>
          <a:xfrm>
            <a:off x="4803540" y="35676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7A"/>
                </a:solidFill>
              </a:rPr>
              <a:t>📍 2023 à aujourd'hui : Encadrement technique</a:t>
            </a:r>
            <a:endParaRPr lang="en-US" sz="900" dirty="0"/>
          </a:p>
        </p:txBody>
      </p:sp>
      <p:sp>
        <p:nvSpPr>
          <p:cNvPr id="33" name="Text 33">
            <a:extLst>
              <a:ext uri="{FF2B5EF4-FFF2-40B4-BE49-F238E27FC236}">
                <a16:creationId xmlns:a16="http://schemas.microsoft.com/office/drawing/2014/main" id="{ED108ED1-4DC8-D2D8-0770-1247A9D402E2}"/>
              </a:ext>
            </a:extLst>
          </p:cNvPr>
          <p:cNvSpPr/>
          <p:nvPr/>
        </p:nvSpPr>
        <p:spPr>
          <a:xfrm>
            <a:off x="4803540" y="3805428"/>
            <a:ext cx="3977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B2A3E"/>
                </a:solidFill>
              </a:rPr>
              <a:t>Architecture logicielle, bonnes pratiques (CI/CD, tests, migrations) et apprentissage des approches IA. Vision d'ensemble du projet Horigene et de sa généralisation INSERM.</a:t>
            </a:r>
            <a:endParaRPr lang="en-US" sz="1000" dirty="0"/>
          </a:p>
        </p:txBody>
      </p:sp>
      <p:sp>
        <p:nvSpPr>
          <p:cNvPr id="34" name="Shape 34">
            <a:extLst>
              <a:ext uri="{FF2B5EF4-FFF2-40B4-BE49-F238E27FC236}">
                <a16:creationId xmlns:a16="http://schemas.microsoft.com/office/drawing/2014/main" id="{40A7A066-51E4-35B9-E92F-D8183680C25E}"/>
              </a:ext>
            </a:extLst>
          </p:cNvPr>
          <p:cNvSpPr/>
          <p:nvPr/>
        </p:nvSpPr>
        <p:spPr>
          <a:xfrm>
            <a:off x="0" y="4818888"/>
            <a:ext cx="9144000" cy="342900"/>
          </a:xfrm>
          <a:prstGeom prst="rect">
            <a:avLst/>
          </a:prstGeom>
          <a:solidFill>
            <a:srgbClr val="1B2A3E"/>
          </a:solidFill>
          <a:ln w="12700">
            <a:solidFill>
              <a:srgbClr val="1B2A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5">
            <a:extLst>
              <a:ext uri="{FF2B5EF4-FFF2-40B4-BE49-F238E27FC236}">
                <a16:creationId xmlns:a16="http://schemas.microsoft.com/office/drawing/2014/main" id="{997A7084-8F54-2A1E-1DB8-A764604AA945}"/>
              </a:ext>
            </a:extLst>
          </p:cNvPr>
          <p:cNvSpPr/>
          <p:nvPr/>
        </p:nvSpPr>
        <p:spPr>
          <a:xfrm>
            <a:off x="274320" y="4828032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00B4A6"/>
                </a:solidFill>
              </a:rPr>
              <a:t>« La valeur n'est pas dans les outils, mais dans la capacité à comprendre les données scientifiques pour les rendre exploitables. »</a:t>
            </a:r>
            <a:endParaRPr lang="en-US" sz="950" dirty="0"/>
          </a:p>
        </p:txBody>
      </p:sp>
      <p:sp>
        <p:nvSpPr>
          <p:cNvPr id="37" name="Shape 0">
            <a:extLst>
              <a:ext uri="{FF2B5EF4-FFF2-40B4-BE49-F238E27FC236}">
                <a16:creationId xmlns:a16="http://schemas.microsoft.com/office/drawing/2014/main" id="{A18E0656-3141-B8A7-56D9-FBE3D5DA0E3F}"/>
              </a:ext>
            </a:extLst>
          </p:cNvPr>
          <p:cNvSpPr/>
          <p:nvPr/>
        </p:nvSpPr>
        <p:spPr>
          <a:xfrm>
            <a:off x="0" y="-9367"/>
            <a:ext cx="9144000" cy="60157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38" name="Text 1">
            <a:extLst>
              <a:ext uri="{FF2B5EF4-FFF2-40B4-BE49-F238E27FC236}">
                <a16:creationId xmlns:a16="http://schemas.microsoft.com/office/drawing/2014/main" id="{C88D4675-E86A-0DAD-04B6-6EC0D7CD4FE7}"/>
              </a:ext>
            </a:extLst>
          </p:cNvPr>
          <p:cNvSpPr/>
          <p:nvPr/>
        </p:nvSpPr>
        <p:spPr>
          <a:xfrm>
            <a:off x="365760" y="578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2200" b="1" noProof="0" dirty="0">
                <a:solidFill>
                  <a:schemeClr val="bg1"/>
                </a:solidFill>
              </a:rPr>
              <a:t>03 — </a:t>
            </a:r>
            <a:r>
              <a:rPr lang="fr-FR" sz="2200" b="1" dirty="0">
                <a:solidFill>
                  <a:srgbClr val="FFFFFF"/>
                </a:solidFill>
              </a:rPr>
              <a:t>Les rencontres clés qui ont façonné mon parcours</a:t>
            </a:r>
            <a:endParaRPr lang="fr-FR" sz="2200" b="1" noProof="0" dirty="0">
              <a:solidFill>
                <a:schemeClr val="bg1"/>
              </a:solidFill>
            </a:endParaRPr>
          </a:p>
        </p:txBody>
      </p:sp>
      <p:pic>
        <p:nvPicPr>
          <p:cNvPr id="39" name="Picture 2" descr="Vect-Horus">
            <a:extLst>
              <a:ext uri="{FF2B5EF4-FFF2-40B4-BE49-F238E27FC236}">
                <a16:creationId xmlns:a16="http://schemas.microsoft.com/office/drawing/2014/main" id="{46AD9AF3-F41A-467E-2184-D1E6FA760B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5148" y="854202"/>
            <a:ext cx="869659" cy="677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Image 40">
            <a:extLst>
              <a:ext uri="{FF2B5EF4-FFF2-40B4-BE49-F238E27FC236}">
                <a16:creationId xmlns:a16="http://schemas.microsoft.com/office/drawing/2014/main" id="{984DB993-C855-9E22-3139-4E139E371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2492" y="855552"/>
            <a:ext cx="596472" cy="634921"/>
          </a:xfrm>
          <a:prstGeom prst="rect">
            <a:avLst/>
          </a:prstGeom>
        </p:spPr>
      </p:pic>
      <p:pic>
        <p:nvPicPr>
          <p:cNvPr id="42" name="Image 41" descr="Une image contenant Visage humain, personne, homme, habits&#10;&#10;Le contenu généré par l’IA peut être incorrect.">
            <a:extLst>
              <a:ext uri="{FF2B5EF4-FFF2-40B4-BE49-F238E27FC236}">
                <a16:creationId xmlns:a16="http://schemas.microsoft.com/office/drawing/2014/main" id="{52713A4E-51D6-D089-7ADE-088981D8F4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4956" y="854203"/>
            <a:ext cx="556184" cy="636270"/>
          </a:xfrm>
          <a:prstGeom prst="rect">
            <a:avLst/>
          </a:prstGeom>
        </p:spPr>
      </p:pic>
      <p:pic>
        <p:nvPicPr>
          <p:cNvPr id="43" name="Picture 8">
            <a:extLst>
              <a:ext uri="{FF2B5EF4-FFF2-40B4-BE49-F238E27FC236}">
                <a16:creationId xmlns:a16="http://schemas.microsoft.com/office/drawing/2014/main" id="{39F8B09A-10E0-704D-5E32-0836B11809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6024" y="2865061"/>
            <a:ext cx="839491" cy="647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Annuaire | Enseignants de Biochimie">
            <a:extLst>
              <a:ext uri="{FF2B5EF4-FFF2-40B4-BE49-F238E27FC236}">
                <a16:creationId xmlns:a16="http://schemas.microsoft.com/office/drawing/2014/main" id="{849BC923-99F2-5CFB-53AF-7B972049DC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3600" y="2854452"/>
            <a:ext cx="484380" cy="603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6" descr="Chantal Abergel — Wikipédia">
            <a:extLst>
              <a:ext uri="{FF2B5EF4-FFF2-40B4-BE49-F238E27FC236}">
                <a16:creationId xmlns:a16="http://schemas.microsoft.com/office/drawing/2014/main" id="{9F8B18E3-6ECB-7EB2-8F0F-D4286718E6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4472" y="2846289"/>
            <a:ext cx="433173" cy="611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6331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2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4F360B-B433-95A8-B7F6-6B73214D9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>
            <a:extLst>
              <a:ext uri="{FF2B5EF4-FFF2-40B4-BE49-F238E27FC236}">
                <a16:creationId xmlns:a16="http://schemas.microsoft.com/office/drawing/2014/main" id="{0BCE2EFF-6E6F-FDD6-D3E7-003130771704}"/>
              </a:ext>
            </a:extLst>
          </p:cNvPr>
          <p:cNvSpPr/>
          <p:nvPr/>
        </p:nvSpPr>
        <p:spPr>
          <a:xfrm>
            <a:off x="0" y="-9367"/>
            <a:ext cx="9144000" cy="60157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73" name="Text 1">
            <a:extLst>
              <a:ext uri="{FF2B5EF4-FFF2-40B4-BE49-F238E27FC236}">
                <a16:creationId xmlns:a16="http://schemas.microsoft.com/office/drawing/2014/main" id="{D3FEEFD2-3C70-28CC-A253-45E609956630}"/>
              </a:ext>
            </a:extLst>
          </p:cNvPr>
          <p:cNvSpPr/>
          <p:nvPr/>
        </p:nvSpPr>
        <p:spPr>
          <a:xfrm>
            <a:off x="329946" y="39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000" b="1" noProof="0" dirty="0">
                <a:solidFill>
                  <a:srgbClr val="FFFFFF"/>
                </a:solidFill>
              </a:rPr>
              <a:t>04 — Le projet Horigene : une plateforme scientifique assisté par IA</a:t>
            </a:r>
            <a:endParaRPr lang="fr-FR" sz="2000" noProof="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B8B9830-84F4-9339-0BDE-61AA4783CEB7}"/>
              </a:ext>
            </a:extLst>
          </p:cNvPr>
          <p:cNvSpPr/>
          <p:nvPr/>
        </p:nvSpPr>
        <p:spPr>
          <a:xfrm>
            <a:off x="228600" y="749808"/>
            <a:ext cx="8686800" cy="658368"/>
          </a:xfrm>
          <a:prstGeom prst="rect">
            <a:avLst/>
          </a:prstGeom>
          <a:solidFill>
            <a:srgbClr val="1B2A3E"/>
          </a:solidFill>
          <a:ln w="12700">
            <a:solidFill>
              <a:srgbClr val="1B2A3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9067EE4-8C23-ED85-5A94-D7BB2631CA58}"/>
              </a:ext>
            </a:extLst>
          </p:cNvPr>
          <p:cNvSpPr/>
          <p:nvPr/>
        </p:nvSpPr>
        <p:spPr>
          <a:xfrm>
            <a:off x="292608" y="74980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000" noProof="0" dirty="0">
                <a:solidFill>
                  <a:srgbClr val="000000"/>
                </a:solidFill>
              </a:rPr>
              <a:t>🔒</a:t>
            </a:r>
            <a:endParaRPr lang="fr-FR" sz="2000" noProof="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95CA386-88D4-EF96-0388-4AD7D4DBCF14}"/>
              </a:ext>
            </a:extLst>
          </p:cNvPr>
          <p:cNvSpPr/>
          <p:nvPr/>
        </p:nvSpPr>
        <p:spPr>
          <a:xfrm>
            <a:off x="822960" y="76809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fr-FR" sz="1100" noProof="0" dirty="0">
                <a:solidFill>
                  <a:srgbClr val="FFFFFF"/>
                </a:solidFill>
              </a:rPr>
              <a:t>Des fichiers biologiques organisés différemment selon les chercheurs, avec des colonnes hétérogènes ou "fourre-tout" mélangeant plusieurs types d'informations, rendant les données difficiles à structurer et exploiter directement</a:t>
            </a:r>
            <a:endParaRPr lang="fr-FR" sz="1100" noProof="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AE43D239-DAC5-876E-75C0-F92CE3EC7CDD}"/>
              </a:ext>
            </a:extLst>
          </p:cNvPr>
          <p:cNvSpPr/>
          <p:nvPr/>
        </p:nvSpPr>
        <p:spPr>
          <a:xfrm>
            <a:off x="228600" y="1508760"/>
            <a:ext cx="8686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000" b="1" noProof="0" dirty="0">
                <a:solidFill>
                  <a:srgbClr val="1B2A3E"/>
                </a:solidFill>
              </a:rPr>
              <a:t>Strain(+)</a:t>
            </a:r>
            <a:r>
              <a:rPr lang="fr-FR" sz="2000" b="1" noProof="0" dirty="0" err="1">
                <a:solidFill>
                  <a:srgbClr val="1B2A3E"/>
                </a:solidFill>
              </a:rPr>
              <a:t>Lab</a:t>
            </a:r>
            <a:r>
              <a:rPr lang="fr-FR" sz="2000" b="1" noProof="0" dirty="0">
                <a:solidFill>
                  <a:srgbClr val="1B2A3E"/>
                </a:solidFill>
              </a:rPr>
              <a:t> — une plateforme en 3 briques</a:t>
            </a:r>
            <a:endParaRPr lang="fr-FR" sz="2000" noProof="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C6DA79F-B1E9-000A-F30B-4D8EC45EF9F4}"/>
              </a:ext>
            </a:extLst>
          </p:cNvPr>
          <p:cNvSpPr/>
          <p:nvPr/>
        </p:nvSpPr>
        <p:spPr>
          <a:xfrm>
            <a:off x="329946" y="2043031"/>
            <a:ext cx="2679192" cy="270858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81E910C-BEB6-CFBF-F5F0-C476ED891DCF}"/>
              </a:ext>
            </a:extLst>
          </p:cNvPr>
          <p:cNvSpPr/>
          <p:nvPr/>
        </p:nvSpPr>
        <p:spPr>
          <a:xfrm>
            <a:off x="393954" y="2185828"/>
            <a:ext cx="2542032" cy="64399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400" b="1" noProof="0" dirty="0">
                <a:solidFill>
                  <a:srgbClr val="1B2A3E"/>
                </a:solidFill>
              </a:rPr>
              <a:t>① </a:t>
            </a:r>
            <a:r>
              <a:rPr lang="fr-FR" sz="1400" b="1" dirty="0">
                <a:solidFill>
                  <a:srgbClr val="1B2A3E"/>
                </a:solidFill>
              </a:rPr>
              <a:t> </a:t>
            </a:r>
            <a:r>
              <a:rPr lang="fr-FR" sz="1400" b="1" dirty="0"/>
              <a:t>Import et structuration assistés par IA</a:t>
            </a:r>
            <a:endParaRPr lang="fr-FR" sz="1400" b="1" noProof="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732EBD7-6829-C4A4-BD98-E974F4254C23}"/>
              </a:ext>
            </a:extLst>
          </p:cNvPr>
          <p:cNvSpPr/>
          <p:nvPr/>
        </p:nvSpPr>
        <p:spPr>
          <a:xfrm>
            <a:off x="434450" y="3018912"/>
            <a:ext cx="2407042" cy="1577665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fr-FR" sz="1050" noProof="0" dirty="0">
                <a:solidFill>
                  <a:srgbClr val="5A6A7A"/>
                </a:solidFill>
              </a:rPr>
              <a:t>Analyse &amp; lecture du fichier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fr-FR" sz="1050" dirty="0">
                <a:solidFill>
                  <a:srgbClr val="5A6A7A"/>
                </a:solidFill>
              </a:rPr>
              <a:t>Mapping intelligent des colonnes vers le modèle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fr-FR" sz="1050" noProof="0" dirty="0">
                <a:solidFill>
                  <a:srgbClr val="5A6A7A"/>
                </a:solidFill>
              </a:rPr>
              <a:t>Catégorisation &amp; interprétation des données</a:t>
            </a:r>
            <a:endParaRPr lang="fr-FR" sz="1050" noProof="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fr-FR" sz="1050" noProof="0" dirty="0">
                <a:solidFill>
                  <a:srgbClr val="5A6A7A"/>
                </a:solidFill>
              </a:rPr>
              <a:t>Validation humaine avant insertion</a:t>
            </a:r>
            <a:endParaRPr lang="fr-FR" sz="1050" noProof="0" dirty="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BBD9C53B-CF2D-2DB5-1342-837F3ABCB8C7}"/>
              </a:ext>
            </a:extLst>
          </p:cNvPr>
          <p:cNvSpPr/>
          <p:nvPr/>
        </p:nvSpPr>
        <p:spPr>
          <a:xfrm>
            <a:off x="3260602" y="2034867"/>
            <a:ext cx="2679192" cy="2716748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ACFED6A-68DB-2D68-1D8A-CC38E8DD975D}"/>
              </a:ext>
            </a:extLst>
          </p:cNvPr>
          <p:cNvSpPr/>
          <p:nvPr/>
        </p:nvSpPr>
        <p:spPr>
          <a:xfrm>
            <a:off x="3260602" y="2034867"/>
            <a:ext cx="2679192" cy="162152"/>
          </a:xfrm>
          <a:prstGeom prst="rect">
            <a:avLst/>
          </a:prstGeom>
          <a:solidFill>
            <a:srgbClr val="2E86C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912155C2-151C-3D77-24CD-C89F5E82B15F}"/>
              </a:ext>
            </a:extLst>
          </p:cNvPr>
          <p:cNvSpPr/>
          <p:nvPr/>
        </p:nvSpPr>
        <p:spPr>
          <a:xfrm>
            <a:off x="3309366" y="2346501"/>
            <a:ext cx="24349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1B2A3E"/>
                </a:solidFill>
              </a:rPr>
              <a:t>② Base  de données relationnelle</a:t>
            </a:r>
            <a:endParaRPr lang="fr-FR" sz="1400" noProof="0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9648B8CB-1602-A996-D260-8791B32043BB}"/>
              </a:ext>
            </a:extLst>
          </p:cNvPr>
          <p:cNvSpPr/>
          <p:nvPr/>
        </p:nvSpPr>
        <p:spPr>
          <a:xfrm>
            <a:off x="3649226" y="2744592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i="1" noProof="0" dirty="0">
                <a:solidFill>
                  <a:srgbClr val="2E86C1"/>
                </a:solidFill>
              </a:rPr>
              <a:t>Structuration centralisée</a:t>
            </a:r>
            <a:endParaRPr lang="fr-FR" sz="1400" b="1" noProof="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69F83E47-E436-8850-29F1-228CC06E4051}"/>
              </a:ext>
            </a:extLst>
          </p:cNvPr>
          <p:cNvSpPr/>
          <p:nvPr/>
        </p:nvSpPr>
        <p:spPr>
          <a:xfrm>
            <a:off x="3384050" y="2839540"/>
            <a:ext cx="2436872" cy="176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fr-FR" sz="1050" noProof="0" dirty="0">
                <a:solidFill>
                  <a:srgbClr val="5A6A7A"/>
                </a:solidFill>
              </a:rPr>
              <a:t>Modèle centré autour de la souche (</a:t>
            </a:r>
            <a:r>
              <a:rPr lang="fr-FR" sz="1050" noProof="0" dirty="0" err="1">
                <a:solidFill>
                  <a:srgbClr val="5A6A7A"/>
                </a:solidFill>
              </a:rPr>
              <a:t>strain</a:t>
            </a:r>
            <a:r>
              <a:rPr lang="fr-FR" sz="1050" noProof="0" dirty="0">
                <a:solidFill>
                  <a:srgbClr val="5A6A7A"/>
                </a:solidFill>
              </a:rPr>
              <a:t>-first)</a:t>
            </a:r>
            <a:endParaRPr lang="fr-FR" sz="1050" noProof="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fr-FR" sz="1050" noProof="0" dirty="0">
                <a:solidFill>
                  <a:srgbClr val="5A6A7A"/>
                </a:solidFill>
              </a:rPr>
              <a:t>Phénotypes, génotypes, résistances</a:t>
            </a:r>
            <a:endParaRPr lang="fr-FR" sz="1050" noProof="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fr-FR" sz="1050" noProof="0" dirty="0">
                <a:solidFill>
                  <a:srgbClr val="5A6A7A"/>
                </a:solidFill>
              </a:rPr>
              <a:t>Traçabilité parent/enfant</a:t>
            </a:r>
            <a:endParaRPr lang="fr-FR" sz="1050" noProof="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0D07A62D-28B7-528D-516F-0DCA8DCBC9C2}"/>
              </a:ext>
            </a:extLst>
          </p:cNvPr>
          <p:cNvSpPr/>
          <p:nvPr/>
        </p:nvSpPr>
        <p:spPr>
          <a:xfrm>
            <a:off x="5939794" y="336792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000" b="1" noProof="0" dirty="0">
                <a:solidFill>
                  <a:srgbClr val="00B4A6"/>
                </a:solidFill>
              </a:rPr>
              <a:t>→</a:t>
            </a:r>
            <a:endParaRPr lang="fr-FR" sz="2000" noProof="0" dirty="0"/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F2944A77-AF69-EE21-BC46-15EB34D87428}"/>
              </a:ext>
            </a:extLst>
          </p:cNvPr>
          <p:cNvSpPr/>
          <p:nvPr/>
        </p:nvSpPr>
        <p:spPr>
          <a:xfrm>
            <a:off x="6305554" y="2034867"/>
            <a:ext cx="2574032" cy="2716748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41F2AC1F-0648-4788-8821-572F2CC862DB}"/>
              </a:ext>
            </a:extLst>
          </p:cNvPr>
          <p:cNvSpPr/>
          <p:nvPr/>
        </p:nvSpPr>
        <p:spPr>
          <a:xfrm>
            <a:off x="6305554" y="2034867"/>
            <a:ext cx="2574032" cy="162152"/>
          </a:xfrm>
          <a:prstGeom prst="rect">
            <a:avLst/>
          </a:prstGeom>
          <a:solidFill>
            <a:srgbClr val="E8C84A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5DC1AB01-EE45-B01A-90BA-D196144AE81D}"/>
              </a:ext>
            </a:extLst>
          </p:cNvPr>
          <p:cNvSpPr/>
          <p:nvPr/>
        </p:nvSpPr>
        <p:spPr>
          <a:xfrm>
            <a:off x="6240022" y="2293022"/>
            <a:ext cx="2574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1B2A3E"/>
                </a:solidFill>
              </a:rPr>
              <a:t>③ Interface web</a:t>
            </a:r>
            <a:endParaRPr lang="fr-FR" sz="1400" noProof="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FFE9A38F-598F-0825-878B-E1CB956CEBFC}"/>
              </a:ext>
            </a:extLst>
          </p:cNvPr>
          <p:cNvSpPr/>
          <p:nvPr/>
        </p:nvSpPr>
        <p:spPr>
          <a:xfrm>
            <a:off x="6323843" y="2695213"/>
            <a:ext cx="2555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i="1" noProof="0" dirty="0">
                <a:solidFill>
                  <a:srgbClr val="E8C84A"/>
                </a:solidFill>
              </a:rPr>
              <a:t>Exploitation rapide</a:t>
            </a:r>
            <a:endParaRPr lang="fr-FR" sz="1400" b="1" noProof="0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F8D3318-109A-470B-CD2A-C3DFAEA4E86A}"/>
              </a:ext>
            </a:extLst>
          </p:cNvPr>
          <p:cNvSpPr/>
          <p:nvPr/>
        </p:nvSpPr>
        <p:spPr>
          <a:xfrm>
            <a:off x="6442714" y="2839539"/>
            <a:ext cx="2335526" cy="17651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fr-FR" sz="1050" noProof="0" dirty="0">
                <a:solidFill>
                  <a:srgbClr val="5A6A7A"/>
                </a:solidFill>
              </a:rPr>
              <a:t>Recherche multicritère</a:t>
            </a:r>
            <a:endParaRPr lang="fr-FR" sz="1050" noProof="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fr-FR" sz="1050" noProof="0" dirty="0">
                <a:solidFill>
                  <a:srgbClr val="5A6A7A"/>
                </a:solidFill>
              </a:rPr>
              <a:t>Gestion des souches</a:t>
            </a:r>
            <a:endParaRPr lang="fr-FR" sz="1050" noProof="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fr-FR" sz="1050" noProof="0" dirty="0">
                <a:solidFill>
                  <a:srgbClr val="5A6A7A"/>
                </a:solidFill>
              </a:rPr>
              <a:t>Génération assistée de fichier réglementaire</a:t>
            </a:r>
            <a:endParaRPr lang="fr-FR" sz="1050" noProof="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fr-FR" sz="1050" noProof="0" dirty="0">
                <a:solidFill>
                  <a:srgbClr val="5A6A7A"/>
                </a:solidFill>
              </a:rPr>
              <a:t>Gestion des droits &amp; partage</a:t>
            </a:r>
            <a:endParaRPr lang="fr-FR" sz="1050" noProof="0" dirty="0"/>
          </a:p>
        </p:txBody>
      </p:sp>
      <p:sp>
        <p:nvSpPr>
          <p:cNvPr id="28" name="Shape 19">
            <a:extLst>
              <a:ext uri="{FF2B5EF4-FFF2-40B4-BE49-F238E27FC236}">
                <a16:creationId xmlns:a16="http://schemas.microsoft.com/office/drawing/2014/main" id="{5851773D-916A-70F2-2341-FA9C105895DB}"/>
              </a:ext>
            </a:extLst>
          </p:cNvPr>
          <p:cNvSpPr/>
          <p:nvPr/>
        </p:nvSpPr>
        <p:spPr>
          <a:xfrm>
            <a:off x="329946" y="2041070"/>
            <a:ext cx="2679192" cy="154143"/>
          </a:xfrm>
          <a:prstGeom prst="rect">
            <a:avLst/>
          </a:prstGeom>
          <a:solidFill>
            <a:srgbClr val="00B4A6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926024E9-061D-1184-A337-B6B7E7C64042}"/>
              </a:ext>
            </a:extLst>
          </p:cNvPr>
          <p:cNvSpPr txBox="1"/>
          <p:nvPr/>
        </p:nvSpPr>
        <p:spPr>
          <a:xfrm>
            <a:off x="2847919" y="3349817"/>
            <a:ext cx="5601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FR" sz="1800" b="1" noProof="0" dirty="0">
                <a:solidFill>
                  <a:srgbClr val="00B4A6"/>
                </a:solidFill>
              </a:rPr>
              <a:t>→</a:t>
            </a:r>
            <a:endParaRPr lang="fr-FR" sz="1800" noProof="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6D877822-5D3C-AE1A-03F8-14DA8C0F2713}"/>
              </a:ext>
            </a:extLst>
          </p:cNvPr>
          <p:cNvSpPr/>
          <p:nvPr/>
        </p:nvSpPr>
        <p:spPr>
          <a:xfrm>
            <a:off x="450332" y="2749732"/>
            <a:ext cx="2427736" cy="27432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i="1" noProof="0" dirty="0">
                <a:solidFill>
                  <a:srgbClr val="00B4A6"/>
                </a:solidFill>
              </a:rPr>
              <a:t>Fichier : Excel / CSV hétérogènes</a:t>
            </a:r>
            <a:endParaRPr lang="fr-FR" sz="1400" b="1" noProof="0" dirty="0"/>
          </a:p>
        </p:txBody>
      </p:sp>
    </p:spTree>
    <p:extLst>
      <p:ext uri="{BB962C8B-B14F-4D97-AF65-F5344CB8AC3E}">
        <p14:creationId xmlns:p14="http://schemas.microsoft.com/office/powerpoint/2010/main" val="1624266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2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96E25E-F18D-2646-2216-4E8D53FF2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844E3ACF-EFE3-9C28-A6E5-2353B305CBF1}"/>
              </a:ext>
            </a:extLst>
          </p:cNvPr>
          <p:cNvSpPr/>
          <p:nvPr/>
        </p:nvSpPr>
        <p:spPr>
          <a:xfrm>
            <a:off x="0" y="8389"/>
            <a:ext cx="9144000" cy="60157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Text 0">
            <a:extLst>
              <a:ext uri="{FF2B5EF4-FFF2-40B4-BE49-F238E27FC236}">
                <a16:creationId xmlns:a16="http://schemas.microsoft.com/office/drawing/2014/main" id="{2C9B7A75-7FB5-7A7F-8362-CAE27A453F84}"/>
              </a:ext>
            </a:extLst>
          </p:cNvPr>
          <p:cNvSpPr/>
          <p:nvPr/>
        </p:nvSpPr>
        <p:spPr>
          <a:xfrm>
            <a:off x="320040" y="92964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2000" b="1" noProof="0" dirty="0">
                <a:solidFill>
                  <a:srgbClr val="FFFFFF"/>
                </a:solidFill>
              </a:rPr>
              <a:t>05 — </a:t>
            </a:r>
            <a:r>
              <a:rPr lang="fr-FR" sz="2000" b="1" dirty="0">
                <a:solidFill>
                  <a:srgbClr val="FFFFFF"/>
                </a:solidFill>
              </a:rPr>
              <a:t>Métiers visés post BUT3 : référentiels APEC &amp; CIGREF</a:t>
            </a:r>
            <a:endParaRPr lang="fr-FR" sz="2000" dirty="0"/>
          </a:p>
        </p:txBody>
      </p:sp>
      <p:sp>
        <p:nvSpPr>
          <p:cNvPr id="2" name="Shape 2">
            <a:extLst>
              <a:ext uri="{FF2B5EF4-FFF2-40B4-BE49-F238E27FC236}">
                <a16:creationId xmlns:a16="http://schemas.microsoft.com/office/drawing/2014/main" id="{EACEDB35-6495-111A-6515-34315D051531}"/>
              </a:ext>
            </a:extLst>
          </p:cNvPr>
          <p:cNvSpPr/>
          <p:nvPr/>
        </p:nvSpPr>
        <p:spPr>
          <a:xfrm>
            <a:off x="320040" y="708988"/>
            <a:ext cx="8595360" cy="1389888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B3E27F8C-708D-BED5-6AB2-5B2975048645}"/>
              </a:ext>
            </a:extLst>
          </p:cNvPr>
          <p:cNvSpPr/>
          <p:nvPr/>
        </p:nvSpPr>
        <p:spPr>
          <a:xfrm>
            <a:off x="266156" y="708988"/>
            <a:ext cx="164592" cy="1389888"/>
          </a:xfrm>
          <a:prstGeom prst="rect">
            <a:avLst/>
          </a:prstGeom>
          <a:solidFill>
            <a:srgbClr val="00B4A6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3B1BEFA1-E1F9-E500-B715-ACBEFD8DA7AF}"/>
              </a:ext>
            </a:extLst>
          </p:cNvPr>
          <p:cNvSpPr/>
          <p:nvPr/>
        </p:nvSpPr>
        <p:spPr>
          <a:xfrm>
            <a:off x="613628" y="77605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kern="0" spc="150" dirty="0">
                <a:solidFill>
                  <a:srgbClr val="00B4A6"/>
                </a:solidFill>
              </a:rPr>
              <a:t>PLAN A : PRIORITAIRE</a:t>
            </a:r>
            <a:endParaRPr lang="fr-FR" sz="1300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CD0C9DC4-8DC3-DE5D-6EA8-1995B67B2746}"/>
              </a:ext>
            </a:extLst>
          </p:cNvPr>
          <p:cNvSpPr/>
          <p:nvPr/>
        </p:nvSpPr>
        <p:spPr>
          <a:xfrm>
            <a:off x="613628" y="1007522"/>
            <a:ext cx="64729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400" b="1" dirty="0">
                <a:solidFill>
                  <a:srgbClr val="1B2A3E"/>
                </a:solidFill>
              </a:rPr>
              <a:t>Data Engineering de </a:t>
            </a:r>
            <a:r>
              <a:rPr lang="fr-FR" sz="1400" b="1" dirty="0"/>
              <a:t>plateformes scientifiques et outils IA pour les données biologiques</a:t>
            </a: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B7AC2156-0BAE-1BB4-8387-B2EA61B9E62E}"/>
              </a:ext>
            </a:extLst>
          </p:cNvPr>
          <p:cNvSpPr/>
          <p:nvPr/>
        </p:nvSpPr>
        <p:spPr>
          <a:xfrm>
            <a:off x="613628" y="1358496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fr-FR" sz="900" dirty="0">
                <a:solidFill>
                  <a:srgbClr val="5A6A7A"/>
                </a:solidFill>
              </a:rPr>
              <a:t>Continuer le développement de Strain(+)</a:t>
            </a:r>
            <a:r>
              <a:rPr lang="fr-FR" sz="900" dirty="0" err="1">
                <a:solidFill>
                  <a:srgbClr val="5A6A7A"/>
                </a:solidFill>
              </a:rPr>
              <a:t>Lab</a:t>
            </a:r>
            <a:r>
              <a:rPr lang="fr-FR" sz="900" dirty="0">
                <a:solidFill>
                  <a:srgbClr val="5A6A7A"/>
                </a:solidFill>
              </a:rPr>
              <a:t> au CIRI / INSERM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fr-FR" sz="900" dirty="0">
                <a:solidFill>
                  <a:srgbClr val="5A6A7A"/>
                </a:solidFill>
              </a:rPr>
              <a:t>Généraliser la plateforme à d'autres unités INSERM — pipeline assisté IA d'import + base de données autours de la souche</a:t>
            </a:r>
            <a:endParaRPr lang="fr-FR" sz="900" dirty="0"/>
          </a:p>
          <a:p>
            <a:pPr marL="342900" indent="-342900">
              <a:spcAft>
                <a:spcPts val="300"/>
              </a:spcAft>
              <a:buSzPct val="100000"/>
              <a:buFontTx/>
              <a:buChar char="•"/>
            </a:pPr>
            <a:r>
              <a:rPr lang="fr-FR" sz="900" dirty="0">
                <a:solidFill>
                  <a:srgbClr val="5A6A7A"/>
                </a:solidFill>
              </a:rPr>
              <a:t>Concevoir des pipelines, bases de données et outils scientifiques pour l’exploitation des données de laboratoire</a:t>
            </a: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C3AA9B77-97C7-BDB9-8D36-23A79EF9D549}"/>
              </a:ext>
            </a:extLst>
          </p:cNvPr>
          <p:cNvSpPr/>
          <p:nvPr/>
        </p:nvSpPr>
        <p:spPr>
          <a:xfrm>
            <a:off x="7415410" y="793315"/>
            <a:ext cx="1371600" cy="347472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BA2AC701-A86E-7E3F-72B7-6B225C8D4751}"/>
              </a:ext>
            </a:extLst>
          </p:cNvPr>
          <p:cNvSpPr/>
          <p:nvPr/>
        </p:nvSpPr>
        <p:spPr>
          <a:xfrm>
            <a:off x="7415410" y="793315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dirty="0">
                <a:solidFill>
                  <a:srgbClr val="FFFFFF"/>
                </a:solidFill>
              </a:rPr>
              <a:t>Priorité #1</a:t>
            </a:r>
            <a:endParaRPr lang="fr-FR" sz="1000" dirty="0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28122841-1D03-020A-6AF6-D9884478E281}"/>
              </a:ext>
            </a:extLst>
          </p:cNvPr>
          <p:cNvSpPr/>
          <p:nvPr/>
        </p:nvSpPr>
        <p:spPr>
          <a:xfrm>
            <a:off x="266156" y="2199460"/>
            <a:ext cx="8595360" cy="1298448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sz="9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4F6A2496-199B-6B62-3887-25A974511C1E}"/>
              </a:ext>
            </a:extLst>
          </p:cNvPr>
          <p:cNvSpPr/>
          <p:nvPr/>
        </p:nvSpPr>
        <p:spPr>
          <a:xfrm>
            <a:off x="266156" y="2199460"/>
            <a:ext cx="164592" cy="1298448"/>
          </a:xfrm>
          <a:prstGeom prst="rect">
            <a:avLst/>
          </a:prstGeom>
          <a:solidFill>
            <a:srgbClr val="2E86C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6BC93C73-87F2-1FE7-A6A1-C63675D13011}"/>
              </a:ext>
            </a:extLst>
          </p:cNvPr>
          <p:cNvSpPr/>
          <p:nvPr/>
        </p:nvSpPr>
        <p:spPr>
          <a:xfrm>
            <a:off x="577052" y="2291951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kern="0" spc="150" dirty="0">
                <a:solidFill>
                  <a:srgbClr val="2E86C1"/>
                </a:solidFill>
              </a:rPr>
              <a:t>PLAN B : PROJET PERSONNEL — CRÉATION D'ENTREPRISE</a:t>
            </a:r>
            <a:endParaRPr lang="fr-FR" sz="1300" dirty="0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6A0DA6DE-6522-966A-DE03-ACFF0D3262FC}"/>
              </a:ext>
            </a:extLst>
          </p:cNvPr>
          <p:cNvSpPr/>
          <p:nvPr/>
        </p:nvSpPr>
        <p:spPr>
          <a:xfrm>
            <a:off x="577052" y="2533034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400" b="1" dirty="0"/>
              <a:t>Développer Strain(+)</a:t>
            </a:r>
            <a:r>
              <a:rPr lang="fr-FR" sz="1400" b="1" dirty="0" err="1"/>
              <a:t>Lab</a:t>
            </a:r>
            <a:r>
              <a:rPr lang="fr-FR" sz="1400" b="1" dirty="0"/>
              <a:t> de manière autonome</a:t>
            </a: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B4CF58B2-859A-CF49-D02B-CBDE4ABA41E5}"/>
              </a:ext>
            </a:extLst>
          </p:cNvPr>
          <p:cNvSpPr/>
          <p:nvPr/>
        </p:nvSpPr>
        <p:spPr>
          <a:xfrm>
            <a:off x="577052" y="2787046"/>
            <a:ext cx="800540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fr-FR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fr-FR" sz="900" dirty="0">
                <a:solidFill>
                  <a:srgbClr val="5A6A7A"/>
                </a:solidFill>
              </a:rPr>
              <a:t>Poursuivre le développement de la plateforme hors cadre académique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fr-FR" sz="900" dirty="0">
                <a:solidFill>
                  <a:srgbClr val="5A6A7A"/>
                </a:solidFill>
              </a:rPr>
              <a:t>Import assisté par IA, structuration et visualisation des données biologiques pour répondre aux besoins des laboratoires et structures de recherche</a:t>
            </a:r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06CF879E-DB73-C1F7-1745-07F650C6627A}"/>
              </a:ext>
            </a:extLst>
          </p:cNvPr>
          <p:cNvSpPr/>
          <p:nvPr/>
        </p:nvSpPr>
        <p:spPr>
          <a:xfrm>
            <a:off x="7415410" y="2283787"/>
            <a:ext cx="1371600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C5B18DBF-E2A7-D76F-C480-DAA73E36724B}"/>
              </a:ext>
            </a:extLst>
          </p:cNvPr>
          <p:cNvSpPr/>
          <p:nvPr/>
        </p:nvSpPr>
        <p:spPr>
          <a:xfrm>
            <a:off x="7415410" y="2283787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dirty="0">
                <a:solidFill>
                  <a:srgbClr val="FFFFFF"/>
                </a:solidFill>
              </a:rPr>
              <a:t>Option #2</a:t>
            </a:r>
            <a:endParaRPr lang="fr-FR" sz="1000" dirty="0"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98ACD820-A66A-E51D-DC69-F19F30A9F6CC}"/>
              </a:ext>
            </a:extLst>
          </p:cNvPr>
          <p:cNvSpPr/>
          <p:nvPr/>
        </p:nvSpPr>
        <p:spPr>
          <a:xfrm>
            <a:off x="266156" y="3607636"/>
            <a:ext cx="8595360" cy="14020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34" name="Shape 17">
            <a:extLst>
              <a:ext uri="{FF2B5EF4-FFF2-40B4-BE49-F238E27FC236}">
                <a16:creationId xmlns:a16="http://schemas.microsoft.com/office/drawing/2014/main" id="{5668A13E-C8FF-7637-DAA1-7565DB15EE54}"/>
              </a:ext>
            </a:extLst>
          </p:cNvPr>
          <p:cNvSpPr/>
          <p:nvPr/>
        </p:nvSpPr>
        <p:spPr>
          <a:xfrm>
            <a:off x="266155" y="3607636"/>
            <a:ext cx="164593" cy="1389888"/>
          </a:xfrm>
          <a:prstGeom prst="rect">
            <a:avLst/>
          </a:prstGeom>
          <a:solidFill>
            <a:srgbClr val="27AE60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4E122640-840B-979B-69E3-5E37CA82C298}"/>
              </a:ext>
            </a:extLst>
          </p:cNvPr>
          <p:cNvSpPr/>
          <p:nvPr/>
        </p:nvSpPr>
        <p:spPr>
          <a:xfrm>
            <a:off x="577052" y="369907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kern="0" spc="150" dirty="0">
                <a:solidFill>
                  <a:srgbClr val="27AE60"/>
                </a:solidFill>
              </a:rPr>
              <a:t>PLAN C : RETOUR À LA RECHERCHE EN LABORATOIRE</a:t>
            </a:r>
            <a:endParaRPr lang="fr-FR" sz="1300" dirty="0"/>
          </a:p>
        </p:txBody>
      </p:sp>
      <p:sp>
        <p:nvSpPr>
          <p:cNvPr id="36" name="Text 19">
            <a:extLst>
              <a:ext uri="{FF2B5EF4-FFF2-40B4-BE49-F238E27FC236}">
                <a16:creationId xmlns:a16="http://schemas.microsoft.com/office/drawing/2014/main" id="{87DBC2C5-DEDC-36DD-0E71-8EF35ECBD91C}"/>
              </a:ext>
            </a:extLst>
          </p:cNvPr>
          <p:cNvSpPr/>
          <p:nvPr/>
        </p:nvSpPr>
        <p:spPr>
          <a:xfrm>
            <a:off x="577052" y="3917855"/>
            <a:ext cx="71672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50" b="1" dirty="0">
                <a:solidFill>
                  <a:srgbClr val="1B2A3E"/>
                </a:solidFill>
              </a:rPr>
              <a:t>Ingénieur d’étude en microbiologie — approches structurales &amp; computationnelles</a:t>
            </a:r>
            <a:endParaRPr lang="fr-FR" sz="1350" dirty="0"/>
          </a:p>
        </p:txBody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543CED91-1F25-495B-FB78-1575432F844E}"/>
              </a:ext>
            </a:extLst>
          </p:cNvPr>
          <p:cNvSpPr/>
          <p:nvPr/>
        </p:nvSpPr>
        <p:spPr>
          <a:xfrm>
            <a:off x="503900" y="432707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fr-FR" sz="900" dirty="0">
                <a:solidFill>
                  <a:srgbClr val="5A6A7A"/>
                </a:solidFill>
              </a:rPr>
              <a:t>Valoriser les deux masters (biologie / biochimie) et l'expérience terrain acquise en laboratoire de microbiologie</a:t>
            </a:r>
            <a:endParaRPr lang="fr-FR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fr-FR" sz="900" dirty="0">
                <a:solidFill>
                  <a:srgbClr val="5A6A7A"/>
                </a:solidFill>
              </a:rPr>
              <a:t>Contribuer au développement de nouvelles approches structurales et computationnelle en recherche fondamentale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fr-FR" sz="900" dirty="0">
                <a:solidFill>
                  <a:srgbClr val="5A6A7A"/>
                </a:solidFill>
              </a:rPr>
              <a:t>Profil hybride  : biologiste + biologie computationnelle — Prédire, comprendre et trouver de nouvelles pistes thérapeutiques</a:t>
            </a:r>
          </a:p>
        </p:txBody>
      </p:sp>
      <p:sp>
        <p:nvSpPr>
          <p:cNvPr id="38" name="Shape 21">
            <a:extLst>
              <a:ext uri="{FF2B5EF4-FFF2-40B4-BE49-F238E27FC236}">
                <a16:creationId xmlns:a16="http://schemas.microsoft.com/office/drawing/2014/main" id="{C57C0892-E864-AFE2-3D33-0792D5263FD5}"/>
              </a:ext>
            </a:extLst>
          </p:cNvPr>
          <p:cNvSpPr/>
          <p:nvPr/>
        </p:nvSpPr>
        <p:spPr>
          <a:xfrm>
            <a:off x="7415410" y="3691963"/>
            <a:ext cx="1371600" cy="34747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9" name="Text 22">
            <a:extLst>
              <a:ext uri="{FF2B5EF4-FFF2-40B4-BE49-F238E27FC236}">
                <a16:creationId xmlns:a16="http://schemas.microsoft.com/office/drawing/2014/main" id="{5F72AA3C-7989-8D96-D3D1-5A589DBE09EB}"/>
              </a:ext>
            </a:extLst>
          </p:cNvPr>
          <p:cNvSpPr/>
          <p:nvPr/>
        </p:nvSpPr>
        <p:spPr>
          <a:xfrm>
            <a:off x="7415410" y="3691963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dirty="0">
                <a:solidFill>
                  <a:srgbClr val="FFFFFF"/>
                </a:solidFill>
              </a:rPr>
              <a:t>Option #3</a:t>
            </a:r>
            <a:endParaRPr lang="fr-FR" sz="1000" dirty="0"/>
          </a:p>
        </p:txBody>
      </p:sp>
    </p:spTree>
    <p:extLst>
      <p:ext uri="{BB962C8B-B14F-4D97-AF65-F5344CB8AC3E}">
        <p14:creationId xmlns:p14="http://schemas.microsoft.com/office/powerpoint/2010/main" val="1808992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2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160E8E-8679-122E-5009-F11ED58F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 descr="img1.png">
            <a:extLst>
              <a:ext uri="{FF2B5EF4-FFF2-40B4-BE49-F238E27FC236}">
                <a16:creationId xmlns:a16="http://schemas.microsoft.com/office/drawing/2014/main" id="{237CEF15-EB61-2EB4-DB8A-93A289D6E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904" y="2119008"/>
            <a:ext cx="1500187" cy="1500187"/>
          </a:xfrm>
          <a:prstGeom prst="rect">
            <a:avLst/>
          </a:prstGeom>
        </p:spPr>
      </p:pic>
      <p:pic>
        <p:nvPicPr>
          <p:cNvPr id="3" name="Picture 4" descr="img2.png">
            <a:extLst>
              <a:ext uri="{FF2B5EF4-FFF2-40B4-BE49-F238E27FC236}">
                <a16:creationId xmlns:a16="http://schemas.microsoft.com/office/drawing/2014/main" id="{B3A4895A-79F0-C63B-63CB-B1E4469C55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8248" y="868852"/>
            <a:ext cx="1571625" cy="157162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80CC0CBC-FDAB-BBC8-44CD-C63BF3A5434A}"/>
              </a:ext>
            </a:extLst>
          </p:cNvPr>
          <p:cNvSpPr txBox="1"/>
          <p:nvPr/>
        </p:nvSpPr>
        <p:spPr>
          <a:xfrm>
            <a:off x="230748" y="1124535"/>
            <a:ext cx="282570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300" b="1" noProof="0" dirty="0">
                <a:solidFill>
                  <a:srgbClr val="0EA5E9"/>
                </a:solidFill>
                <a:latin typeface="Calibri"/>
              </a:rPr>
              <a:t>Double culture biologie/informatique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0D9B1E68-8A83-1B94-2363-2CC8EB68D46D}"/>
              </a:ext>
            </a:extLst>
          </p:cNvPr>
          <p:cNvSpPr txBox="1"/>
          <p:nvPr/>
        </p:nvSpPr>
        <p:spPr>
          <a:xfrm>
            <a:off x="651164" y="1496539"/>
            <a:ext cx="2134881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q"/>
            </a:pPr>
            <a:r>
              <a:rPr lang="fr-FR" sz="900" b="0" noProof="0" dirty="0">
                <a:latin typeface="Calibri"/>
              </a:rPr>
              <a:t>Comprendre les données scientifiques </a:t>
            </a:r>
            <a:r>
              <a:rPr lang="fr-FR" sz="900" noProof="0" dirty="0">
                <a:latin typeface="Calibri"/>
              </a:rPr>
              <a:t>et</a:t>
            </a:r>
            <a:r>
              <a:rPr lang="fr-FR" sz="900" b="0" noProof="0" dirty="0">
                <a:latin typeface="Calibri"/>
              </a:rPr>
              <a:t> les coder : un atout rare que peu de profils maîtrisent des deux côtés.</a:t>
            </a:r>
          </a:p>
        </p:txBody>
      </p:sp>
      <p:pic>
        <p:nvPicPr>
          <p:cNvPr id="6" name="Picture 7" descr="img3.png">
            <a:extLst>
              <a:ext uri="{FF2B5EF4-FFF2-40B4-BE49-F238E27FC236}">
                <a16:creationId xmlns:a16="http://schemas.microsoft.com/office/drawing/2014/main" id="{174DCAC2-228D-C468-F982-9CE3B54E3F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9873" y="868852"/>
            <a:ext cx="1571625" cy="1571625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41951D2E-59F4-8609-D38D-6529424DA1E3}"/>
              </a:ext>
            </a:extLst>
          </p:cNvPr>
          <p:cNvSpPr txBox="1"/>
          <p:nvPr/>
        </p:nvSpPr>
        <p:spPr>
          <a:xfrm>
            <a:off x="6346664" y="1155188"/>
            <a:ext cx="266353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300" b="1" noProof="0" dirty="0">
                <a:solidFill>
                  <a:srgbClr val="3B82F6"/>
                </a:solidFill>
                <a:latin typeface="Calibri"/>
              </a:rPr>
              <a:t>Interface chercheurs / développeurs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B8109013-DB14-8170-877D-EA8D42443503}"/>
              </a:ext>
            </a:extLst>
          </p:cNvPr>
          <p:cNvSpPr txBox="1"/>
          <p:nvPr/>
        </p:nvSpPr>
        <p:spPr>
          <a:xfrm>
            <a:off x="6346664" y="1477681"/>
            <a:ext cx="20002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q"/>
            </a:pPr>
            <a:r>
              <a:rPr lang="fr-FR" sz="900" b="0" noProof="0" dirty="0">
                <a:latin typeface="Calibri"/>
              </a:rPr>
              <a:t>Capacité à traduire les besoins d’un </a:t>
            </a:r>
            <a:r>
              <a:rPr lang="fr-FR" sz="900" dirty="0">
                <a:latin typeface="Calibri"/>
              </a:rPr>
              <a:t>biologiste</a:t>
            </a:r>
            <a:r>
              <a:rPr lang="fr-FR" sz="900" b="0" noProof="0" dirty="0">
                <a:latin typeface="Calibri"/>
              </a:rPr>
              <a:t> en spécifications techniques et inversement.</a:t>
            </a:r>
          </a:p>
        </p:txBody>
      </p:sp>
      <p:pic>
        <p:nvPicPr>
          <p:cNvPr id="9" name="Picture 10" descr="img4.png">
            <a:extLst>
              <a:ext uri="{FF2B5EF4-FFF2-40B4-BE49-F238E27FC236}">
                <a16:creationId xmlns:a16="http://schemas.microsoft.com/office/drawing/2014/main" id="{61D2D276-C9E1-2315-B27C-5B465D6E88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0998" y="2190445"/>
            <a:ext cx="1571625" cy="1571625"/>
          </a:xfrm>
          <a:prstGeom prst="rect">
            <a:avLst/>
          </a:prstGeom>
        </p:spPr>
      </p:pic>
      <p:sp>
        <p:nvSpPr>
          <p:cNvPr id="10" name="TextBox 11">
            <a:extLst>
              <a:ext uri="{FF2B5EF4-FFF2-40B4-BE49-F238E27FC236}">
                <a16:creationId xmlns:a16="http://schemas.microsoft.com/office/drawing/2014/main" id="{7E571269-D563-E076-ABEA-29346F3370D6}"/>
              </a:ext>
            </a:extLst>
          </p:cNvPr>
          <p:cNvSpPr txBox="1"/>
          <p:nvPr/>
        </p:nvSpPr>
        <p:spPr>
          <a:xfrm>
            <a:off x="230748" y="2539864"/>
            <a:ext cx="189309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300" b="1" noProof="0" dirty="0">
                <a:solidFill>
                  <a:srgbClr val="8B5CF6"/>
                </a:solidFill>
                <a:latin typeface="Calibri"/>
              </a:rPr>
              <a:t>Rigueur scientifique</a:t>
            </a: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F1FFF863-F2F6-2A87-6AF5-EACA73C85658}"/>
              </a:ext>
            </a:extLst>
          </p:cNvPr>
          <p:cNvSpPr txBox="1"/>
          <p:nvPr/>
        </p:nvSpPr>
        <p:spPr>
          <a:xfrm>
            <a:off x="123592" y="2812818"/>
            <a:ext cx="2000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q"/>
            </a:pPr>
            <a:r>
              <a:rPr lang="fr-FR" sz="900" b="0" noProof="0" dirty="0">
                <a:latin typeface="Calibri"/>
              </a:rPr>
              <a:t>Apprise en laboratoire sur 10 ans : validation des données, traçabilité, reproductibilité — transposées au développement.</a:t>
            </a:r>
          </a:p>
        </p:txBody>
      </p:sp>
      <p:pic>
        <p:nvPicPr>
          <p:cNvPr id="12" name="Picture 13" descr="img5.png">
            <a:extLst>
              <a:ext uri="{FF2B5EF4-FFF2-40B4-BE49-F238E27FC236}">
                <a16:creationId xmlns:a16="http://schemas.microsoft.com/office/drawing/2014/main" id="{C86AD099-8E62-5C4A-43B4-2328F4554A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1373" y="2190445"/>
            <a:ext cx="1571625" cy="1571625"/>
          </a:xfrm>
          <a:prstGeom prst="rect">
            <a:avLst/>
          </a:prstGeom>
        </p:spPr>
      </p:pic>
      <p:sp>
        <p:nvSpPr>
          <p:cNvPr id="13" name="TextBox 14">
            <a:extLst>
              <a:ext uri="{FF2B5EF4-FFF2-40B4-BE49-F238E27FC236}">
                <a16:creationId xmlns:a16="http://schemas.microsoft.com/office/drawing/2014/main" id="{A9DAE9A0-E6DF-D22A-B8BF-FE95CECD6299}"/>
              </a:ext>
            </a:extLst>
          </p:cNvPr>
          <p:cNvSpPr txBox="1"/>
          <p:nvPr/>
        </p:nvSpPr>
        <p:spPr>
          <a:xfrm>
            <a:off x="6882446" y="2477557"/>
            <a:ext cx="2000250" cy="321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300" b="1" noProof="0" dirty="0">
                <a:solidFill>
                  <a:srgbClr val="F59E0B"/>
                </a:solidFill>
                <a:latin typeface="Calibri"/>
              </a:rPr>
              <a:t>Structuration des données</a:t>
            </a:r>
          </a:p>
        </p:txBody>
      </p:sp>
      <p:sp>
        <p:nvSpPr>
          <p:cNvPr id="14" name="TextBox 15">
            <a:extLst>
              <a:ext uri="{FF2B5EF4-FFF2-40B4-BE49-F238E27FC236}">
                <a16:creationId xmlns:a16="http://schemas.microsoft.com/office/drawing/2014/main" id="{94C30465-33C8-DF5A-06FE-A69E50087A15}"/>
              </a:ext>
            </a:extLst>
          </p:cNvPr>
          <p:cNvSpPr txBox="1"/>
          <p:nvPr/>
        </p:nvSpPr>
        <p:spPr>
          <a:xfrm>
            <a:off x="6882446" y="2741592"/>
            <a:ext cx="18930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q"/>
            </a:pPr>
            <a:r>
              <a:rPr lang="fr-FR" sz="900" b="0" noProof="0" dirty="0">
                <a:latin typeface="Calibri"/>
              </a:rPr>
              <a:t>Conception de schémas relationnels, pipelines ETL/IA et bases de données biologiques complexes.</a:t>
            </a:r>
          </a:p>
        </p:txBody>
      </p:sp>
      <p:pic>
        <p:nvPicPr>
          <p:cNvPr id="15" name="Picture 16" descr="img6.png">
            <a:extLst>
              <a:ext uri="{FF2B5EF4-FFF2-40B4-BE49-F238E27FC236}">
                <a16:creationId xmlns:a16="http://schemas.microsoft.com/office/drawing/2014/main" id="{74B04C27-370D-D9F9-C246-E1DEDA5DF9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8248" y="3383452"/>
            <a:ext cx="1500187" cy="1500187"/>
          </a:xfrm>
          <a:prstGeom prst="rect">
            <a:avLst/>
          </a:prstGeom>
        </p:spPr>
      </p:pic>
      <p:sp>
        <p:nvSpPr>
          <p:cNvPr id="16" name="TextBox 17">
            <a:extLst>
              <a:ext uri="{FF2B5EF4-FFF2-40B4-BE49-F238E27FC236}">
                <a16:creationId xmlns:a16="http://schemas.microsoft.com/office/drawing/2014/main" id="{DD291925-0D94-6BDE-FA58-7AAA0A3D042E}"/>
              </a:ext>
            </a:extLst>
          </p:cNvPr>
          <p:cNvSpPr txBox="1"/>
          <p:nvPr/>
        </p:nvSpPr>
        <p:spPr>
          <a:xfrm>
            <a:off x="961576" y="3758921"/>
            <a:ext cx="2000250" cy="321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300" b="1" noProof="0" dirty="0">
                <a:solidFill>
                  <a:srgbClr val="10B981"/>
                </a:solidFill>
                <a:latin typeface="Calibri"/>
              </a:rPr>
              <a:t>Apprentissage autonome</a:t>
            </a:r>
          </a:p>
        </p:txBody>
      </p:sp>
      <p:sp>
        <p:nvSpPr>
          <p:cNvPr id="17" name="TextBox 18">
            <a:extLst>
              <a:ext uri="{FF2B5EF4-FFF2-40B4-BE49-F238E27FC236}">
                <a16:creationId xmlns:a16="http://schemas.microsoft.com/office/drawing/2014/main" id="{552131E5-B315-873F-F281-3895F0D30266}"/>
              </a:ext>
            </a:extLst>
          </p:cNvPr>
          <p:cNvSpPr txBox="1"/>
          <p:nvPr/>
        </p:nvSpPr>
        <p:spPr>
          <a:xfrm>
            <a:off x="961576" y="4094677"/>
            <a:ext cx="20002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q"/>
            </a:pPr>
            <a:r>
              <a:rPr lang="fr-FR" sz="900" b="0" noProof="0" dirty="0" err="1">
                <a:latin typeface="Calibri"/>
              </a:rPr>
              <a:t>FastAPI</a:t>
            </a:r>
            <a:r>
              <a:rPr lang="fr-FR" sz="900" b="0" noProof="0" dirty="0">
                <a:latin typeface="Calibri"/>
              </a:rPr>
              <a:t>, </a:t>
            </a:r>
            <a:r>
              <a:rPr lang="fr-FR" sz="900" b="0" noProof="0" dirty="0" err="1">
                <a:latin typeface="Calibri"/>
              </a:rPr>
              <a:t>LangChain</a:t>
            </a:r>
            <a:r>
              <a:rPr lang="fr-FR" sz="900" b="0" noProof="0" dirty="0">
                <a:latin typeface="Calibri"/>
              </a:rPr>
              <a:t>, </a:t>
            </a:r>
            <a:r>
              <a:rPr lang="fr-FR" sz="900" b="0" noProof="0" dirty="0" err="1">
                <a:latin typeface="Calibri"/>
              </a:rPr>
              <a:t>Pydantic</a:t>
            </a:r>
            <a:r>
              <a:rPr lang="fr-FR" sz="900" b="0" noProof="0" dirty="0">
                <a:latin typeface="Calibri"/>
              </a:rPr>
              <a:t> AI, </a:t>
            </a:r>
            <a:r>
              <a:rPr lang="fr-FR" sz="900" b="0" noProof="0" dirty="0" err="1">
                <a:latin typeface="Calibri"/>
              </a:rPr>
              <a:t>SQLModel</a:t>
            </a:r>
            <a:r>
              <a:rPr lang="fr-FR" sz="900" b="0" noProof="0" dirty="0">
                <a:latin typeface="Calibri"/>
              </a:rPr>
              <a:t>, </a:t>
            </a:r>
            <a:r>
              <a:rPr lang="fr-FR" sz="900" b="0" noProof="0" dirty="0" err="1">
                <a:latin typeface="Calibri"/>
              </a:rPr>
              <a:t>Alembic</a:t>
            </a:r>
            <a:r>
              <a:rPr lang="fr-FR" sz="900" b="0" noProof="0" dirty="0">
                <a:latin typeface="Calibri"/>
              </a:rPr>
              <a:t> — appris en autonomie sur projet réel</a:t>
            </a:r>
            <a:r>
              <a:rPr lang="fr-FR" sz="900" b="0" noProof="0" dirty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pic>
        <p:nvPicPr>
          <p:cNvPr id="18" name="Picture 19" descr="img7.png">
            <a:extLst>
              <a:ext uri="{FF2B5EF4-FFF2-40B4-BE49-F238E27FC236}">
                <a16:creationId xmlns:a16="http://schemas.microsoft.com/office/drawing/2014/main" id="{6EC6A5E8-FDDB-1EBB-C21F-393764272D3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73" y="3383452"/>
            <a:ext cx="1500187" cy="1500187"/>
          </a:xfrm>
          <a:prstGeom prst="rect">
            <a:avLst/>
          </a:prstGeom>
        </p:spPr>
      </p:pic>
      <p:sp>
        <p:nvSpPr>
          <p:cNvPr id="19" name="TextBox 20">
            <a:extLst>
              <a:ext uri="{FF2B5EF4-FFF2-40B4-BE49-F238E27FC236}">
                <a16:creationId xmlns:a16="http://schemas.microsoft.com/office/drawing/2014/main" id="{1698A4D5-800F-B831-0F0E-25FB55D12F9F}"/>
              </a:ext>
            </a:extLst>
          </p:cNvPr>
          <p:cNvSpPr txBox="1"/>
          <p:nvPr/>
        </p:nvSpPr>
        <p:spPr>
          <a:xfrm>
            <a:off x="6346665" y="3797789"/>
            <a:ext cx="2000250" cy="321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300" b="1" noProof="0" dirty="0">
                <a:solidFill>
                  <a:srgbClr val="06B6D4"/>
                </a:solidFill>
                <a:latin typeface="Calibri"/>
              </a:rPr>
              <a:t>Équipe interdisciplinaire</a:t>
            </a:r>
          </a:p>
        </p:txBody>
      </p:sp>
      <p:sp>
        <p:nvSpPr>
          <p:cNvPr id="20" name="TextBox 21">
            <a:extLst>
              <a:ext uri="{FF2B5EF4-FFF2-40B4-BE49-F238E27FC236}">
                <a16:creationId xmlns:a16="http://schemas.microsoft.com/office/drawing/2014/main" id="{AA8611AF-5166-7306-148C-4B97E1AF006B}"/>
              </a:ext>
            </a:extLst>
          </p:cNvPr>
          <p:cNvSpPr txBox="1"/>
          <p:nvPr/>
        </p:nvSpPr>
        <p:spPr>
          <a:xfrm>
            <a:off x="6346665" y="4133545"/>
            <a:ext cx="1835759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q"/>
            </a:pPr>
            <a:r>
              <a:rPr lang="fr-FR" sz="900" b="0" noProof="0" dirty="0">
                <a:latin typeface="Calibri"/>
              </a:rPr>
              <a:t>Collaboration quotidienne avec chercheurs, ingénieurs et enseignants-chercheurs.</a:t>
            </a:r>
          </a:p>
        </p:txBody>
      </p:sp>
      <p:sp>
        <p:nvSpPr>
          <p:cNvPr id="78" name="Shape 0">
            <a:extLst>
              <a:ext uri="{FF2B5EF4-FFF2-40B4-BE49-F238E27FC236}">
                <a16:creationId xmlns:a16="http://schemas.microsoft.com/office/drawing/2014/main" id="{03C8F9A3-B607-5D53-ECBF-4109ED6CE181}"/>
              </a:ext>
            </a:extLst>
          </p:cNvPr>
          <p:cNvSpPr/>
          <p:nvPr/>
        </p:nvSpPr>
        <p:spPr>
          <a:xfrm>
            <a:off x="0" y="8389"/>
            <a:ext cx="9144000" cy="60157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79" name="Text 0">
            <a:extLst>
              <a:ext uri="{FF2B5EF4-FFF2-40B4-BE49-F238E27FC236}">
                <a16:creationId xmlns:a16="http://schemas.microsoft.com/office/drawing/2014/main" id="{DC7991CA-BEED-91BC-7BA3-170D94FED44C}"/>
              </a:ext>
            </a:extLst>
          </p:cNvPr>
          <p:cNvSpPr/>
          <p:nvPr/>
        </p:nvSpPr>
        <p:spPr>
          <a:xfrm>
            <a:off x="320040" y="92964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2000" b="1" noProof="0" dirty="0">
                <a:solidFill>
                  <a:schemeClr val="bg1"/>
                </a:solidFill>
              </a:rPr>
              <a:t>06 — </a:t>
            </a:r>
            <a:r>
              <a:rPr lang="fr-FR" sz="2000" b="1" dirty="0">
                <a:solidFill>
                  <a:schemeClr val="bg1"/>
                </a:solidFill>
              </a:rPr>
              <a:t>Compétences clés pour les données scientifiques</a:t>
            </a:r>
          </a:p>
        </p:txBody>
      </p:sp>
    </p:spTree>
    <p:extLst>
      <p:ext uri="{BB962C8B-B14F-4D97-AF65-F5344CB8AC3E}">
        <p14:creationId xmlns:p14="http://schemas.microsoft.com/office/powerpoint/2010/main" val="1765033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CA907A-3445-2B72-1D47-D04FC01A09E0}"/>
              </a:ext>
            </a:extLst>
          </p:cNvPr>
          <p:cNvSpPr txBox="1"/>
          <p:nvPr/>
        </p:nvSpPr>
        <p:spPr>
          <a:xfrm>
            <a:off x="201168" y="18288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7200" b="1" noProof="0" dirty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B6CF77-CD4F-6170-0C58-51254D6F306F}"/>
              </a:ext>
            </a:extLst>
          </p:cNvPr>
          <p:cNvSpPr txBox="1"/>
          <p:nvPr/>
        </p:nvSpPr>
        <p:spPr>
          <a:xfrm>
            <a:off x="201168" y="1188720"/>
            <a:ext cx="23065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noProof="0" dirty="0">
                <a:solidFill>
                  <a:schemeClr val="bg1"/>
                </a:solidFill>
                <a:latin typeface="Calibri"/>
              </a:rPr>
              <a:t>Les contraintes</a:t>
            </a:r>
          </a:p>
          <a:p>
            <a:r>
              <a:rPr lang="fr-FR" sz="1800" b="1" noProof="0" dirty="0">
                <a:solidFill>
                  <a:schemeClr val="bg1"/>
                </a:solidFill>
                <a:latin typeface="Calibri"/>
              </a:rPr>
              <a:t>&amp; réalités du métier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FAAF46-074C-B88F-A21B-F6E534F6AD84}"/>
              </a:ext>
            </a:extLst>
          </p:cNvPr>
          <p:cNvSpPr/>
          <p:nvPr/>
        </p:nvSpPr>
        <p:spPr>
          <a:xfrm>
            <a:off x="2807208" y="318087"/>
            <a:ext cx="1901952" cy="2176272"/>
          </a:xfrm>
          <a:prstGeom prst="rect">
            <a:avLst/>
          </a:prstGeom>
          <a:solidFill>
            <a:srgbClr val="F0F9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5182AF-6256-0504-308D-AAF51DEFB481}"/>
              </a:ext>
            </a:extLst>
          </p:cNvPr>
          <p:cNvSpPr/>
          <p:nvPr/>
        </p:nvSpPr>
        <p:spPr>
          <a:xfrm>
            <a:off x="2807208" y="318087"/>
            <a:ext cx="1901952" cy="5029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A255A0-A5AA-13E1-ADC7-051A414509CD}"/>
              </a:ext>
            </a:extLst>
          </p:cNvPr>
          <p:cNvSpPr/>
          <p:nvPr/>
        </p:nvSpPr>
        <p:spPr>
          <a:xfrm>
            <a:off x="4361688" y="377523"/>
            <a:ext cx="274320" cy="20116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A13A4B-A68F-47F6-D8AA-1374E337D647}"/>
              </a:ext>
            </a:extLst>
          </p:cNvPr>
          <p:cNvSpPr txBox="1"/>
          <p:nvPr/>
        </p:nvSpPr>
        <p:spPr>
          <a:xfrm>
            <a:off x="4361688" y="377523"/>
            <a:ext cx="274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750" b="1" noProof="0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pic>
        <p:nvPicPr>
          <p:cNvPr id="12" name="Picture 11" descr="icon1.png">
            <a:extLst>
              <a:ext uri="{FF2B5EF4-FFF2-40B4-BE49-F238E27FC236}">
                <a16:creationId xmlns:a16="http://schemas.microsoft.com/office/drawing/2014/main" id="{2500D951-3532-4905-FCAF-107C0EE2F2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936" y="409527"/>
            <a:ext cx="347472" cy="3474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ED8E49F-D9AB-74C1-924D-0AA8A80F91BF}"/>
              </a:ext>
            </a:extLst>
          </p:cNvPr>
          <p:cNvSpPr txBox="1"/>
          <p:nvPr/>
        </p:nvSpPr>
        <p:spPr>
          <a:xfrm>
            <a:off x="2898648" y="793575"/>
            <a:ext cx="17190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050" b="1" noProof="0" dirty="0">
                <a:solidFill>
                  <a:srgbClr val="0EA5E9"/>
                </a:solidFill>
                <a:latin typeface="Calibri"/>
              </a:rPr>
              <a:t>Données complexes &amp; hétérogènes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A51272-B93D-748A-B73D-EC7BA3A319E4}"/>
              </a:ext>
            </a:extLst>
          </p:cNvPr>
          <p:cNvSpPr txBox="1"/>
          <p:nvPr/>
        </p:nvSpPr>
        <p:spPr>
          <a:xfrm>
            <a:off x="2898648" y="1433655"/>
            <a:ext cx="171907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850" noProof="0" dirty="0">
                <a:solidFill>
                  <a:srgbClr val="334155"/>
                </a:solidFill>
                <a:latin typeface="Calibri"/>
              </a:rPr>
              <a:t>Les données biologiques sont rarement propres : colonnes fourre-tout, formats inconsistants, vocabulaire non standardisé. Structurer demande rigueur et patience.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8AE9BD-2D5F-8EC6-D44A-A2E334A4C17F}"/>
              </a:ext>
            </a:extLst>
          </p:cNvPr>
          <p:cNvSpPr/>
          <p:nvPr/>
        </p:nvSpPr>
        <p:spPr>
          <a:xfrm>
            <a:off x="4791456" y="318087"/>
            <a:ext cx="1901952" cy="21762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05C77B-05CA-0CC6-2C2F-E14B4584DA10}"/>
              </a:ext>
            </a:extLst>
          </p:cNvPr>
          <p:cNvSpPr/>
          <p:nvPr/>
        </p:nvSpPr>
        <p:spPr>
          <a:xfrm>
            <a:off x="4791456" y="318087"/>
            <a:ext cx="1901952" cy="502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F4AA1CC-ECFD-4144-729F-20B09CE74310}"/>
              </a:ext>
            </a:extLst>
          </p:cNvPr>
          <p:cNvSpPr/>
          <p:nvPr/>
        </p:nvSpPr>
        <p:spPr>
          <a:xfrm>
            <a:off x="6345936" y="377523"/>
            <a:ext cx="274320" cy="2011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984F92-8C07-BA47-0480-69ED7E30F7EE}"/>
              </a:ext>
            </a:extLst>
          </p:cNvPr>
          <p:cNvSpPr txBox="1"/>
          <p:nvPr/>
        </p:nvSpPr>
        <p:spPr>
          <a:xfrm>
            <a:off x="6345936" y="377523"/>
            <a:ext cx="274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750" b="1" noProof="0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pic>
        <p:nvPicPr>
          <p:cNvPr id="19" name="Picture 18" descr="icon2.png">
            <a:extLst>
              <a:ext uri="{FF2B5EF4-FFF2-40B4-BE49-F238E27FC236}">
                <a16:creationId xmlns:a16="http://schemas.microsoft.com/office/drawing/2014/main" id="{E6C47238-D3BB-3100-8068-01C7D152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184" y="409527"/>
            <a:ext cx="347472" cy="34747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732F265-A52A-56FA-4E2F-B002DEC77358}"/>
              </a:ext>
            </a:extLst>
          </p:cNvPr>
          <p:cNvSpPr txBox="1"/>
          <p:nvPr/>
        </p:nvSpPr>
        <p:spPr>
          <a:xfrm>
            <a:off x="4882895" y="793575"/>
            <a:ext cx="17190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050" b="1" noProof="0" dirty="0">
                <a:solidFill>
                  <a:srgbClr val="3B82F6"/>
                </a:solidFill>
                <a:latin typeface="Calibri"/>
              </a:rPr>
              <a:t>Veille technologique permanente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16035F-9D30-C533-A157-BDFAA69A25F2}"/>
              </a:ext>
            </a:extLst>
          </p:cNvPr>
          <p:cNvSpPr txBox="1"/>
          <p:nvPr/>
        </p:nvSpPr>
        <p:spPr>
          <a:xfrm>
            <a:off x="4882895" y="1433655"/>
            <a:ext cx="171907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850" noProof="0" dirty="0">
                <a:solidFill>
                  <a:srgbClr val="334155"/>
                </a:solidFill>
                <a:latin typeface="Calibri"/>
              </a:rPr>
              <a:t>L'IA appliquée aux sciences du vivant évolue très vite (</a:t>
            </a:r>
            <a:r>
              <a:rPr lang="fr-FR" sz="850" noProof="0" dirty="0" err="1">
                <a:solidFill>
                  <a:srgbClr val="334155"/>
                </a:solidFill>
                <a:latin typeface="Calibri"/>
              </a:rPr>
              <a:t>LLMs</a:t>
            </a:r>
            <a:r>
              <a:rPr lang="fr-FR" sz="850" noProof="0" dirty="0">
                <a:solidFill>
                  <a:srgbClr val="334155"/>
                </a:solidFill>
                <a:latin typeface="Calibri"/>
              </a:rPr>
              <a:t>, agents, </a:t>
            </a:r>
            <a:r>
              <a:rPr lang="fr-FR" sz="850" noProof="0" dirty="0" err="1">
                <a:solidFill>
                  <a:srgbClr val="334155"/>
                </a:solidFill>
                <a:latin typeface="Calibri"/>
              </a:rPr>
              <a:t>embeddings</a:t>
            </a:r>
            <a:r>
              <a:rPr lang="fr-FR" sz="850" noProof="0" dirty="0">
                <a:solidFill>
                  <a:srgbClr val="334155"/>
                </a:solidFill>
                <a:latin typeface="Calibri"/>
              </a:rPr>
              <a:t>). Rester à jour est une obligation, pas un choix.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4ADDFE3-8E87-9BE5-A312-876EADF5F66C}"/>
              </a:ext>
            </a:extLst>
          </p:cNvPr>
          <p:cNvSpPr/>
          <p:nvPr/>
        </p:nvSpPr>
        <p:spPr>
          <a:xfrm>
            <a:off x="6775704" y="318087"/>
            <a:ext cx="1901952" cy="2176272"/>
          </a:xfrm>
          <a:prstGeom prst="rect">
            <a:avLst/>
          </a:prstGeom>
          <a:solidFill>
            <a:srgbClr val="FFFBE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91B2E82-B373-F5D3-6F75-EBD1475876F7}"/>
              </a:ext>
            </a:extLst>
          </p:cNvPr>
          <p:cNvSpPr/>
          <p:nvPr/>
        </p:nvSpPr>
        <p:spPr>
          <a:xfrm>
            <a:off x="6775704" y="318087"/>
            <a:ext cx="1901952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7C0E1BD-4A04-A577-80C4-76B7F1D7766C}"/>
              </a:ext>
            </a:extLst>
          </p:cNvPr>
          <p:cNvSpPr/>
          <p:nvPr/>
        </p:nvSpPr>
        <p:spPr>
          <a:xfrm>
            <a:off x="8330183" y="377523"/>
            <a:ext cx="274320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909AED-AEFA-DF0D-F496-82BC96F13F00}"/>
              </a:ext>
            </a:extLst>
          </p:cNvPr>
          <p:cNvSpPr txBox="1"/>
          <p:nvPr/>
        </p:nvSpPr>
        <p:spPr>
          <a:xfrm>
            <a:off x="8330183" y="377523"/>
            <a:ext cx="274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750" b="1" noProof="0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pic>
        <p:nvPicPr>
          <p:cNvPr id="26" name="Picture 25" descr="icon3.png">
            <a:extLst>
              <a:ext uri="{FF2B5EF4-FFF2-40B4-BE49-F238E27FC236}">
                <a16:creationId xmlns:a16="http://schemas.microsoft.com/office/drawing/2014/main" id="{6A23E025-01D3-F21E-07D7-48A6F8B13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5432" y="409527"/>
            <a:ext cx="347472" cy="34747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C7BD95F-19E8-ACBE-3980-156CCCFA47E9}"/>
              </a:ext>
            </a:extLst>
          </p:cNvPr>
          <p:cNvSpPr txBox="1"/>
          <p:nvPr/>
        </p:nvSpPr>
        <p:spPr>
          <a:xfrm>
            <a:off x="6867143" y="793575"/>
            <a:ext cx="17190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050" b="1" noProof="0" dirty="0">
                <a:solidFill>
                  <a:srgbClr val="F59E0B"/>
                </a:solidFill>
                <a:latin typeface="Calibri"/>
              </a:rPr>
              <a:t>Équilibre besoins scientifiques / contraintes techniques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932FC7-2E72-C359-5753-82C2FDD99986}"/>
              </a:ext>
            </a:extLst>
          </p:cNvPr>
          <p:cNvSpPr txBox="1"/>
          <p:nvPr/>
        </p:nvSpPr>
        <p:spPr>
          <a:xfrm>
            <a:off x="6867143" y="1433655"/>
            <a:ext cx="171907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850" noProof="0" dirty="0">
                <a:solidFill>
                  <a:srgbClr val="334155"/>
                </a:solidFill>
                <a:latin typeface="Calibri"/>
              </a:rPr>
              <a:t>Les chercheurs ont des attentes parfois contradictoires avec les contraintes système. Trouver le bon compromis demande diplomatie et expérience.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D27B77-E521-C048-6898-34D4D7F4D490}"/>
              </a:ext>
            </a:extLst>
          </p:cNvPr>
          <p:cNvSpPr/>
          <p:nvPr/>
        </p:nvSpPr>
        <p:spPr>
          <a:xfrm>
            <a:off x="2807208" y="2658951"/>
            <a:ext cx="1901952" cy="2176272"/>
          </a:xfrm>
          <a:prstGeom prst="rect">
            <a:avLst/>
          </a:prstGeom>
          <a:solidFill>
            <a:srgbClr val="F5F3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0604853-F332-CC86-DBCB-69C908B39BDA}"/>
              </a:ext>
            </a:extLst>
          </p:cNvPr>
          <p:cNvSpPr/>
          <p:nvPr/>
        </p:nvSpPr>
        <p:spPr>
          <a:xfrm>
            <a:off x="2807208" y="2658951"/>
            <a:ext cx="1901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45FD03A-02CA-C417-32CB-89F0B5F1525D}"/>
              </a:ext>
            </a:extLst>
          </p:cNvPr>
          <p:cNvSpPr/>
          <p:nvPr/>
        </p:nvSpPr>
        <p:spPr>
          <a:xfrm>
            <a:off x="4361688" y="2718387"/>
            <a:ext cx="274320" cy="2011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656C23-63BB-4C3A-A56D-86A4791D9BEF}"/>
              </a:ext>
            </a:extLst>
          </p:cNvPr>
          <p:cNvSpPr txBox="1"/>
          <p:nvPr/>
        </p:nvSpPr>
        <p:spPr>
          <a:xfrm>
            <a:off x="4361688" y="2718387"/>
            <a:ext cx="274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750" b="1" noProof="0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pic>
        <p:nvPicPr>
          <p:cNvPr id="33" name="Picture 32" descr="icon4.png">
            <a:extLst>
              <a:ext uri="{FF2B5EF4-FFF2-40B4-BE49-F238E27FC236}">
                <a16:creationId xmlns:a16="http://schemas.microsoft.com/office/drawing/2014/main" id="{C6D3EAD5-A281-49A2-01CE-72F31CB606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6936" y="2750391"/>
            <a:ext cx="347472" cy="347472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2220558-BB0C-FB70-DFD8-F1FF1444A398}"/>
              </a:ext>
            </a:extLst>
          </p:cNvPr>
          <p:cNvSpPr txBox="1"/>
          <p:nvPr/>
        </p:nvSpPr>
        <p:spPr>
          <a:xfrm>
            <a:off x="2898648" y="3134439"/>
            <a:ext cx="17190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050" b="1" noProof="0" dirty="0">
                <a:solidFill>
                  <a:srgbClr val="8B5CF6"/>
                </a:solidFill>
                <a:latin typeface="Calibri"/>
              </a:rPr>
              <a:t>Travail interdisciplinaire exigeant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3B7226-439F-A4C1-8BF8-17D75714A5A9}"/>
              </a:ext>
            </a:extLst>
          </p:cNvPr>
          <p:cNvSpPr txBox="1"/>
          <p:nvPr/>
        </p:nvSpPr>
        <p:spPr>
          <a:xfrm>
            <a:off x="2898648" y="3774519"/>
            <a:ext cx="171907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850" noProof="0" dirty="0">
                <a:solidFill>
                  <a:srgbClr val="334155"/>
                </a:solidFill>
                <a:latin typeface="Calibri"/>
              </a:rPr>
              <a:t>Collaborer avec des biologistes, </a:t>
            </a:r>
            <a:r>
              <a:rPr lang="fr-FR" sz="850" noProof="0" dirty="0" err="1">
                <a:solidFill>
                  <a:srgbClr val="334155"/>
                </a:solidFill>
                <a:latin typeface="Calibri"/>
              </a:rPr>
              <a:t>bioinformaticiens</a:t>
            </a:r>
            <a:r>
              <a:rPr lang="fr-FR" sz="850" noProof="0" dirty="0">
                <a:solidFill>
                  <a:srgbClr val="334155"/>
                </a:solidFill>
                <a:latin typeface="Calibri"/>
              </a:rPr>
              <a:t>, médecins et ingénieurs nécessite un langage commun que l'on doit construire soi-même.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51351D0-8B02-5A81-116B-0917C0C26A8A}"/>
              </a:ext>
            </a:extLst>
          </p:cNvPr>
          <p:cNvSpPr/>
          <p:nvPr/>
        </p:nvSpPr>
        <p:spPr>
          <a:xfrm>
            <a:off x="4791456" y="2658951"/>
            <a:ext cx="1901952" cy="2176272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FDA4ED7-671D-AF5A-8935-93EECEC51D55}"/>
              </a:ext>
            </a:extLst>
          </p:cNvPr>
          <p:cNvSpPr/>
          <p:nvPr/>
        </p:nvSpPr>
        <p:spPr>
          <a:xfrm>
            <a:off x="4791456" y="2658951"/>
            <a:ext cx="1901952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4ACF399-5C00-600C-301C-47528D711590}"/>
              </a:ext>
            </a:extLst>
          </p:cNvPr>
          <p:cNvSpPr/>
          <p:nvPr/>
        </p:nvSpPr>
        <p:spPr>
          <a:xfrm>
            <a:off x="6345936" y="2718387"/>
            <a:ext cx="274320" cy="2011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237E29-202F-3DFD-781B-B42DDD5583D3}"/>
              </a:ext>
            </a:extLst>
          </p:cNvPr>
          <p:cNvSpPr txBox="1"/>
          <p:nvPr/>
        </p:nvSpPr>
        <p:spPr>
          <a:xfrm>
            <a:off x="6345936" y="2718387"/>
            <a:ext cx="274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750" b="1" noProof="0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pic>
        <p:nvPicPr>
          <p:cNvPr id="40" name="Picture 39" descr="icon5.png">
            <a:extLst>
              <a:ext uri="{FF2B5EF4-FFF2-40B4-BE49-F238E27FC236}">
                <a16:creationId xmlns:a16="http://schemas.microsoft.com/office/drawing/2014/main" id="{779199FB-EAC0-46B8-2FE6-3EFF967CE4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1184" y="2750391"/>
            <a:ext cx="347472" cy="347472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08557A07-DCC6-19B5-07B5-571D752521D7}"/>
              </a:ext>
            </a:extLst>
          </p:cNvPr>
          <p:cNvSpPr txBox="1"/>
          <p:nvPr/>
        </p:nvSpPr>
        <p:spPr>
          <a:xfrm>
            <a:off x="4882895" y="3134439"/>
            <a:ext cx="17190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050" b="1" noProof="0" dirty="0">
                <a:solidFill>
                  <a:srgbClr val="10B981"/>
                </a:solidFill>
                <a:latin typeface="Calibri"/>
              </a:rPr>
              <a:t>Apprentissage continu non négociable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D3DEC7F-0277-F4BE-81FC-52BA528FEB61}"/>
              </a:ext>
            </a:extLst>
          </p:cNvPr>
          <p:cNvSpPr txBox="1"/>
          <p:nvPr/>
        </p:nvSpPr>
        <p:spPr>
          <a:xfrm>
            <a:off x="4882895" y="3774519"/>
            <a:ext cx="171907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850" noProof="0" dirty="0">
                <a:solidFill>
                  <a:srgbClr val="334155"/>
                </a:solidFill>
                <a:latin typeface="Calibri"/>
              </a:rPr>
              <a:t>Les outils, </a:t>
            </a:r>
            <a:r>
              <a:rPr lang="fr-FR" sz="850" noProof="0" dirty="0" err="1">
                <a:solidFill>
                  <a:srgbClr val="334155"/>
                </a:solidFill>
                <a:latin typeface="Calibri"/>
              </a:rPr>
              <a:t>frameworks</a:t>
            </a:r>
            <a:r>
              <a:rPr lang="fr-FR" sz="850" noProof="0" dirty="0">
                <a:solidFill>
                  <a:srgbClr val="334155"/>
                </a:solidFill>
                <a:latin typeface="Calibri"/>
              </a:rPr>
              <a:t> et pratiques évoluent. Se former en permanence fait partie intégrante du métier, même hors des heures de travail.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B61883B-C4A7-31C9-8B7F-D958C6D6E290}"/>
              </a:ext>
            </a:extLst>
          </p:cNvPr>
          <p:cNvSpPr/>
          <p:nvPr/>
        </p:nvSpPr>
        <p:spPr>
          <a:xfrm>
            <a:off x="6775704" y="2658951"/>
            <a:ext cx="1901952" cy="2176272"/>
          </a:xfrm>
          <a:prstGeom prst="rect">
            <a:avLst/>
          </a:prstGeom>
          <a:solidFill>
            <a:srgbClr val="ECFE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86D427F-48FC-B57C-2F38-4C8121AB1149}"/>
              </a:ext>
            </a:extLst>
          </p:cNvPr>
          <p:cNvSpPr/>
          <p:nvPr/>
        </p:nvSpPr>
        <p:spPr>
          <a:xfrm>
            <a:off x="6775704" y="2658951"/>
            <a:ext cx="1901952" cy="502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569DF63-2C85-24EA-AB41-45C5B884820B}"/>
              </a:ext>
            </a:extLst>
          </p:cNvPr>
          <p:cNvSpPr/>
          <p:nvPr/>
        </p:nvSpPr>
        <p:spPr>
          <a:xfrm>
            <a:off x="8330183" y="2718387"/>
            <a:ext cx="274320" cy="2011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A6C4BF-BCDA-F4BC-9EE2-8B43D4030549}"/>
              </a:ext>
            </a:extLst>
          </p:cNvPr>
          <p:cNvSpPr txBox="1"/>
          <p:nvPr/>
        </p:nvSpPr>
        <p:spPr>
          <a:xfrm>
            <a:off x="8330183" y="2718387"/>
            <a:ext cx="274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750" b="1" noProof="0" dirty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pic>
        <p:nvPicPr>
          <p:cNvPr id="47" name="Picture 46" descr="icon6.png">
            <a:extLst>
              <a:ext uri="{FF2B5EF4-FFF2-40B4-BE49-F238E27FC236}">
                <a16:creationId xmlns:a16="http://schemas.microsoft.com/office/drawing/2014/main" id="{11B29006-8AF7-B28D-944A-C2B01FABAF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5432" y="2750391"/>
            <a:ext cx="347472" cy="34747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30D63A1-384C-6DC2-4219-9F2637B9AC83}"/>
              </a:ext>
            </a:extLst>
          </p:cNvPr>
          <p:cNvSpPr txBox="1"/>
          <p:nvPr/>
        </p:nvSpPr>
        <p:spPr>
          <a:xfrm>
            <a:off x="6867143" y="3134439"/>
            <a:ext cx="17190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050" b="1" noProof="0" dirty="0">
                <a:solidFill>
                  <a:srgbClr val="06B6D4"/>
                </a:solidFill>
                <a:latin typeface="Calibri"/>
              </a:rPr>
              <a:t>Marché de niche — moins de postes visibles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7EDDBE-40DF-75AF-D57A-DE29745936A9}"/>
              </a:ext>
            </a:extLst>
          </p:cNvPr>
          <p:cNvSpPr txBox="1"/>
          <p:nvPr/>
        </p:nvSpPr>
        <p:spPr>
          <a:xfrm>
            <a:off x="6867143" y="3774519"/>
            <a:ext cx="171907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850" noProof="0" dirty="0">
                <a:solidFill>
                  <a:srgbClr val="334155"/>
                </a:solidFill>
                <a:latin typeface="Calibri"/>
              </a:rPr>
              <a:t>Les offres bio-info sont moins nombreuses que dans le web généraliste. Il faut savoir chercher (SFBI, APEC CNRS), se positionner et se démarquer.</a:t>
            </a:r>
          </a:p>
        </p:txBody>
      </p:sp>
      <p:sp>
        <p:nvSpPr>
          <p:cNvPr id="50" name="Shape 0">
            <a:extLst>
              <a:ext uri="{FF2B5EF4-FFF2-40B4-BE49-F238E27FC236}">
                <a16:creationId xmlns:a16="http://schemas.microsoft.com/office/drawing/2014/main" id="{0C03FDE9-8F9B-7212-4138-1689868EE22B}"/>
              </a:ext>
            </a:extLst>
          </p:cNvPr>
          <p:cNvSpPr/>
          <p:nvPr/>
        </p:nvSpPr>
        <p:spPr>
          <a:xfrm>
            <a:off x="0" y="13577"/>
            <a:ext cx="2267712" cy="5143500"/>
          </a:xfrm>
          <a:prstGeom prst="rect">
            <a:avLst/>
          </a:prstGeom>
          <a:solidFill>
            <a:srgbClr val="06061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51" name="TextBox 2">
            <a:extLst>
              <a:ext uri="{FF2B5EF4-FFF2-40B4-BE49-F238E27FC236}">
                <a16:creationId xmlns:a16="http://schemas.microsoft.com/office/drawing/2014/main" id="{30DBEC40-B8B8-F8E6-D2ED-E8A6A99F4C65}"/>
              </a:ext>
            </a:extLst>
          </p:cNvPr>
          <p:cNvSpPr txBox="1"/>
          <p:nvPr/>
        </p:nvSpPr>
        <p:spPr>
          <a:xfrm>
            <a:off x="-1" y="101566"/>
            <a:ext cx="230650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noProof="0" dirty="0">
                <a:solidFill>
                  <a:srgbClr val="FFFFFF"/>
                </a:solidFill>
                <a:latin typeface="Calibri"/>
              </a:rPr>
              <a:t>07 : </a:t>
            </a:r>
          </a:p>
          <a:p>
            <a:r>
              <a:rPr lang="fr-FR" sz="2000" b="1" noProof="0" dirty="0">
                <a:solidFill>
                  <a:schemeClr val="bg1"/>
                </a:solidFill>
              </a:rPr>
              <a:t>Les contraintes</a:t>
            </a:r>
          </a:p>
          <a:p>
            <a:r>
              <a:rPr lang="fr-FR" sz="2000" b="1" noProof="0" dirty="0">
                <a:solidFill>
                  <a:schemeClr val="bg1"/>
                </a:solidFill>
              </a:rPr>
              <a:t>&amp; réalités du métier</a:t>
            </a:r>
          </a:p>
          <a:p>
            <a:pPr algn="l"/>
            <a:endParaRPr lang="fr-FR" sz="20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4" name="TextBox 6">
            <a:extLst>
              <a:ext uri="{FF2B5EF4-FFF2-40B4-BE49-F238E27FC236}">
                <a16:creationId xmlns:a16="http://schemas.microsoft.com/office/drawing/2014/main" id="{B1468044-AD3D-CD16-301A-4CA374D4D7DE}"/>
              </a:ext>
            </a:extLst>
          </p:cNvPr>
          <p:cNvSpPr txBox="1"/>
          <p:nvPr/>
        </p:nvSpPr>
        <p:spPr>
          <a:xfrm>
            <a:off x="-9144" y="2029131"/>
            <a:ext cx="227685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750" i="1" noProof="0" dirty="0">
                <a:solidFill>
                  <a:schemeClr val="bg1"/>
                </a:solidFill>
                <a:latin typeface="Calibri"/>
              </a:rPr>
              <a:t>Ces contraintes sont connues et assumées — elles font partie de ce qui rend ce travail enrichissant.</a:t>
            </a:r>
          </a:p>
        </p:txBody>
      </p:sp>
      <p:sp>
        <p:nvSpPr>
          <p:cNvPr id="55" name="TextBox 5">
            <a:extLst>
              <a:ext uri="{FF2B5EF4-FFF2-40B4-BE49-F238E27FC236}">
                <a16:creationId xmlns:a16="http://schemas.microsoft.com/office/drawing/2014/main" id="{ACF8439D-7DD8-D36B-4E33-B660D1E9B27F}"/>
              </a:ext>
            </a:extLst>
          </p:cNvPr>
          <p:cNvSpPr txBox="1"/>
          <p:nvPr/>
        </p:nvSpPr>
        <p:spPr>
          <a:xfrm>
            <a:off x="-9144" y="1544383"/>
            <a:ext cx="22768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900" i="1" noProof="0" dirty="0">
                <a:solidFill>
                  <a:schemeClr val="bg1"/>
                </a:solidFill>
                <a:latin typeface="Calibri"/>
              </a:rPr>
              <a:t>Savoir où on met les pieds — ce métier est exigeant et stimulant à la fois</a:t>
            </a:r>
            <a:r>
              <a:rPr lang="fr-FR" sz="900" i="1" noProof="0" dirty="0">
                <a:solidFill>
                  <a:srgbClr val="93C5FD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7767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2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079A97-06DA-807A-55F2-6E1AF345D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>
            <a:extLst>
              <a:ext uri="{FF2B5EF4-FFF2-40B4-BE49-F238E27FC236}">
                <a16:creationId xmlns:a16="http://schemas.microsoft.com/office/drawing/2014/main" id="{501B3DD7-DFF3-B3CF-A2B0-3D3396549E3A}"/>
              </a:ext>
            </a:extLst>
          </p:cNvPr>
          <p:cNvSpPr/>
          <p:nvPr/>
        </p:nvSpPr>
        <p:spPr>
          <a:xfrm>
            <a:off x="0" y="8389"/>
            <a:ext cx="9144000" cy="60157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828872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3E"/>
          </a:solidFill>
          <a:ln w="12700">
            <a:solidFill>
              <a:srgbClr val="1B2A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10 — Structures visées, conditions de travail &amp; salaires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28600" y="804672"/>
            <a:ext cx="28346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28600" y="804672"/>
            <a:ext cx="2834640" cy="54864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A6"/>
                </a:solidFill>
              </a:rPr>
              <a:t>🏛️  Structures visées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29844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E"/>
                </a:solidFill>
              </a:rPr>
              <a:t>▸ INSERM / CNRS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A6A7A"/>
                </a:solidFill>
              </a:rPr>
              <a:t>1er recruteur profils hybrides — plateforme Horigene déjà en place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657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E"/>
                </a:solidFill>
              </a:rPr>
              <a:t>▸ CHU / Hôpitaux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057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A6A7A"/>
                </a:solidFill>
              </a:rPr>
              <a:t>Bioinformatique clinique, données patients, génomique médicale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239572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E"/>
                </a:solidFill>
              </a:rPr>
              <a:t>▸ Plateformes bio-info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606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A6A7A"/>
                </a:solidFill>
              </a:rPr>
              <a:t>IFB, GenoToul, PRABI, BIBS — plateformes mutualisées nationales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94436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E"/>
                </a:solidFill>
              </a:rPr>
              <a:t>▸ Biotech / Pharma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3154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A6A7A"/>
                </a:solidFill>
              </a:rPr>
              <a:t>Sanofi, Biomérieux, Ipsen — R&amp;D data-driven, forte demande IA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49300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E"/>
                </a:solidFill>
              </a:rPr>
              <a:t>▸ Startups Healthtech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576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A6A7A"/>
                </a:solidFill>
              </a:rPr>
              <a:t>Nexomis, Owkin, BioSerenity — profils hybrides très recherchés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65760" y="404164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E"/>
                </a:solidFill>
              </a:rPr>
              <a:t>▸ Laboratoires micro.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5760" y="4251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A6A7A"/>
                </a:solidFill>
              </a:rPr>
              <a:t>Environnement terrain déjà connu (VECT-HORUS, CIRI, IBCP)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73552" y="804672"/>
            <a:ext cx="259689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3273552" y="804672"/>
            <a:ext cx="2596896" cy="5486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410712" y="8961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C1"/>
                </a:solidFill>
              </a:rPr>
              <a:t>💼  Conditions de travail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10712" y="129844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3E"/>
                </a:solidFill>
              </a:rPr>
              <a:t>Environnement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10712" y="14904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A6A7A"/>
                </a:solidFill>
              </a:rPr>
              <a:t>Recherche publique, santé, biotech — milieu stimulant et exigeant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410712" y="182880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3E"/>
                </a:solidFill>
              </a:rPr>
              <a:t>Équipe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10712" y="2020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A6A7A"/>
                </a:solidFill>
              </a:rPr>
              <a:t>Travail interdisciplinaire : biologistes, médecins, ingénieurs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410712" y="23591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3E"/>
                </a:solidFill>
              </a:rPr>
              <a:t>Quotidien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410712" y="255117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A6A7A"/>
                </a:solidFill>
              </a:rPr>
              <a:t>Dev applicatif + échanges scientifiques + structuration de données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410712" y="28895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3E"/>
                </a:solidFill>
              </a:rPr>
              <a:t>Localisation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410712" y="30815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A6A7A"/>
                </a:solidFill>
              </a:rPr>
              <a:t>Grandes métropoles : Lyon, Paris, Marseille, Bordeaux, Montpellier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410712" y="341985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3E"/>
                </a:solidFill>
              </a:rPr>
              <a:t>Contrat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41071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A6A7A"/>
                </a:solidFill>
              </a:rPr>
              <a:t>CDI IR/IE en recherche publique · CDD postdoc · CDI en biotech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410712" y="395020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3E"/>
                </a:solidFill>
              </a:rPr>
              <a:t>Rythme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410712" y="41422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A6A7A"/>
                </a:solidFill>
              </a:rPr>
              <a:t>Projets longs (12–36 mois) · autonomie forte · peu de pression commerciale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080760" y="804672"/>
            <a:ext cx="28346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6080760" y="804672"/>
            <a:ext cx="2834640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6217920" y="8961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020"/>
                </a:solidFill>
              </a:rPr>
              <a:t>💰  Salaires débutants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217920" y="1298448"/>
            <a:ext cx="2560320" cy="658368"/>
          </a:xfrm>
          <a:prstGeom prst="rect">
            <a:avLst/>
          </a:prstGeom>
          <a:solidFill>
            <a:srgbClr val="FDF3E3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6263640" y="133502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3E"/>
                </a:solidFill>
              </a:rPr>
              <a:t>IE / IR INSERM CNRS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263640" y="15544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8A020"/>
                </a:solidFill>
              </a:rPr>
              <a:t>26 000–33 000 €/an brut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8A020"/>
                </a:solidFill>
              </a:rPr>
              <a:t>(hors primes, grille publique)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2048256"/>
            <a:ext cx="2560320" cy="658368"/>
          </a:xfrm>
          <a:prstGeom prst="rect">
            <a:avLst/>
          </a:prstGeom>
          <a:solidFill>
            <a:srgbClr val="FDF3E3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6263640" y="208483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3E"/>
                </a:solidFill>
              </a:rPr>
              <a:t>Ingénieur d'études biotech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263640" y="230428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8A020"/>
                </a:solidFill>
              </a:rPr>
              <a:t>32 000–42 000 €/an brut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17920" y="2798064"/>
            <a:ext cx="2560320" cy="658368"/>
          </a:xfrm>
          <a:prstGeom prst="rect">
            <a:avLst/>
          </a:prstGeom>
          <a:solidFill>
            <a:srgbClr val="FDF3E3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6263640" y="283464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3E"/>
                </a:solidFill>
              </a:rPr>
              <a:t>Data Engineer bio privé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263640" y="30540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8A020"/>
                </a:solidFill>
              </a:rPr>
              <a:t>38 000–50 000 €/an brut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217920" y="3547872"/>
            <a:ext cx="2560320" cy="658368"/>
          </a:xfrm>
          <a:prstGeom prst="rect">
            <a:avLst/>
          </a:prstGeom>
          <a:solidFill>
            <a:srgbClr val="FDF3E3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6263640" y="358444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3E"/>
                </a:solidFill>
              </a:rPr>
              <a:t>Ingénieur IA / ML bio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63640" y="380390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8A020"/>
                </a:solidFill>
              </a:rPr>
              <a:t>40 000–55 000 €/an brut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217920" y="4297680"/>
            <a:ext cx="2560320" cy="658368"/>
          </a:xfrm>
          <a:prstGeom prst="rect">
            <a:avLst/>
          </a:prstGeom>
          <a:solidFill>
            <a:srgbClr val="FDF3E3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6263640" y="433425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3E"/>
                </a:solidFill>
              </a:rPr>
              <a:t>Startup Healthtech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263640" y="455371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8A020"/>
                </a:solidFill>
              </a:rPr>
              <a:t>35 000–48 000 €/an + BSPCE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3E"/>
          </a:solidFill>
          <a:ln w="12700">
            <a:solidFill>
              <a:srgbClr val="1B2A3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11 — Stratégie de recherche d'emploi &amp; évolutions envisagées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28600" y="804672"/>
            <a:ext cx="425196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28600" y="804672"/>
            <a:ext cx="4251960" cy="54864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A6"/>
                </a:solidFill>
              </a:rPr>
              <a:t>🎯  Comment je compte trouver un poste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31673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E"/>
                </a:solidFill>
              </a:rPr>
              <a:t>🔗 Réseau CIRI / INSERM Gerland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154533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A7A"/>
                </a:solidFill>
              </a:rPr>
              <a:t>Julien Fouret, Xavier Charpentier, Kelly Goldlust — contacts directs. Candidatures spontanées dans les unités INSERM de Lyon.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65760" y="20116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E"/>
                </a:solidFill>
              </a:rPr>
              <a:t>📋 Plateformes ciblées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240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A7A"/>
                </a:solidFill>
              </a:rPr>
              <a:t>SFBI (offres.sfbi.fr) · APEC · emploi.cnrs.fr · LinkedIn · EURES pour international.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5760" y="270662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E"/>
                </a:solidFill>
              </a:rPr>
              <a:t>💻 Portfolio technique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93522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A7A"/>
                </a:solidFill>
              </a:rPr>
              <a:t>GitHub public avec Strain(+)Lab, documentation, CI/CD. Preuve concrète du niveau technique.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760" y="340156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E"/>
                </a:solidFill>
              </a:rPr>
              <a:t>🚀 Valorisation du projet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36301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A7A"/>
                </a:solidFill>
              </a:rPr>
              <a:t>Strain(+)Lab = référence directe + partenariat INSERM actif = argument fort en entretien.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5760" y="409651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E"/>
                </a:solidFill>
              </a:rPr>
              <a:t>📩 Candidatures spontanées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5760" y="43251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A6A7A"/>
                </a:solidFill>
              </a:rPr>
              <a:t>Biotech Lyon (Biomérieux, Sanofi Pasteur, Boiron) · Startups healthtech · Nexomis.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804672"/>
            <a:ext cx="425196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4663440" y="804672"/>
            <a:ext cx="4251960" cy="54864"/>
          </a:xfrm>
          <a:prstGeom prst="rect">
            <a:avLst/>
          </a:prstGeom>
          <a:solidFill>
            <a:srgbClr val="7B5CE7"/>
          </a:solidFill>
          <a:ln w="12700">
            <a:solidFill>
              <a:srgbClr val="7B5CE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800600" y="8961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5CE7"/>
                </a:solidFill>
              </a:rPr>
              <a:t>📈  Évolutions envisagées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00600" y="1316736"/>
            <a:ext cx="3931920" cy="237744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846320" y="13350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Court terme (0–3 ans)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92040" y="15910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3E"/>
                </a:solidFill>
              </a:rPr>
              <a:t>▸ Data Engineer scientifique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92040" y="18653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3E"/>
                </a:solidFill>
              </a:rPr>
              <a:t>▸ Développeur applicatif bio-info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21396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3E"/>
                </a:solidFill>
              </a:rPr>
              <a:t>▸ Ingénieur d'études plateforme de données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00600" y="2523744"/>
            <a:ext cx="3931920" cy="23774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846320" y="25420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Moyen terme (3–7 ans)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92040" y="27980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3E"/>
                </a:solidFill>
              </a:rPr>
              <a:t>▸ Responsable plateforme de données INSERM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30723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3E"/>
                </a:solidFill>
              </a:rPr>
              <a:t>▸ Lead developer IA appliquée aux sciences du vivant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3346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3E"/>
                </a:solidFill>
              </a:rPr>
              <a:t>▸ Fondateur SaaS Strain(+)Lab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00600" y="3730752"/>
            <a:ext cx="3931920" cy="237744"/>
          </a:xfrm>
          <a:prstGeom prst="rect">
            <a:avLst/>
          </a:prstGeom>
          <a:solidFill>
            <a:srgbClr val="7B5CE7"/>
          </a:solidFill>
          <a:ln w="12700">
            <a:solidFill>
              <a:srgbClr val="7B5CE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4846320" y="37490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Long terme (7+ ans)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892040" y="40050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3E"/>
                </a:solidFill>
              </a:rPr>
              <a:t>▸ Directeur R&amp;D données biologiques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4279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3E"/>
                </a:solidFill>
              </a:rPr>
              <a:t>▸ Consultant expert bio-informatique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4553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3E"/>
                </a:solidFill>
              </a:rPr>
              <a:t>▸ Chef de projet IA scientifique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1437</TotalTime>
  <Words>1682</Words>
  <Application>Microsoft Office PowerPoint</Application>
  <PresentationFormat>Affichage à l'écran (16:9)</PresentationFormat>
  <Paragraphs>269</Paragraphs>
  <Slides>12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Aileron</vt:lpstr>
      <vt:lpstr>Aileron Bold</vt:lpstr>
      <vt:lpstr>Arial</vt:lpstr>
      <vt:lpstr>Arial Black</vt:lpstr>
      <vt:lpstr>Calibri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PPP S6 - Projet Professionnel et Personnel</dc:title>
  <dc:subject>PptxGenJS Presentation</dc:subject>
  <dc:creator>Nicolas Gaudin</dc:creator>
  <cp:lastModifiedBy>GAUDIN Nicolas</cp:lastModifiedBy>
  <cp:revision>91</cp:revision>
  <dcterms:created xsi:type="dcterms:W3CDTF">2026-05-11T09:15:39Z</dcterms:created>
  <dcterms:modified xsi:type="dcterms:W3CDTF">2026-05-12T10:23:06Z</dcterms:modified>
</cp:coreProperties>
</file>